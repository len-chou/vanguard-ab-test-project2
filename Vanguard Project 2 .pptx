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Public Sans"/>
      <p:regular r:id="rId20"/>
      <p:bold r:id="rId21"/>
      <p:italic r:id="rId22"/>
      <p:boldItalic r:id="rId23"/>
    </p:embeddedFont>
    <p:embeddedFont>
      <p:font typeface="Rubik"/>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ublicSans-regular.fntdata"/><Relationship Id="rId22" Type="http://schemas.openxmlformats.org/officeDocument/2006/relationships/font" Target="fonts/PublicSans-italic.fntdata"/><Relationship Id="rId21" Type="http://schemas.openxmlformats.org/officeDocument/2006/relationships/font" Target="fonts/PublicSans-bold.fntdata"/><Relationship Id="rId24" Type="http://schemas.openxmlformats.org/officeDocument/2006/relationships/font" Target="fonts/Rubik-regular.fntdata"/><Relationship Id="rId23" Type="http://schemas.openxmlformats.org/officeDocument/2006/relationships/font" Target="fonts/Public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ubik-italic.fntdata"/><Relationship Id="rId25" Type="http://schemas.openxmlformats.org/officeDocument/2006/relationships/font" Target="fonts/Rubik-bold.fntdata"/><Relationship Id="rId27" Type="http://schemas.openxmlformats.org/officeDocument/2006/relationships/font" Target="fonts/Rubik-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61c362105a14f730_3_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h61c362105a14f730_3_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Hello, we are Effie, Lena, Jovana and Fatma.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Vanguard tested a new, modern online process. Our job: find out whether it helped more clients finish – and for whom. (≈20 s)</a:t>
            </a:r>
            <a:endParaRPr/>
          </a:p>
        </p:txBody>
      </p:sp>
      <p:sp>
        <p:nvSpPr>
          <p:cNvPr id="60" name="Google Shape;60;h61c362105a14f730_3_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61c362105a14f730_3_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h61c362105a14f730_3_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Vanguard redesigned its online process with a modern interface and hints along the way. For the A/B test we conducted Clients were randomly split into Control group who used the old site, and Test group who used the new one; both have 3 steps from start to click the confirm button. So we want to see if more clients reach confirm with the new design or not ? </a:t>
            </a:r>
            <a:endParaRPr/>
          </a:p>
        </p:txBody>
      </p:sp>
      <p:sp>
        <p:nvSpPr>
          <p:cNvPr id="71" name="Google Shape;71;h61c362105a14f730_3_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61c362105a14f730_3_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h61c362105a14f730_3_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First we explored the clients data. Age has two peaks. Balance is very skewed, so we use the median. Typical tenure is 11 years. Gender is split in three almost equal groups. This told us which categories to compare next. (≈40 s)</a:t>
            </a:r>
            <a:endParaRPr/>
          </a:p>
        </p:txBody>
      </p:sp>
      <p:sp>
        <p:nvSpPr>
          <p:cNvPr id="96" name="Google Shape;96;h61c362105a14f730_3_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61c362105a14f730_3_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h61c362105a14f730_3_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 now that we know the two groups are equally split, we wanted to check Our first KPI the completion rate: which is </a:t>
            </a:r>
            <a:r>
              <a:rPr lang="en-GB"/>
              <a:t>basically</a:t>
            </a:r>
            <a:r>
              <a:rPr lang="en-GB"/>
              <a:t> the share of clients who reach the confirm page. On the old website 65.6 % finish, on the new one 69.3 %. That is </a:t>
            </a:r>
            <a:endParaRPr/>
          </a:p>
          <a:p>
            <a:pPr indent="0" lvl="0" marL="0" rtl="0" algn="l">
              <a:spcBef>
                <a:spcPts val="0"/>
              </a:spcBef>
              <a:spcAft>
                <a:spcPts val="0"/>
              </a:spcAft>
              <a:buNone/>
            </a:pPr>
            <a:r>
              <a:rPr lang="en-GB"/>
              <a:t> +5.7 % increase in comparison to the old website which meets the 5% </a:t>
            </a:r>
            <a:r>
              <a:rPr lang="en-GB"/>
              <a:t>threshold</a:t>
            </a:r>
            <a:r>
              <a:rPr lang="en-GB"/>
              <a:t> set by </a:t>
            </a:r>
            <a:r>
              <a:rPr lang="en-GB"/>
              <a:t>Vanguard</a:t>
            </a:r>
            <a:r>
              <a:rPr lang="en-GB"/>
              <a:t>. What do you think Lena</a:t>
            </a:r>
            <a:endParaRPr/>
          </a:p>
          <a:p>
            <a:pPr indent="0" lvl="0" marL="0" rtl="0" algn="l">
              <a:spcBef>
                <a:spcPts val="0"/>
              </a:spcBef>
              <a:spcAft>
                <a:spcPts val="0"/>
              </a:spcAft>
              <a:buNone/>
            </a:pPr>
            <a:r>
              <a:t/>
            </a:r>
            <a:endParaRPr/>
          </a:p>
        </p:txBody>
      </p:sp>
      <p:sp>
        <p:nvSpPr>
          <p:cNvPr id="122" name="Google Shape;122;h61c362105a14f730_3_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ea9942327db271e_1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hea9942327db271e_1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Once we understood the clients, we compared the completion rate across every category. For gender, balance, tenure and logons, the relative gain is about the same in every group – around 5 to 6 %. Only age shows a big spread: from under 3 % to almost 20 %. So we decided to look at age groups in detail. (Women complete about 2 points less than the others on both sites, but they gain just as much.) (≈45 s)</a:t>
            </a:r>
            <a:endParaRPr/>
          </a:p>
        </p:txBody>
      </p:sp>
      <p:sp>
        <p:nvSpPr>
          <p:cNvPr id="145" name="Google Shape;145;hea9942327db271e_1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61c362105a14f730_3_1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h61c362105a14f730_3_1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When we compare By age, completion rate falls as clients get older, and the new site helps most at both ends – the under-30s and the over-75s. The 75+ gain is the biggest </a:t>
            </a:r>
            <a:endParaRPr/>
          </a:p>
          <a:p>
            <a:pPr indent="0" lvl="0" marL="0" rtl="0" algn="l">
              <a:spcBef>
                <a:spcPts val="0"/>
              </a:spcBef>
              <a:spcAft>
                <a:spcPts val="0"/>
              </a:spcAft>
              <a:buNone/>
            </a:pPr>
            <a:r>
              <a:rPr lang="en-GB">
                <a:solidFill>
                  <a:schemeClr val="dk1"/>
                </a:solidFill>
              </a:rPr>
              <a:t>The </a:t>
            </a:r>
            <a:r>
              <a:rPr b="1" lang="en-GB">
                <a:solidFill>
                  <a:schemeClr val="dk1"/>
                </a:solidFill>
              </a:rPr>
              <a:t>gain</a:t>
            </a:r>
            <a:r>
              <a:rPr lang="en-GB">
                <a:solidFill>
                  <a:schemeClr val="dk1"/>
                </a:solidFill>
              </a:rPr>
              <a:t> is how much the completion rate went up with the new website compared with the old one.</a:t>
            </a:r>
            <a:endParaRPr/>
          </a:p>
        </p:txBody>
      </p:sp>
      <p:sp>
        <p:nvSpPr>
          <p:cNvPr id="185" name="Google Shape;185;h61c362105a14f730_3_1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61c362105a14f730_3_19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61c362105a14f730_3_19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Second KPI: time. For each step we took the median time before the client’s next action. The new site is faster at start, step 2 and step 3 – step 3 is 14 seconds quicker. For clients who finished, the whole process takes 3 minutes 57 instead of 4 minutes 31: 34 seconds, or 12.5 %, faster. The exception is step 1, which is 7 seconds slower – and older clients spend the longest there: 16 seconds for 18–39, 35 seconds for 60+. A Kruskal–Wallis test confirms the difference by age. These are elapsed times, not active time on the page. (≈50 s)</a:t>
            </a:r>
            <a:endParaRPr/>
          </a:p>
        </p:txBody>
      </p:sp>
      <p:sp>
        <p:nvSpPr>
          <p:cNvPr id="249" name="Google Shape;249;h61c362105a14f730_3_19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61c362105a14f730_3_23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61c362105a14f730_3_23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Now the time at step 1 by age group. Two things. First, age is what drives the time: clients over 75 need about four times longer than the under-30s. Second, on the new site step 1 is slower for every age group – by 10 seconds for the youngest, but only 1 to 3 seconds for the over-60s. So step 1 of the new design is the part to look at first. (≈40 s)</a:t>
            </a:r>
            <a:endParaRPr/>
          </a:p>
        </p:txBody>
      </p:sp>
      <p:sp>
        <p:nvSpPr>
          <p:cNvPr id="290" name="Google Shape;290;h61c362105a14f730_3_23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61c362105a14f730_3_28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61c362105a14f730_3_28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Third KPI: the error rate. We count how often a client goes back to a previous step instead of moving forward – a sign of confusion. On the old site 8.3 % of steps are a step back; on the new site 11.5 %. That is +3.3 points, about 40 % more back-steps. So more clients finish, but more of them hesitate along the way. Going back is not always a mistake – sometimes clients just check something. Next: who goes back the most. (≈40 s)</a:t>
            </a:r>
            <a:endParaRPr/>
          </a:p>
        </p:txBody>
      </p:sp>
      <p:sp>
        <p:nvSpPr>
          <p:cNvPr id="332" name="Google Shape;332;h61c362105a14f730_3_28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61c362105a14f730_3_30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h61c362105a14f730_3_30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Third KPI: the error rate – how often a client goes back to a previous step instead of forward, a sign of confusion. Here the new site does worse: errors go up in every age group, and the older the clients, the bigger the increase – from 10.5 % to 16.3 % for the over-75s. The link between age and errors is weak but significant, and stronger on the new site. So more people finish, but the new design still confuses some of them. (≈45 s)</a:t>
            </a:r>
            <a:endParaRPr/>
          </a:p>
        </p:txBody>
      </p:sp>
      <p:sp>
        <p:nvSpPr>
          <p:cNvPr id="355" name="Google Shape;355;h61c362105a14f730_3_30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68fc07b349e174d1_1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h68fc07b349e174d1_1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solidFill>
                  <a:schemeClr val="dk1"/>
                </a:solidFill>
              </a:rPr>
              <a:t>The new design improves completion by </a:t>
            </a:r>
            <a:r>
              <a:rPr b="1" lang="en-GB">
                <a:solidFill>
                  <a:schemeClr val="dk1"/>
                </a:solidFill>
              </a:rPr>
              <a:t>5.7 %</a:t>
            </a:r>
            <a:r>
              <a:rPr lang="en-GB">
                <a:solidFill>
                  <a:schemeClr val="dk1"/>
                </a:solidFill>
              </a:rPr>
              <a:t>, just above Vanguard’s </a:t>
            </a:r>
            <a:r>
              <a:rPr b="1" lang="en-GB">
                <a:solidFill>
                  <a:schemeClr val="dk1"/>
                </a:solidFill>
              </a:rPr>
              <a:t>5 %</a:t>
            </a:r>
            <a:r>
              <a:rPr lang="en-GB">
                <a:solidFill>
                  <a:schemeClr val="dk1"/>
                </a:solidFill>
              </a:rPr>
              <a:t> target. But our result comes from a sample, so the real rise is probably between </a:t>
            </a:r>
            <a:r>
              <a:rPr b="1" lang="en-GB">
                <a:solidFill>
                  <a:schemeClr val="dk1"/>
                </a:solidFill>
              </a:rPr>
              <a:t>4.4 % and 6.9 %</a:t>
            </a:r>
            <a:r>
              <a:rPr lang="en-GB">
                <a:solidFill>
                  <a:schemeClr val="dk1"/>
                </a:solidFill>
              </a:rPr>
              <a:t>, and part of that range is below 5 %. In other words, we could just have been lucky. So we needed to run a cost effectiveness test and Statistically, the result is </a:t>
            </a:r>
            <a:r>
              <a:rPr b="1" lang="en-GB">
                <a:solidFill>
                  <a:schemeClr val="dk1"/>
                </a:solidFill>
              </a:rPr>
              <a:t>not significant</a:t>
            </a:r>
            <a:r>
              <a:rPr lang="en-GB">
                <a:solidFill>
                  <a:schemeClr val="dk1"/>
                </a:solidFill>
              </a:rPr>
              <a:t>, so we recommend </a:t>
            </a:r>
            <a:r>
              <a:rPr b="1" lang="en-GB">
                <a:solidFill>
                  <a:schemeClr val="dk1"/>
                </a:solidFill>
              </a:rPr>
              <a:t>running the test longer</a:t>
            </a:r>
            <a:r>
              <a:rPr lang="en-GB">
                <a:solidFill>
                  <a:schemeClr val="dk1"/>
                </a:solidFill>
              </a:rPr>
              <a:t> before deciding</a:t>
            </a:r>
            <a:endParaRPr>
              <a:solidFill>
                <a:schemeClr val="dk1"/>
              </a:solidFill>
            </a:endParaRPr>
          </a:p>
        </p:txBody>
      </p:sp>
      <p:sp>
        <p:nvSpPr>
          <p:cNvPr id="398" name="Google Shape;398;h68fc07b349e174d1_1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61c362105a14f730_3_4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h61c362105a14f730_3_4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wrap up: </a:t>
            </a:r>
            <a:endParaRPr/>
          </a:p>
          <a:p>
            <a:pPr indent="0" lvl="0" marL="0" rtl="0" algn="l">
              <a:spcBef>
                <a:spcPts val="0"/>
              </a:spcBef>
              <a:spcAft>
                <a:spcPts val="0"/>
              </a:spcAft>
              <a:buNone/>
            </a:pPr>
            <a:r>
              <a:rPr lang="en-GB"/>
              <a:t>Test was </a:t>
            </a:r>
            <a:r>
              <a:rPr lang="en-GB"/>
              <a:t>successful</a:t>
            </a:r>
            <a:r>
              <a:rPr lang="en-GB"/>
              <a:t> but inconclusive. The new design really raises completion,/// by 5.7%///, but we cannot confirm it clears the 5 % threshold consistently. Age is the key factor: the youngest gaining most, older clients going back more often.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Our recommendations: </a:t>
            </a:r>
            <a:endParaRPr/>
          </a:p>
          <a:p>
            <a:pPr indent="0" lvl="0" marL="0" rtl="0" algn="l">
              <a:spcBef>
                <a:spcPts val="0"/>
              </a:spcBef>
              <a:spcAft>
                <a:spcPts val="0"/>
              </a:spcAft>
              <a:buNone/>
            </a:pPr>
            <a:r>
              <a:rPr lang="en-GB"/>
              <a:t>More tests are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agree on what “5 %” means with a cost attached, run the test longer, and simplify the steps where clients get stuck.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Thank you – </a:t>
            </a:r>
            <a:endParaRPr/>
          </a:p>
        </p:txBody>
      </p:sp>
      <p:sp>
        <p:nvSpPr>
          <p:cNvPr id="431" name="Google Shape;431;h61c362105a14f730_3_4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61c362105a14f730_5_1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h61c362105a14f730_5_1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Hello, we are Effie, Lena, Jovana and Fatma, the customer experience team. We tested Vanguard new, modern online process. And our job is to find out whether it helped more clients finish – and for whom. (≈20 s)</a:t>
            </a:r>
            <a:endParaRPr/>
          </a:p>
        </p:txBody>
      </p:sp>
      <p:sp>
        <p:nvSpPr>
          <p:cNvPr id="457" name="Google Shape;457;h61c362105a14f730_5_1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609600" y="760065"/>
            <a:ext cx="7924800" cy="345728"/>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C2733"/>
              </a:buClr>
              <a:buSzPts val="2500"/>
              <a:buFont typeface="Rubik"/>
              <a:buNone/>
              <a:defRPr sz="2500">
                <a:solidFill>
                  <a:srgbClr val="1C2733"/>
                </a:solidFill>
                <a:latin typeface="Rubik"/>
                <a:ea typeface="Rubik"/>
                <a:cs typeface="Rubik"/>
                <a:sym typeface="Rubik"/>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14"/>
          <p:cNvSpPr txBox="1"/>
          <p:nvPr>
            <p:ph idx="1" type="body"/>
          </p:nvPr>
        </p:nvSpPr>
        <p:spPr>
          <a:xfrm>
            <a:off x="609600" y="1334393"/>
            <a:ext cx="7924800" cy="3199507"/>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200"/>
              </a:spcBef>
              <a:spcAft>
                <a:spcPts val="0"/>
              </a:spcAft>
              <a:buClr>
                <a:srgbClr val="1C2733"/>
              </a:buClr>
              <a:buSzPts val="1200"/>
              <a:buNone/>
              <a:defRPr sz="1200">
                <a:solidFill>
                  <a:srgbClr val="1C2733"/>
                </a:solidFill>
                <a:latin typeface="Public Sans"/>
                <a:ea typeface="Public Sans"/>
                <a:cs typeface="Public Sans"/>
                <a:sym typeface="Public Sans"/>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09600" y="760065"/>
            <a:ext cx="7924800" cy="345728"/>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C2733"/>
              </a:buClr>
              <a:buSzPts val="2500"/>
              <a:buFont typeface="Rubik"/>
              <a:buNone/>
              <a:defRPr b="0" i="0" sz="2500" u="none" cap="none" strike="noStrike">
                <a:solidFill>
                  <a:srgbClr val="1C2733"/>
                </a:solidFill>
                <a:latin typeface="Rubik"/>
                <a:ea typeface="Rubik"/>
                <a:cs typeface="Rubik"/>
                <a:sym typeface="Rubi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09600" y="1334393"/>
            <a:ext cx="7924800" cy="3199507"/>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200"/>
              </a:spcBef>
              <a:spcAft>
                <a:spcPts val="0"/>
              </a:spcAft>
              <a:buClr>
                <a:srgbClr val="1C2733"/>
              </a:buClr>
              <a:buSzPts val="1200"/>
              <a:buFont typeface="Arial"/>
              <a:buNone/>
              <a:defRPr b="0" i="0" sz="1200" u="none" cap="none" strike="noStrike">
                <a:solidFill>
                  <a:srgbClr val="1C2733"/>
                </a:solidFill>
                <a:latin typeface="Public Sans"/>
                <a:ea typeface="Public Sans"/>
                <a:cs typeface="Public Sans"/>
                <a:sym typeface="Public Sans"/>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Public Sans"/>
                <a:ea typeface="Public Sans"/>
                <a:cs typeface="Public Sans"/>
                <a:sym typeface="Public Sans"/>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Public Sans"/>
                <a:ea typeface="Public Sans"/>
                <a:cs typeface="Public Sans"/>
                <a:sym typeface="Public Sans"/>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hyperlink" Target="https://public.tableau.com/app/profile/jovana.zivkovic2133/viz/Completation-Rate-Vanguard-AB-Test/VanguardABtestdidthenewdesignhelpclientsfinish?publish=yes" TargetMode="External"/><Relationship Id="rId5" Type="http://schemas.openxmlformats.org/officeDocument/2006/relationships/hyperlink" Target="https://public.tableau.com/app/profile/jovana.zivkovic2133/viz/vanguard-time/Dashboard1?publish=yes" TargetMode="External"/><Relationship Id="rId6" Type="http://schemas.openxmlformats.org/officeDocument/2006/relationships/hyperlink" Target="https://public.tableau.com/app/profile/jovana.zivkovic2133/viz/Error-Rate-Vanguard-AB-Test/Dashboard1?publish=y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733"/>
        </a:solidFill>
      </p:bgPr>
    </p:bg>
    <p:spTree>
      <p:nvGrpSpPr>
        <p:cNvPr id="61" name="Shape 61"/>
        <p:cNvGrpSpPr/>
        <p:nvPr/>
      </p:nvGrpSpPr>
      <p:grpSpPr>
        <a:xfrm>
          <a:off x="0" y="0"/>
          <a:ext cx="0" cy="0"/>
          <a:chOff x="0" y="0"/>
          <a:chExt cx="0" cy="0"/>
        </a:xfrm>
      </p:grpSpPr>
      <p:sp>
        <p:nvSpPr>
          <p:cNvPr id="62" name="Google Shape;62;p16"/>
          <p:cNvSpPr/>
          <p:nvPr/>
        </p:nvSpPr>
        <p:spPr>
          <a:xfrm>
            <a:off x="7429500" y="0"/>
            <a:ext cx="1714500" cy="5143500"/>
          </a:xfrm>
          <a:prstGeom prst="rect">
            <a:avLst/>
          </a:prstGeom>
          <a:gradFill>
            <a:gsLst>
              <a:gs pos="0">
                <a:srgbClr val="263A50"/>
              </a:gs>
              <a:gs pos="60000">
                <a:srgbClr val="62244F"/>
              </a:gs>
              <a:gs pos="100000">
                <a:srgbClr val="8E2525"/>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6"/>
          <p:cNvSpPr/>
          <p:nvPr/>
        </p:nvSpPr>
        <p:spPr>
          <a:xfrm>
            <a:off x="609600" y="487025"/>
            <a:ext cx="8162400" cy="21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1100"/>
              <a:buFont typeface="Public Sans"/>
              <a:buNone/>
            </a:pPr>
            <a:r>
              <a:rPr b="1" i="0" lang="en-GB" sz="1300" u="none" cap="none" strike="noStrike">
                <a:solidFill>
                  <a:srgbClr val="8E2525"/>
                </a:solidFill>
                <a:latin typeface="Public Sans"/>
                <a:ea typeface="Public Sans"/>
                <a:cs typeface="Public Sans"/>
                <a:sym typeface="Public Sans"/>
              </a:rPr>
              <a:t>VANGUARD · CUSTOMER EXPERIENCE</a:t>
            </a:r>
            <a:endParaRPr b="0" i="0" sz="1300" u="none" cap="none" strike="noStrike">
              <a:solidFill>
                <a:schemeClr val="dk1"/>
              </a:solidFill>
              <a:latin typeface="Public Sans"/>
              <a:ea typeface="Public Sans"/>
              <a:cs typeface="Public Sans"/>
              <a:sym typeface="Public Sans"/>
            </a:endParaRPr>
          </a:p>
        </p:txBody>
      </p:sp>
      <p:sp>
        <p:nvSpPr>
          <p:cNvPr id="64" name="Google Shape;64;p16"/>
          <p:cNvSpPr txBox="1"/>
          <p:nvPr>
            <p:ph type="title"/>
          </p:nvPr>
        </p:nvSpPr>
        <p:spPr>
          <a:xfrm>
            <a:off x="453525" y="1008075"/>
            <a:ext cx="6471900" cy="191670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F3F4F6"/>
              </a:buClr>
              <a:buSzPct val="100000"/>
              <a:buFont typeface="Rubik"/>
              <a:buNone/>
            </a:pPr>
            <a:r>
              <a:rPr b="1" i="0" lang="en-GB" sz="4400">
                <a:solidFill>
                  <a:srgbClr val="F3F4F6"/>
                </a:solidFill>
                <a:latin typeface="Rubik"/>
                <a:ea typeface="Rubik"/>
                <a:cs typeface="Rubik"/>
                <a:sym typeface="Rubik"/>
              </a:rPr>
              <a:t>Did the new design </a:t>
            </a:r>
            <a:r>
              <a:rPr b="1" lang="en-GB" sz="4400">
                <a:solidFill>
                  <a:srgbClr val="F3F4F6"/>
                </a:solidFill>
              </a:rPr>
              <a:t>website</a:t>
            </a:r>
            <a:r>
              <a:rPr b="1" i="0" lang="en-GB" sz="4400">
                <a:solidFill>
                  <a:srgbClr val="F3F4F6"/>
                </a:solidFill>
                <a:latin typeface="Rubik"/>
                <a:ea typeface="Rubik"/>
                <a:cs typeface="Rubik"/>
                <a:sym typeface="Rubik"/>
              </a:rPr>
              <a:t> help clients finish?</a:t>
            </a:r>
            <a:endParaRPr sz="4400"/>
          </a:p>
        </p:txBody>
      </p:sp>
      <p:sp>
        <p:nvSpPr>
          <p:cNvPr id="65" name="Google Shape;65;p16"/>
          <p:cNvSpPr/>
          <p:nvPr/>
        </p:nvSpPr>
        <p:spPr>
          <a:xfrm>
            <a:off x="609600" y="3104182"/>
            <a:ext cx="6376988" cy="2857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0CA"/>
              </a:buClr>
              <a:buSzPts val="1500"/>
              <a:buFont typeface="Public Sans"/>
              <a:buNone/>
            </a:pPr>
            <a:r>
              <a:rPr b="0" i="0" lang="en-GB" sz="1500" u="none" cap="none" strike="noStrike">
                <a:solidFill>
                  <a:srgbClr val="B8C0CA"/>
                </a:solidFill>
                <a:latin typeface="Public Sans"/>
                <a:ea typeface="Public Sans"/>
                <a:cs typeface="Public Sans"/>
                <a:sym typeface="Public Sans"/>
              </a:rPr>
              <a:t>A/B test analysis · 15 March – 20 June 2017</a:t>
            </a:r>
            <a:endParaRPr b="0" i="0" sz="1500" u="none" cap="none" strike="noStrike">
              <a:solidFill>
                <a:schemeClr val="dk1"/>
              </a:solidFill>
              <a:latin typeface="Public Sans"/>
              <a:ea typeface="Public Sans"/>
              <a:cs typeface="Public Sans"/>
              <a:sym typeface="Public Sans"/>
            </a:endParaRPr>
          </a:p>
        </p:txBody>
      </p:sp>
      <p:sp>
        <p:nvSpPr>
          <p:cNvPr id="66" name="Google Shape;66;p16"/>
          <p:cNvSpPr/>
          <p:nvPr/>
        </p:nvSpPr>
        <p:spPr>
          <a:xfrm>
            <a:off x="609600" y="4333875"/>
            <a:ext cx="8162544"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0CA"/>
              </a:buClr>
              <a:buSzPts val="1100"/>
              <a:buFont typeface="Public Sans"/>
              <a:buNone/>
            </a:pPr>
            <a:r>
              <a:rPr b="0" i="0" lang="en-GB" sz="1100" u="none" cap="none" strike="noStrike">
                <a:solidFill>
                  <a:srgbClr val="B8C0CA"/>
                </a:solidFill>
                <a:latin typeface="Public Sans"/>
                <a:ea typeface="Public Sans"/>
                <a:cs typeface="Public Sans"/>
                <a:sym typeface="Public Sans"/>
              </a:rPr>
              <a:t>Effie · Lena · Jovana · Fatma · Ironhack Data Analytics · Project 2</a:t>
            </a:r>
            <a:endParaRPr b="0" i="0" sz="1100" u="none" cap="none" strike="noStrike">
              <a:solidFill>
                <a:schemeClr val="dk1"/>
              </a:solidFill>
              <a:latin typeface="Public Sans"/>
              <a:ea typeface="Public Sans"/>
              <a:cs typeface="Public Sans"/>
              <a:sym typeface="Public Sans"/>
            </a:endParaRPr>
          </a:p>
        </p:txBody>
      </p:sp>
      <p:pic>
        <p:nvPicPr>
          <p:cNvPr descr="vanguard-logo.png" id="67" name="Google Shape;67;p16"/>
          <p:cNvPicPr preferRelativeResize="0"/>
          <p:nvPr/>
        </p:nvPicPr>
        <p:blipFill rotWithShape="1">
          <a:blip r:embed="rId3">
            <a:alphaModFix/>
          </a:blip>
          <a:srcRect b="0" l="177" r="177" t="0"/>
          <a:stretch/>
        </p:blipFill>
        <p:spPr>
          <a:xfrm>
            <a:off x="6572250" y="4348163"/>
            <a:ext cx="523875" cy="542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17"/>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7"/>
          <p:cNvSpPr/>
          <p:nvPr/>
        </p:nvSpPr>
        <p:spPr>
          <a:xfrm>
            <a:off x="609600" y="4953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INTRODUCTION · CONTEXT AND DATA</a:t>
            </a:r>
            <a:endParaRPr b="0" i="0" sz="900" u="none" cap="none" strike="noStrike">
              <a:solidFill>
                <a:schemeClr val="dk1"/>
              </a:solidFill>
              <a:latin typeface="Public Sans"/>
              <a:ea typeface="Public Sans"/>
              <a:cs typeface="Public Sans"/>
              <a:sym typeface="Public Sans"/>
            </a:endParaRPr>
          </a:p>
        </p:txBody>
      </p:sp>
      <p:sp>
        <p:nvSpPr>
          <p:cNvPr id="75" name="Google Shape;75;p17"/>
          <p:cNvSpPr txBox="1"/>
          <p:nvPr>
            <p:ph type="title"/>
          </p:nvPr>
        </p:nvSpPr>
        <p:spPr>
          <a:xfrm>
            <a:off x="609600" y="712440"/>
            <a:ext cx="8162544" cy="3438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300"/>
              <a:buFont typeface="Rubik"/>
              <a:buNone/>
            </a:pPr>
            <a:r>
              <a:rPr b="1" i="0" lang="en-GB" sz="2300">
                <a:solidFill>
                  <a:srgbClr val="1C2733"/>
                </a:solidFill>
                <a:latin typeface="Rubik"/>
                <a:ea typeface="Rubik"/>
                <a:cs typeface="Rubik"/>
                <a:sym typeface="Rubik"/>
              </a:rPr>
              <a:t>The challenge, the question and the data</a:t>
            </a:r>
            <a:endParaRPr sz="2300"/>
          </a:p>
        </p:txBody>
      </p:sp>
      <p:sp>
        <p:nvSpPr>
          <p:cNvPr id="76" name="Google Shape;76;p17"/>
          <p:cNvSpPr/>
          <p:nvPr/>
        </p:nvSpPr>
        <p:spPr>
          <a:xfrm>
            <a:off x="609600" y="1754225"/>
            <a:ext cx="4421100" cy="2449800"/>
          </a:xfrm>
          <a:prstGeom prst="roundRect">
            <a:avLst>
              <a:gd fmla="val 6799" name="adj"/>
            </a:avLst>
          </a:prstGeom>
          <a:solidFill>
            <a:srgbClr val="1C27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7"/>
          <p:cNvSpPr/>
          <p:nvPr/>
        </p:nvSpPr>
        <p:spPr>
          <a:xfrm>
            <a:off x="819150" y="2165246"/>
            <a:ext cx="3296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0CA"/>
              </a:buClr>
              <a:buSzPts val="900"/>
              <a:buFont typeface="Public Sans"/>
              <a:buNone/>
            </a:pPr>
            <a:r>
              <a:rPr b="0" i="0" lang="en-GB" sz="900" u="none" cap="none" strike="noStrike">
                <a:solidFill>
                  <a:srgbClr val="B8C0CA"/>
                </a:solidFill>
                <a:latin typeface="Public Sans"/>
                <a:ea typeface="Public Sans"/>
                <a:cs typeface="Public Sans"/>
                <a:sym typeface="Public Sans"/>
              </a:rPr>
              <a:t>A/B test · 15 March – 20 June 2017</a:t>
            </a:r>
            <a:endParaRPr b="0" i="0" sz="900" u="none" cap="none" strike="noStrike">
              <a:solidFill>
                <a:schemeClr val="dk1"/>
              </a:solidFill>
              <a:latin typeface="Public Sans"/>
              <a:ea typeface="Public Sans"/>
              <a:cs typeface="Public Sans"/>
              <a:sym typeface="Public Sans"/>
            </a:endParaRPr>
          </a:p>
        </p:txBody>
      </p:sp>
      <p:sp>
        <p:nvSpPr>
          <p:cNvPr id="78" name="Google Shape;78;p17"/>
          <p:cNvSpPr/>
          <p:nvPr/>
        </p:nvSpPr>
        <p:spPr>
          <a:xfrm>
            <a:off x="819150" y="2410961"/>
            <a:ext cx="1134000" cy="37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F9BB8"/>
              </a:buClr>
              <a:buSzPts val="1000"/>
              <a:buFont typeface="Public Sans"/>
              <a:buNone/>
            </a:pPr>
            <a:r>
              <a:rPr b="0" i="0" lang="en-GB" sz="1000" u="none" cap="none" strike="noStrike">
                <a:solidFill>
                  <a:srgbClr val="7F9BB8"/>
                </a:solidFill>
                <a:latin typeface="Public Sans"/>
                <a:ea typeface="Public Sans"/>
                <a:cs typeface="Public Sans"/>
                <a:sym typeface="Public Sans"/>
              </a:rPr>
              <a:t>●</a:t>
            </a:r>
            <a:r>
              <a:rPr b="0" i="0" lang="en-GB" sz="1000" u="none" cap="none" strike="noStrike">
                <a:solidFill>
                  <a:srgbClr val="F3F4F6"/>
                </a:solidFill>
                <a:latin typeface="Public Sans"/>
                <a:ea typeface="Public Sans"/>
                <a:cs typeface="Public Sans"/>
                <a:sym typeface="Public Sans"/>
              </a:rPr>
              <a:t> </a:t>
            </a:r>
            <a:r>
              <a:rPr b="1" i="0" lang="en-GB" sz="1000" u="none" cap="none" strike="noStrike">
                <a:solidFill>
                  <a:srgbClr val="F3F4F6"/>
                </a:solidFill>
                <a:latin typeface="Public Sans"/>
                <a:ea typeface="Public Sans"/>
                <a:cs typeface="Public Sans"/>
                <a:sym typeface="Public Sans"/>
              </a:rPr>
              <a:t>Control</a:t>
            </a:r>
            <a:r>
              <a:rPr b="0" i="0" lang="en-GB" sz="1000" u="none" cap="none" strike="noStrike">
                <a:solidFill>
                  <a:srgbClr val="F3F4F6"/>
                </a:solidFill>
                <a:latin typeface="Public Sans"/>
                <a:ea typeface="Public Sans"/>
                <a:cs typeface="Public Sans"/>
                <a:sym typeface="Public Sans"/>
              </a:rPr>
              <a:t> · old site</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B8C0CA"/>
              </a:buClr>
              <a:buSzPts val="1000"/>
              <a:buFont typeface="Public Sans"/>
              <a:buNone/>
            </a:pPr>
            <a:r>
              <a:rPr b="0" i="0" lang="en-GB" sz="1000" u="none" cap="none" strike="noStrike">
                <a:solidFill>
                  <a:srgbClr val="B8C0CA"/>
                </a:solidFill>
                <a:latin typeface="Public Sans"/>
                <a:ea typeface="Public Sans"/>
                <a:cs typeface="Public Sans"/>
                <a:sym typeface="Public Sans"/>
              </a:rPr>
              <a:t>23,526 clients</a:t>
            </a:r>
            <a:endParaRPr b="0" i="0" sz="1000" u="none" cap="none" strike="noStrike">
              <a:solidFill>
                <a:schemeClr val="dk1"/>
              </a:solidFill>
              <a:latin typeface="Public Sans"/>
              <a:ea typeface="Public Sans"/>
              <a:cs typeface="Public Sans"/>
              <a:sym typeface="Public Sans"/>
            </a:endParaRPr>
          </a:p>
        </p:txBody>
      </p:sp>
      <p:sp>
        <p:nvSpPr>
          <p:cNvPr id="79" name="Google Shape;79;p17"/>
          <p:cNvSpPr/>
          <p:nvPr/>
        </p:nvSpPr>
        <p:spPr>
          <a:xfrm>
            <a:off x="2105657" y="2410961"/>
            <a:ext cx="997800" cy="37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7BAE"/>
              </a:buClr>
              <a:buSzPts val="1000"/>
              <a:buFont typeface="Public Sans"/>
              <a:buNone/>
            </a:pPr>
            <a:r>
              <a:rPr b="0" i="0" lang="en-GB" sz="1000" u="none" cap="none" strike="noStrike">
                <a:solidFill>
                  <a:srgbClr val="C27BAE"/>
                </a:solidFill>
                <a:latin typeface="Public Sans"/>
                <a:ea typeface="Public Sans"/>
                <a:cs typeface="Public Sans"/>
                <a:sym typeface="Public Sans"/>
              </a:rPr>
              <a:t>●</a:t>
            </a:r>
            <a:r>
              <a:rPr b="0" i="0" lang="en-GB" sz="1000" u="none" cap="none" strike="noStrike">
                <a:solidFill>
                  <a:srgbClr val="F3F4F6"/>
                </a:solidFill>
                <a:latin typeface="Public Sans"/>
                <a:ea typeface="Public Sans"/>
                <a:cs typeface="Public Sans"/>
                <a:sym typeface="Public Sans"/>
              </a:rPr>
              <a:t> </a:t>
            </a:r>
            <a:r>
              <a:rPr b="1" i="0" lang="en-GB" sz="1000" u="none" cap="none" strike="noStrike">
                <a:solidFill>
                  <a:srgbClr val="F3F4F6"/>
                </a:solidFill>
                <a:latin typeface="Public Sans"/>
                <a:ea typeface="Public Sans"/>
                <a:cs typeface="Public Sans"/>
                <a:sym typeface="Public Sans"/>
              </a:rPr>
              <a:t>Test</a:t>
            </a:r>
            <a:r>
              <a:rPr b="0" i="0" lang="en-GB" sz="1000" u="none" cap="none" strike="noStrike">
                <a:solidFill>
                  <a:srgbClr val="F3F4F6"/>
                </a:solidFill>
                <a:latin typeface="Public Sans"/>
                <a:ea typeface="Public Sans"/>
                <a:cs typeface="Public Sans"/>
                <a:sym typeface="Public Sans"/>
              </a:rPr>
              <a:t> · new site</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B8C0CA"/>
              </a:buClr>
              <a:buSzPts val="1000"/>
              <a:buFont typeface="Public Sans"/>
              <a:buNone/>
            </a:pPr>
            <a:r>
              <a:rPr b="0" i="0" lang="en-GB" sz="1000" u="none" cap="none" strike="noStrike">
                <a:solidFill>
                  <a:srgbClr val="B8C0CA"/>
                </a:solidFill>
                <a:latin typeface="Public Sans"/>
                <a:ea typeface="Public Sans"/>
                <a:cs typeface="Public Sans"/>
                <a:sym typeface="Public Sans"/>
              </a:rPr>
              <a:t>26,961 clients</a:t>
            </a:r>
            <a:endParaRPr b="0" i="0" sz="1000" u="none" cap="none" strike="noStrike">
              <a:solidFill>
                <a:schemeClr val="dk1"/>
              </a:solidFill>
              <a:latin typeface="Public Sans"/>
              <a:ea typeface="Public Sans"/>
              <a:cs typeface="Public Sans"/>
              <a:sym typeface="Public Sans"/>
            </a:endParaRPr>
          </a:p>
        </p:txBody>
      </p:sp>
      <p:sp>
        <p:nvSpPr>
          <p:cNvPr id="80" name="Google Shape;80;p17"/>
          <p:cNvSpPr/>
          <p:nvPr/>
        </p:nvSpPr>
        <p:spPr>
          <a:xfrm>
            <a:off x="819150" y="2856701"/>
            <a:ext cx="3200400" cy="9600"/>
          </a:xfrm>
          <a:prstGeom prst="rect">
            <a:avLst/>
          </a:prstGeom>
          <a:solidFill>
            <a:srgbClr val="3A475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7"/>
          <p:cNvSpPr/>
          <p:nvPr/>
        </p:nvSpPr>
        <p:spPr>
          <a:xfrm>
            <a:off x="819150" y="2951951"/>
            <a:ext cx="3296400" cy="43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3F4F6"/>
              </a:buClr>
              <a:buSzPts val="1400"/>
              <a:buFont typeface="Rubik"/>
              <a:buNone/>
            </a:pPr>
            <a:r>
              <a:rPr b="1" i="0" lang="en-GB" sz="1400" u="none" cap="none" strike="noStrike">
                <a:solidFill>
                  <a:srgbClr val="F3F4F6"/>
                </a:solidFill>
                <a:latin typeface="Rubik"/>
                <a:ea typeface="Rubik"/>
                <a:cs typeface="Rubik"/>
                <a:sym typeface="Rubik"/>
              </a:rPr>
              <a:t>Did the new design lead to a higher completion rate?</a:t>
            </a:r>
            <a:endParaRPr b="0" i="0" sz="1400" u="none" cap="none" strike="noStrike">
              <a:solidFill>
                <a:schemeClr val="dk1"/>
              </a:solidFill>
              <a:latin typeface="Public Sans"/>
              <a:ea typeface="Public Sans"/>
              <a:cs typeface="Public Sans"/>
              <a:sym typeface="Public Sans"/>
            </a:endParaRPr>
          </a:p>
        </p:txBody>
      </p:sp>
      <p:sp>
        <p:nvSpPr>
          <p:cNvPr id="82" name="Google Shape;82;p17"/>
          <p:cNvSpPr/>
          <p:nvPr/>
        </p:nvSpPr>
        <p:spPr>
          <a:xfrm>
            <a:off x="5787862" y="1592000"/>
            <a:ext cx="2746800" cy="768000"/>
          </a:xfrm>
          <a:prstGeom prst="roundRect">
            <a:avLst>
              <a:gd fmla="val 992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7"/>
          <p:cNvSpPr/>
          <p:nvPr/>
        </p:nvSpPr>
        <p:spPr>
          <a:xfrm>
            <a:off x="5940447" y="1715825"/>
            <a:ext cx="251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Rubik"/>
              <a:buNone/>
            </a:pPr>
            <a:r>
              <a:rPr b="1" i="0" lang="en-GB" sz="1100" u="none" cap="none" strike="noStrike">
                <a:solidFill>
                  <a:srgbClr val="1C2733"/>
                </a:solidFill>
                <a:latin typeface="Rubik"/>
                <a:ea typeface="Rubik"/>
                <a:cs typeface="Rubik"/>
                <a:sym typeface="Rubik"/>
              </a:rPr>
              <a:t>Client profiles</a:t>
            </a:r>
            <a:endParaRPr b="0" i="0" sz="1100" u="none" cap="none" strike="noStrike">
              <a:solidFill>
                <a:schemeClr val="dk1"/>
              </a:solidFill>
              <a:latin typeface="Public Sans"/>
              <a:ea typeface="Public Sans"/>
              <a:cs typeface="Public Sans"/>
              <a:sym typeface="Public Sans"/>
            </a:endParaRPr>
          </a:p>
        </p:txBody>
      </p:sp>
      <p:sp>
        <p:nvSpPr>
          <p:cNvPr id="84" name="Google Shape;84;p17"/>
          <p:cNvSpPr/>
          <p:nvPr/>
        </p:nvSpPr>
        <p:spPr>
          <a:xfrm>
            <a:off x="5940447" y="1940593"/>
            <a:ext cx="2514600" cy="314700"/>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Age, gender, tenure, balance, accounts, calls, logons</a:t>
            </a:r>
            <a:endParaRPr b="0" i="0" sz="900" u="none" cap="none" strike="noStrike">
              <a:solidFill>
                <a:schemeClr val="dk1"/>
              </a:solidFill>
              <a:latin typeface="Public Sans"/>
              <a:ea typeface="Public Sans"/>
              <a:cs typeface="Public Sans"/>
              <a:sym typeface="Public Sans"/>
            </a:endParaRPr>
          </a:p>
        </p:txBody>
      </p:sp>
      <p:sp>
        <p:nvSpPr>
          <p:cNvPr id="85" name="Google Shape;85;p17"/>
          <p:cNvSpPr/>
          <p:nvPr/>
        </p:nvSpPr>
        <p:spPr>
          <a:xfrm>
            <a:off x="5787849" y="2547113"/>
            <a:ext cx="2746800" cy="768000"/>
          </a:xfrm>
          <a:prstGeom prst="roundRect">
            <a:avLst>
              <a:gd fmla="val 992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7"/>
          <p:cNvSpPr/>
          <p:nvPr/>
        </p:nvSpPr>
        <p:spPr>
          <a:xfrm>
            <a:off x="5940434" y="2670938"/>
            <a:ext cx="251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Rubik"/>
              <a:buNone/>
            </a:pPr>
            <a:r>
              <a:rPr b="1" i="0" lang="en-GB" sz="1100" u="none" cap="none" strike="noStrike">
                <a:solidFill>
                  <a:srgbClr val="1C2733"/>
                </a:solidFill>
                <a:latin typeface="Rubik"/>
                <a:ea typeface="Rubik"/>
                <a:cs typeface="Rubik"/>
                <a:sym typeface="Rubik"/>
              </a:rPr>
              <a:t>Digital footprints</a:t>
            </a:r>
            <a:endParaRPr b="0" i="0" sz="1100" u="none" cap="none" strike="noStrike">
              <a:solidFill>
                <a:schemeClr val="dk1"/>
              </a:solidFill>
              <a:latin typeface="Public Sans"/>
              <a:ea typeface="Public Sans"/>
              <a:cs typeface="Public Sans"/>
              <a:sym typeface="Public Sans"/>
            </a:endParaRPr>
          </a:p>
        </p:txBody>
      </p:sp>
      <p:sp>
        <p:nvSpPr>
          <p:cNvPr id="87" name="Google Shape;87;p17"/>
          <p:cNvSpPr/>
          <p:nvPr/>
        </p:nvSpPr>
        <p:spPr>
          <a:xfrm>
            <a:off x="5940434" y="2895705"/>
            <a:ext cx="2593800" cy="166800"/>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Every page visited, with time (2 files merged)</a:t>
            </a:r>
            <a:endParaRPr b="0" i="0" sz="900" u="none" cap="none" strike="noStrike">
              <a:solidFill>
                <a:schemeClr val="dk1"/>
              </a:solidFill>
              <a:latin typeface="Public Sans"/>
              <a:ea typeface="Public Sans"/>
              <a:cs typeface="Public Sans"/>
              <a:sym typeface="Public Sans"/>
            </a:endParaRPr>
          </a:p>
        </p:txBody>
      </p:sp>
      <p:sp>
        <p:nvSpPr>
          <p:cNvPr id="88" name="Google Shape;88;p17"/>
          <p:cNvSpPr/>
          <p:nvPr/>
        </p:nvSpPr>
        <p:spPr>
          <a:xfrm>
            <a:off x="5787849" y="3502250"/>
            <a:ext cx="2746800" cy="768000"/>
          </a:xfrm>
          <a:prstGeom prst="roundRect">
            <a:avLst>
              <a:gd fmla="val 992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7"/>
          <p:cNvSpPr/>
          <p:nvPr/>
        </p:nvSpPr>
        <p:spPr>
          <a:xfrm>
            <a:off x="5940434" y="3626075"/>
            <a:ext cx="251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Rubik"/>
              <a:buNone/>
            </a:pPr>
            <a:r>
              <a:rPr b="1" i="0" lang="en-GB" sz="1100" u="none" cap="none" strike="noStrike">
                <a:solidFill>
                  <a:srgbClr val="1C2733"/>
                </a:solidFill>
                <a:latin typeface="Rubik"/>
                <a:ea typeface="Rubik"/>
                <a:cs typeface="Rubik"/>
                <a:sym typeface="Rubik"/>
              </a:rPr>
              <a:t>Experiment roster</a:t>
            </a:r>
            <a:endParaRPr b="0" i="0" sz="1100" u="none" cap="none" strike="noStrike">
              <a:solidFill>
                <a:schemeClr val="dk1"/>
              </a:solidFill>
              <a:latin typeface="Public Sans"/>
              <a:ea typeface="Public Sans"/>
              <a:cs typeface="Public Sans"/>
              <a:sym typeface="Public Sans"/>
            </a:endParaRPr>
          </a:p>
        </p:txBody>
      </p:sp>
      <p:sp>
        <p:nvSpPr>
          <p:cNvPr id="90" name="Google Shape;90;p17"/>
          <p:cNvSpPr/>
          <p:nvPr/>
        </p:nvSpPr>
        <p:spPr>
          <a:xfrm>
            <a:off x="5940434" y="3850843"/>
            <a:ext cx="2514600" cy="166800"/>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Who was in Control or Test</a:t>
            </a:r>
            <a:endParaRPr b="0" i="0" sz="900" u="none" cap="none" strike="noStrike">
              <a:solidFill>
                <a:schemeClr val="dk1"/>
              </a:solidFill>
              <a:latin typeface="Public Sans"/>
              <a:ea typeface="Public Sans"/>
              <a:cs typeface="Public Sans"/>
              <a:sym typeface="Public Sans"/>
            </a:endParaRPr>
          </a:p>
        </p:txBody>
      </p:sp>
      <p:pic>
        <p:nvPicPr>
          <p:cNvPr descr="vanguard-logo.png" id="91" name="Google Shape;91;p17"/>
          <p:cNvPicPr preferRelativeResize="0"/>
          <p:nvPr/>
        </p:nvPicPr>
        <p:blipFill rotWithShape="1">
          <a:blip r:embed="rId3">
            <a:alphaModFix/>
          </a:blip>
          <a:srcRect b="0" l="177" r="177" t="0"/>
          <a:stretch/>
        </p:blipFill>
        <p:spPr>
          <a:xfrm>
            <a:off x="8617393" y="4616793"/>
            <a:ext cx="264677" cy="274301"/>
          </a:xfrm>
          <a:prstGeom prst="rect">
            <a:avLst/>
          </a:prstGeom>
          <a:noFill/>
          <a:ln>
            <a:noFill/>
          </a:ln>
        </p:spPr>
      </p:pic>
      <p:sp>
        <p:nvSpPr>
          <p:cNvPr id="92" name="Google Shape;92;p17"/>
          <p:cNvSpPr/>
          <p:nvPr/>
        </p:nvSpPr>
        <p:spPr>
          <a:xfrm>
            <a:off x="609600" y="4781550"/>
            <a:ext cx="317987"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2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97" name="Shape 97"/>
        <p:cNvGrpSpPr/>
        <p:nvPr/>
      </p:nvGrpSpPr>
      <p:grpSpPr>
        <a:xfrm>
          <a:off x="0" y="0"/>
          <a:ext cx="0" cy="0"/>
          <a:chOff x="0" y="0"/>
          <a:chExt cx="0" cy="0"/>
        </a:xfrm>
      </p:grpSpPr>
      <p:sp>
        <p:nvSpPr>
          <p:cNvPr id="98" name="Google Shape;98;p18"/>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8"/>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UNDERSTAND THE DATA</a:t>
            </a:r>
            <a:endParaRPr b="0" i="0" sz="900" u="none" cap="none" strike="noStrike">
              <a:solidFill>
                <a:schemeClr val="dk1"/>
              </a:solidFill>
              <a:latin typeface="Public Sans"/>
              <a:ea typeface="Public Sans"/>
              <a:cs typeface="Public Sans"/>
              <a:sym typeface="Public Sans"/>
            </a:endParaRPr>
          </a:p>
        </p:txBody>
      </p:sp>
      <p:sp>
        <p:nvSpPr>
          <p:cNvPr id="100" name="Google Shape;100;p18"/>
          <p:cNvSpPr txBox="1"/>
          <p:nvPr>
            <p:ph type="title"/>
          </p:nvPr>
        </p:nvSpPr>
        <p:spPr>
          <a:xfrm>
            <a:off x="609600" y="760065"/>
            <a:ext cx="8162544" cy="364777"/>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733"/>
              </a:buClr>
              <a:buSzPct val="100000"/>
              <a:buFont typeface="Rubik"/>
              <a:buNone/>
            </a:pPr>
            <a:r>
              <a:rPr b="1" i="0" lang="en-GB" sz="2500">
                <a:solidFill>
                  <a:srgbClr val="1C2733"/>
                </a:solidFill>
                <a:latin typeface="Rubik"/>
                <a:ea typeface="Rubik"/>
                <a:cs typeface="Rubik"/>
                <a:sym typeface="Rubik"/>
              </a:rPr>
              <a:t>Who are the clients</a:t>
            </a:r>
            <a:r>
              <a:rPr b="1" lang="en-GB"/>
              <a:t> at Vanguard </a:t>
            </a:r>
            <a:r>
              <a:rPr b="1" i="0" lang="en-GB" sz="2500">
                <a:solidFill>
                  <a:srgbClr val="1C2733"/>
                </a:solidFill>
                <a:latin typeface="Rubik"/>
                <a:ea typeface="Rubik"/>
                <a:cs typeface="Rubik"/>
                <a:sym typeface="Rubik"/>
              </a:rPr>
              <a:t>?</a:t>
            </a:r>
            <a:endParaRPr sz="2500"/>
          </a:p>
        </p:txBody>
      </p:sp>
      <p:sp>
        <p:nvSpPr>
          <p:cNvPr id="101" name="Google Shape;101;p18"/>
          <p:cNvSpPr/>
          <p:nvPr/>
        </p:nvSpPr>
        <p:spPr>
          <a:xfrm>
            <a:off x="611981" y="1317724"/>
            <a:ext cx="3890963" cy="1342021"/>
          </a:xfrm>
          <a:prstGeom prst="roundRect">
            <a:avLst>
              <a:gd fmla="val 6210"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8"/>
          <p:cNvSpPr/>
          <p:nvPr/>
        </p:nvSpPr>
        <p:spPr>
          <a:xfrm>
            <a:off x="785813" y="1491556"/>
            <a:ext cx="364959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Age · median</a:t>
            </a:r>
            <a:endParaRPr b="0" i="0" sz="900" u="none" cap="none" strike="noStrike">
              <a:solidFill>
                <a:schemeClr val="dk1"/>
              </a:solidFill>
              <a:latin typeface="Public Sans"/>
              <a:ea typeface="Public Sans"/>
              <a:cs typeface="Public Sans"/>
              <a:sym typeface="Public Sans"/>
            </a:endParaRPr>
          </a:p>
        </p:txBody>
      </p:sp>
      <p:sp>
        <p:nvSpPr>
          <p:cNvPr id="103" name="Google Shape;103;p18"/>
          <p:cNvSpPr/>
          <p:nvPr/>
        </p:nvSpPr>
        <p:spPr>
          <a:xfrm>
            <a:off x="785813" y="1708696"/>
            <a:ext cx="3649599" cy="39242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2100"/>
              <a:buFont typeface="Rubik"/>
              <a:buNone/>
            </a:pPr>
            <a:r>
              <a:rPr b="1" i="0" lang="en-GB" sz="2100" u="none" cap="none" strike="noStrike">
                <a:solidFill>
                  <a:srgbClr val="263A50"/>
                </a:solidFill>
                <a:latin typeface="Rubik"/>
                <a:ea typeface="Rubik"/>
                <a:cs typeface="Rubik"/>
                <a:sym typeface="Rubik"/>
              </a:rPr>
              <a:t>48 years</a:t>
            </a:r>
            <a:endParaRPr b="0" i="0" sz="2100" u="none" cap="none" strike="noStrike">
              <a:solidFill>
                <a:schemeClr val="dk1"/>
              </a:solidFill>
              <a:latin typeface="Public Sans"/>
              <a:ea typeface="Public Sans"/>
              <a:cs typeface="Public Sans"/>
              <a:sym typeface="Public Sans"/>
            </a:endParaRPr>
          </a:p>
        </p:txBody>
      </p:sp>
      <p:sp>
        <p:nvSpPr>
          <p:cNvPr id="104" name="Google Shape;104;p18"/>
          <p:cNvSpPr/>
          <p:nvPr/>
        </p:nvSpPr>
        <p:spPr>
          <a:xfrm>
            <a:off x="785813" y="2139218"/>
            <a:ext cx="3649599"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Two peaks: young adults (~30) and people close to retirement (55–60)</a:t>
            </a:r>
            <a:endParaRPr b="0" i="0" sz="1000" u="none" cap="none" strike="noStrike">
              <a:solidFill>
                <a:schemeClr val="dk1"/>
              </a:solidFill>
              <a:latin typeface="Public Sans"/>
              <a:ea typeface="Public Sans"/>
              <a:cs typeface="Public Sans"/>
              <a:sym typeface="Public Sans"/>
            </a:endParaRPr>
          </a:p>
        </p:txBody>
      </p:sp>
      <p:sp>
        <p:nvSpPr>
          <p:cNvPr id="105" name="Google Shape;105;p18"/>
          <p:cNvSpPr/>
          <p:nvPr/>
        </p:nvSpPr>
        <p:spPr>
          <a:xfrm>
            <a:off x="4641056" y="1317724"/>
            <a:ext cx="3890963" cy="1342021"/>
          </a:xfrm>
          <a:prstGeom prst="roundRect">
            <a:avLst>
              <a:gd fmla="val 6210"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8"/>
          <p:cNvSpPr/>
          <p:nvPr/>
        </p:nvSpPr>
        <p:spPr>
          <a:xfrm>
            <a:off x="4814887" y="1491556"/>
            <a:ext cx="364959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Account balance · median</a:t>
            </a:r>
            <a:endParaRPr b="0" i="0" sz="900" u="none" cap="none" strike="noStrike">
              <a:solidFill>
                <a:schemeClr val="dk1"/>
              </a:solidFill>
              <a:latin typeface="Public Sans"/>
              <a:ea typeface="Public Sans"/>
              <a:cs typeface="Public Sans"/>
              <a:sym typeface="Public Sans"/>
            </a:endParaRPr>
          </a:p>
        </p:txBody>
      </p:sp>
      <p:sp>
        <p:nvSpPr>
          <p:cNvPr id="107" name="Google Shape;107;p18"/>
          <p:cNvSpPr/>
          <p:nvPr/>
        </p:nvSpPr>
        <p:spPr>
          <a:xfrm>
            <a:off x="4814887" y="1708696"/>
            <a:ext cx="3649599" cy="39242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2100"/>
              <a:buFont typeface="Rubik"/>
              <a:buNone/>
            </a:pPr>
            <a:r>
              <a:rPr b="1" i="0" lang="en-GB" sz="2100" u="none" cap="none" strike="noStrike">
                <a:solidFill>
                  <a:srgbClr val="263A50"/>
                </a:solidFill>
                <a:latin typeface="Rubik"/>
                <a:ea typeface="Rubik"/>
                <a:cs typeface="Rubik"/>
                <a:sym typeface="Rubik"/>
              </a:rPr>
              <a:t>$65,734</a:t>
            </a:r>
            <a:endParaRPr b="0" i="0" sz="2100" u="none" cap="none" strike="noStrike">
              <a:solidFill>
                <a:schemeClr val="dk1"/>
              </a:solidFill>
              <a:latin typeface="Public Sans"/>
              <a:ea typeface="Public Sans"/>
              <a:cs typeface="Public Sans"/>
              <a:sym typeface="Public Sans"/>
            </a:endParaRPr>
          </a:p>
        </p:txBody>
      </p:sp>
      <p:sp>
        <p:nvSpPr>
          <p:cNvPr id="108" name="Google Shape;108;p18"/>
          <p:cNvSpPr/>
          <p:nvPr/>
        </p:nvSpPr>
        <p:spPr>
          <a:xfrm>
            <a:off x="4814887" y="2139218"/>
            <a:ext cx="3649599"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Mean is $149,517: a few clients hold millions, so we use the median</a:t>
            </a:r>
            <a:endParaRPr b="0" i="0" sz="1000" u="none" cap="none" strike="noStrike">
              <a:solidFill>
                <a:schemeClr val="dk1"/>
              </a:solidFill>
              <a:latin typeface="Public Sans"/>
              <a:ea typeface="Public Sans"/>
              <a:cs typeface="Public Sans"/>
              <a:sym typeface="Public Sans"/>
            </a:endParaRPr>
          </a:p>
        </p:txBody>
      </p:sp>
      <p:sp>
        <p:nvSpPr>
          <p:cNvPr id="109" name="Google Shape;109;p18"/>
          <p:cNvSpPr/>
          <p:nvPr/>
        </p:nvSpPr>
        <p:spPr>
          <a:xfrm>
            <a:off x="611981" y="2797857"/>
            <a:ext cx="3890963" cy="1168672"/>
          </a:xfrm>
          <a:prstGeom prst="roundRect">
            <a:avLst>
              <a:gd fmla="val 7131"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8"/>
          <p:cNvSpPr/>
          <p:nvPr/>
        </p:nvSpPr>
        <p:spPr>
          <a:xfrm>
            <a:off x="785813" y="2971688"/>
            <a:ext cx="364959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Tenure · median</a:t>
            </a:r>
            <a:endParaRPr b="0" i="0" sz="900" u="none" cap="none" strike="noStrike">
              <a:solidFill>
                <a:schemeClr val="dk1"/>
              </a:solidFill>
              <a:latin typeface="Public Sans"/>
              <a:ea typeface="Public Sans"/>
              <a:cs typeface="Public Sans"/>
              <a:sym typeface="Public Sans"/>
            </a:endParaRPr>
          </a:p>
        </p:txBody>
      </p:sp>
      <p:sp>
        <p:nvSpPr>
          <p:cNvPr id="111" name="Google Shape;111;p18"/>
          <p:cNvSpPr/>
          <p:nvPr/>
        </p:nvSpPr>
        <p:spPr>
          <a:xfrm>
            <a:off x="785813" y="3188828"/>
            <a:ext cx="3649599" cy="3924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2100"/>
              <a:buFont typeface="Rubik"/>
              <a:buNone/>
            </a:pPr>
            <a:r>
              <a:rPr b="1" i="0" lang="en-GB" sz="2100" u="none" cap="none" strike="noStrike">
                <a:solidFill>
                  <a:srgbClr val="263A50"/>
                </a:solidFill>
                <a:latin typeface="Rubik"/>
                <a:ea typeface="Rubik"/>
                <a:cs typeface="Rubik"/>
                <a:sym typeface="Rubik"/>
              </a:rPr>
              <a:t>11 years</a:t>
            </a:r>
            <a:endParaRPr b="0" i="0" sz="2100" u="none" cap="none" strike="noStrike">
              <a:solidFill>
                <a:schemeClr val="dk1"/>
              </a:solidFill>
              <a:latin typeface="Public Sans"/>
              <a:ea typeface="Public Sans"/>
              <a:cs typeface="Public Sans"/>
              <a:sym typeface="Public Sans"/>
            </a:endParaRPr>
          </a:p>
        </p:txBody>
      </p:sp>
      <p:sp>
        <p:nvSpPr>
          <p:cNvPr id="112" name="Google Shape;112;p18"/>
          <p:cNvSpPr/>
          <p:nvPr/>
        </p:nvSpPr>
        <p:spPr>
          <a:xfrm>
            <a:off x="785813" y="3619352"/>
            <a:ext cx="3649599"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Most clients joined Vanguard 4 to 16 years ago</a:t>
            </a:r>
            <a:endParaRPr b="0" i="0" sz="1000" u="none" cap="none" strike="noStrike">
              <a:solidFill>
                <a:schemeClr val="dk1"/>
              </a:solidFill>
              <a:latin typeface="Public Sans"/>
              <a:ea typeface="Public Sans"/>
              <a:cs typeface="Public Sans"/>
              <a:sym typeface="Public Sans"/>
            </a:endParaRPr>
          </a:p>
        </p:txBody>
      </p:sp>
      <p:sp>
        <p:nvSpPr>
          <p:cNvPr id="113" name="Google Shape;113;p18"/>
          <p:cNvSpPr/>
          <p:nvPr/>
        </p:nvSpPr>
        <p:spPr>
          <a:xfrm>
            <a:off x="4641056" y="2797857"/>
            <a:ext cx="3890963" cy="1168672"/>
          </a:xfrm>
          <a:prstGeom prst="roundRect">
            <a:avLst>
              <a:gd fmla="val 7131" name="adj"/>
            </a:avLst>
          </a:prstGeom>
          <a:solidFill>
            <a:srgbClr val="FFFFFF"/>
          </a:solidFill>
          <a:ln cap="flat" cmpd="sng" w="9525">
            <a:solidFill>
              <a:srgbClr val="E3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8"/>
          <p:cNvSpPr/>
          <p:nvPr/>
        </p:nvSpPr>
        <p:spPr>
          <a:xfrm>
            <a:off x="4814887" y="2971688"/>
            <a:ext cx="364959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Gender</a:t>
            </a:r>
            <a:endParaRPr b="0" i="0" sz="900" u="none" cap="none" strike="noStrike">
              <a:solidFill>
                <a:schemeClr val="dk1"/>
              </a:solidFill>
              <a:latin typeface="Public Sans"/>
              <a:ea typeface="Public Sans"/>
              <a:cs typeface="Public Sans"/>
              <a:sym typeface="Public Sans"/>
            </a:endParaRPr>
          </a:p>
        </p:txBody>
      </p:sp>
      <p:sp>
        <p:nvSpPr>
          <p:cNvPr id="115" name="Google Shape;115;p18"/>
          <p:cNvSpPr/>
          <p:nvPr/>
        </p:nvSpPr>
        <p:spPr>
          <a:xfrm>
            <a:off x="4814887" y="3188828"/>
            <a:ext cx="3649599" cy="3924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2100"/>
              <a:buFont typeface="Rubik"/>
              <a:buNone/>
            </a:pPr>
            <a:r>
              <a:rPr b="1" i="0" lang="en-GB" sz="2100" u="none" cap="none" strike="noStrike">
                <a:solidFill>
                  <a:srgbClr val="263A50"/>
                </a:solidFill>
                <a:latin typeface="Rubik"/>
                <a:ea typeface="Rubik"/>
                <a:cs typeface="Rubik"/>
                <a:sym typeface="Rubik"/>
              </a:rPr>
              <a:t>⅓ · ⅓ · ⅓</a:t>
            </a:r>
            <a:endParaRPr b="0" i="0" sz="2100" u="none" cap="none" strike="noStrike">
              <a:solidFill>
                <a:schemeClr val="dk1"/>
              </a:solidFill>
              <a:latin typeface="Public Sans"/>
              <a:ea typeface="Public Sans"/>
              <a:cs typeface="Public Sans"/>
              <a:sym typeface="Public Sans"/>
            </a:endParaRPr>
          </a:p>
        </p:txBody>
      </p:sp>
      <p:sp>
        <p:nvSpPr>
          <p:cNvPr id="116" name="Google Shape;116;p18"/>
          <p:cNvSpPr/>
          <p:nvPr/>
        </p:nvSpPr>
        <p:spPr>
          <a:xfrm>
            <a:off x="4814887" y="3619352"/>
            <a:ext cx="3649599"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Female 32 %, Male 34 %, Unknown 34 %</a:t>
            </a:r>
            <a:endParaRPr b="0" i="0" sz="1000" u="none" cap="none" strike="noStrike">
              <a:solidFill>
                <a:schemeClr val="dk1"/>
              </a:solidFill>
              <a:latin typeface="Public Sans"/>
              <a:ea typeface="Public Sans"/>
              <a:cs typeface="Public Sans"/>
              <a:sym typeface="Public Sans"/>
            </a:endParaRPr>
          </a:p>
        </p:txBody>
      </p:sp>
      <p:sp>
        <p:nvSpPr>
          <p:cNvPr id="117" name="Google Shape;117;p18"/>
          <p:cNvSpPr/>
          <p:nvPr/>
        </p:nvSpPr>
        <p:spPr>
          <a:xfrm>
            <a:off x="609600" y="4781550"/>
            <a:ext cx="322004"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3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118" name="Google Shape;118;p18"/>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23" name="Shape 123"/>
        <p:cNvGrpSpPr/>
        <p:nvPr/>
      </p:nvGrpSpPr>
      <p:grpSpPr>
        <a:xfrm>
          <a:off x="0" y="0"/>
          <a:ext cx="0" cy="0"/>
          <a:chOff x="0" y="0"/>
          <a:chExt cx="0" cy="0"/>
        </a:xfrm>
      </p:grpSpPr>
      <p:sp>
        <p:nvSpPr>
          <p:cNvPr id="124" name="Google Shape;124;p19"/>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9"/>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1 · COMPLETION RATE · OVERALL</a:t>
            </a:r>
            <a:endParaRPr b="0" i="0" sz="900" u="none" cap="none" strike="noStrike">
              <a:solidFill>
                <a:schemeClr val="dk1"/>
              </a:solidFill>
              <a:latin typeface="Public Sans"/>
              <a:ea typeface="Public Sans"/>
              <a:cs typeface="Public Sans"/>
              <a:sym typeface="Public Sans"/>
            </a:endParaRPr>
          </a:p>
        </p:txBody>
      </p:sp>
      <p:sp>
        <p:nvSpPr>
          <p:cNvPr id="126" name="Google Shape;126;p19"/>
          <p:cNvSpPr txBox="1"/>
          <p:nvPr>
            <p:ph type="title"/>
          </p:nvPr>
        </p:nvSpPr>
        <p:spPr>
          <a:xfrm>
            <a:off x="609600" y="760065"/>
            <a:ext cx="8162544" cy="35432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400"/>
              <a:buFont typeface="Rubik"/>
              <a:buNone/>
            </a:pPr>
            <a:r>
              <a:rPr b="1" i="0" lang="en-GB" sz="2400">
                <a:solidFill>
                  <a:srgbClr val="1C2733"/>
                </a:solidFill>
                <a:latin typeface="Rubik"/>
                <a:ea typeface="Rubik"/>
                <a:cs typeface="Rubik"/>
                <a:sym typeface="Rubik"/>
              </a:rPr>
              <a:t>More clients finish with the new website</a:t>
            </a:r>
            <a:endParaRPr sz="2400"/>
          </a:p>
        </p:txBody>
      </p:sp>
      <p:sp>
        <p:nvSpPr>
          <p:cNvPr id="127" name="Google Shape;127;p19"/>
          <p:cNvSpPr/>
          <p:nvPr/>
        </p:nvSpPr>
        <p:spPr>
          <a:xfrm>
            <a:off x="609600" y="1842604"/>
            <a:ext cx="3728085"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KPI = % of clients who reach the </a:t>
            </a:r>
            <a:r>
              <a:rPr b="1" i="0" lang="en-GB" sz="1100" u="none" cap="none" strike="noStrike">
                <a:solidFill>
                  <a:srgbClr val="4A5563"/>
                </a:solidFill>
                <a:latin typeface="Public Sans"/>
                <a:ea typeface="Public Sans"/>
                <a:cs typeface="Public Sans"/>
                <a:sym typeface="Public Sans"/>
              </a:rPr>
              <a:t>confirm</a:t>
            </a:r>
            <a:r>
              <a:rPr b="0" i="0" lang="en-GB" sz="1100" u="none" cap="none" strike="noStrike">
                <a:solidFill>
                  <a:srgbClr val="4A5563"/>
                </a:solidFill>
                <a:latin typeface="Public Sans"/>
                <a:ea typeface="Public Sans"/>
                <a:cs typeface="Public Sans"/>
                <a:sym typeface="Public Sans"/>
              </a:rPr>
              <a:t> page</a:t>
            </a:r>
            <a:endParaRPr b="0" i="0" sz="1100" u="none" cap="none" strike="noStrike">
              <a:solidFill>
                <a:schemeClr val="dk1"/>
              </a:solidFill>
              <a:latin typeface="Public Sans"/>
              <a:ea typeface="Public Sans"/>
              <a:cs typeface="Public Sans"/>
              <a:sym typeface="Public Sans"/>
            </a:endParaRPr>
          </a:p>
        </p:txBody>
      </p:sp>
      <p:sp>
        <p:nvSpPr>
          <p:cNvPr id="128" name="Google Shape;128;p19"/>
          <p:cNvSpPr/>
          <p:nvPr/>
        </p:nvSpPr>
        <p:spPr>
          <a:xfrm>
            <a:off x="609600" y="2204554"/>
            <a:ext cx="1080455" cy="6591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3600"/>
              <a:buFont typeface="Rubik"/>
              <a:buNone/>
            </a:pPr>
            <a:r>
              <a:rPr b="1" i="0" lang="en-GB" sz="3600" u="none" cap="none" strike="noStrike">
                <a:solidFill>
                  <a:srgbClr val="1C2733"/>
                </a:solidFill>
                <a:latin typeface="Rubik"/>
                <a:ea typeface="Rubik"/>
                <a:cs typeface="Rubik"/>
                <a:sym typeface="Rubik"/>
              </a:rPr>
              <a:t>+3.7</a:t>
            </a:r>
            <a:endParaRPr b="0" i="0" sz="3600" u="none" cap="none" strike="noStrike">
              <a:solidFill>
                <a:schemeClr val="dk1"/>
              </a:solidFill>
              <a:latin typeface="Public Sans"/>
              <a:ea typeface="Public Sans"/>
              <a:cs typeface="Public Sans"/>
              <a:sym typeface="Public Sans"/>
            </a:endParaRPr>
          </a:p>
        </p:txBody>
      </p:sp>
      <p:sp>
        <p:nvSpPr>
          <p:cNvPr id="129" name="Google Shape;129;p19"/>
          <p:cNvSpPr/>
          <p:nvPr/>
        </p:nvSpPr>
        <p:spPr>
          <a:xfrm>
            <a:off x="609600" y="2863676"/>
            <a:ext cx="1080455"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percentage points</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69.3 − 65.6</a:t>
            </a:r>
            <a:endParaRPr b="0" i="0" sz="1000" u="none" cap="none" strike="noStrike">
              <a:solidFill>
                <a:schemeClr val="dk1"/>
              </a:solidFill>
              <a:latin typeface="Public Sans"/>
              <a:ea typeface="Public Sans"/>
              <a:cs typeface="Public Sans"/>
              <a:sym typeface="Public Sans"/>
            </a:endParaRPr>
          </a:p>
        </p:txBody>
      </p:sp>
      <p:sp>
        <p:nvSpPr>
          <p:cNvPr id="130" name="Google Shape;130;p19"/>
          <p:cNvSpPr/>
          <p:nvPr/>
        </p:nvSpPr>
        <p:spPr>
          <a:xfrm>
            <a:off x="1918655" y="2204554"/>
            <a:ext cx="1677085" cy="6591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3600"/>
              <a:buFont typeface="Rubik"/>
              <a:buNone/>
            </a:pPr>
            <a:r>
              <a:rPr b="1" i="0" lang="en-GB" sz="3600" u="none" cap="none" strike="noStrike">
                <a:solidFill>
                  <a:srgbClr val="62244F"/>
                </a:solidFill>
                <a:latin typeface="Rubik"/>
                <a:ea typeface="Rubik"/>
                <a:cs typeface="Rubik"/>
                <a:sym typeface="Rubik"/>
              </a:rPr>
              <a:t>+5.7 %</a:t>
            </a:r>
            <a:endParaRPr b="0" i="0" sz="3600" u="none" cap="none" strike="noStrike">
              <a:solidFill>
                <a:schemeClr val="dk1"/>
              </a:solidFill>
              <a:latin typeface="Public Sans"/>
              <a:ea typeface="Public Sans"/>
              <a:cs typeface="Public Sans"/>
              <a:sym typeface="Public Sans"/>
            </a:endParaRPr>
          </a:p>
        </p:txBody>
      </p:sp>
      <p:sp>
        <p:nvSpPr>
          <p:cNvPr id="131" name="Google Shape;131;p19"/>
          <p:cNvSpPr/>
          <p:nvPr/>
        </p:nvSpPr>
        <p:spPr>
          <a:xfrm>
            <a:off x="1918655" y="2863676"/>
            <a:ext cx="1439497"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relative change</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3.7 ÷ 65.6*100</a:t>
            </a:r>
            <a:endParaRPr b="0" i="0" sz="1000" u="none" cap="none" strike="noStrike">
              <a:solidFill>
                <a:schemeClr val="dk1"/>
              </a:solidFill>
              <a:latin typeface="Public Sans"/>
              <a:ea typeface="Public Sans"/>
              <a:cs typeface="Public Sans"/>
              <a:sym typeface="Public Sans"/>
            </a:endParaRPr>
          </a:p>
        </p:txBody>
      </p:sp>
      <p:sp>
        <p:nvSpPr>
          <p:cNvPr id="132" name="Google Shape;132;p19"/>
          <p:cNvSpPr/>
          <p:nvPr/>
        </p:nvSpPr>
        <p:spPr>
          <a:xfrm>
            <a:off x="609600" y="3372296"/>
            <a:ext cx="3619500" cy="681038"/>
          </a:xfrm>
          <a:prstGeom prst="roundRect">
            <a:avLst>
              <a:gd fmla="val 11189" name="adj"/>
            </a:avLst>
          </a:prstGeom>
          <a:solidFill>
            <a:srgbClr val="F3E8EF"/>
          </a:solidFill>
          <a:ln>
            <a:noFill/>
          </a:ln>
        </p:spPr>
        <p:txBody>
          <a:bodyPr anchorCtr="0" anchor="t" bIns="91975" lIns="130075" spcFirstLastPara="1" rIns="30650" wrap="square" tIns="111025">
            <a:noAutofit/>
          </a:bodyPr>
          <a:lstStyle/>
          <a:p>
            <a:pPr indent="0" lvl="0" marL="0" marR="0" rtl="0" algn="l">
              <a:lnSpc>
                <a:spcPct val="145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For every </a:t>
            </a:r>
            <a:r>
              <a:rPr b="1" i="0" lang="en-GB" sz="1100" u="none" cap="none" strike="noStrike">
                <a:solidFill>
                  <a:srgbClr val="4A5563"/>
                </a:solidFill>
                <a:latin typeface="Public Sans"/>
                <a:ea typeface="Public Sans"/>
                <a:cs typeface="Public Sans"/>
                <a:sym typeface="Public Sans"/>
              </a:rPr>
              <a:t>100</a:t>
            </a:r>
            <a:r>
              <a:rPr b="0" i="0" lang="en-GB" sz="1100" u="none" cap="none" strike="noStrike">
                <a:solidFill>
                  <a:srgbClr val="4A5563"/>
                </a:solidFill>
                <a:latin typeface="Public Sans"/>
                <a:ea typeface="Public Sans"/>
                <a:cs typeface="Public Sans"/>
                <a:sym typeface="Public Sans"/>
              </a:rPr>
              <a:t> clients who finished on the old website, about </a:t>
            </a:r>
            <a:r>
              <a:rPr b="1" i="0" lang="en-GB" sz="1100" u="none" cap="none" strike="noStrike">
                <a:solidFill>
                  <a:srgbClr val="4A5563"/>
                </a:solidFill>
                <a:latin typeface="Public Sans"/>
                <a:ea typeface="Public Sans"/>
                <a:cs typeface="Public Sans"/>
                <a:sym typeface="Public Sans"/>
              </a:rPr>
              <a:t>106</a:t>
            </a:r>
            <a:r>
              <a:rPr b="0" i="0" lang="en-GB" sz="1100" u="none" cap="none" strike="noStrike">
                <a:solidFill>
                  <a:srgbClr val="4A5563"/>
                </a:solidFill>
                <a:latin typeface="Public Sans"/>
                <a:ea typeface="Public Sans"/>
                <a:cs typeface="Public Sans"/>
                <a:sym typeface="Public Sans"/>
              </a:rPr>
              <a:t> finish on the new one.</a:t>
            </a:r>
            <a:endParaRPr b="0" i="0" sz="1100" u="none" cap="none" strike="noStrike">
              <a:solidFill>
                <a:schemeClr val="dk1"/>
              </a:solidFill>
              <a:latin typeface="Public Sans"/>
              <a:ea typeface="Public Sans"/>
              <a:cs typeface="Public Sans"/>
              <a:sym typeface="Public Sans"/>
            </a:endParaRPr>
          </a:p>
        </p:txBody>
      </p:sp>
      <p:cxnSp>
        <p:nvCxnSpPr>
          <p:cNvPr id="133" name="Google Shape;133;p19"/>
          <p:cNvCxnSpPr/>
          <p:nvPr/>
        </p:nvCxnSpPr>
        <p:spPr>
          <a:xfrm>
            <a:off x="4686300" y="3966753"/>
            <a:ext cx="3848100" cy="0"/>
          </a:xfrm>
          <a:prstGeom prst="straightConnector1">
            <a:avLst/>
          </a:prstGeom>
          <a:noFill/>
          <a:ln cap="flat" cmpd="sng" w="19050">
            <a:solidFill>
              <a:srgbClr val="1C2733"/>
            </a:solidFill>
            <a:prstDash val="solid"/>
            <a:round/>
            <a:headEnd len="sm" w="sm" type="none"/>
            <a:tailEnd len="sm" w="sm" type="none"/>
          </a:ln>
        </p:spPr>
      </p:cxnSp>
      <p:sp>
        <p:nvSpPr>
          <p:cNvPr id="134" name="Google Shape;134;p19"/>
          <p:cNvSpPr/>
          <p:nvPr/>
        </p:nvSpPr>
        <p:spPr>
          <a:xfrm>
            <a:off x="5501420" y="1706017"/>
            <a:ext cx="874797" cy="33906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1800"/>
              <a:buFont typeface="Rubik"/>
              <a:buNone/>
            </a:pPr>
            <a:r>
              <a:rPr b="1" i="0" lang="en-GB" sz="1800" u="none" cap="none" strike="noStrike">
                <a:solidFill>
                  <a:srgbClr val="263A50"/>
                </a:solidFill>
                <a:latin typeface="Rubik"/>
                <a:ea typeface="Rubik"/>
                <a:cs typeface="Rubik"/>
                <a:sym typeface="Rubik"/>
              </a:rPr>
              <a:t>65.6 %</a:t>
            </a:r>
            <a:endParaRPr b="0" i="0" sz="1800" u="none" cap="none" strike="noStrike">
              <a:solidFill>
                <a:schemeClr val="dk1"/>
              </a:solidFill>
              <a:latin typeface="Public Sans"/>
              <a:ea typeface="Public Sans"/>
              <a:cs typeface="Public Sans"/>
              <a:sym typeface="Public Sans"/>
            </a:endParaRPr>
          </a:p>
        </p:txBody>
      </p:sp>
      <p:sp>
        <p:nvSpPr>
          <p:cNvPr id="135" name="Google Shape;135;p19"/>
          <p:cNvSpPr/>
          <p:nvPr/>
        </p:nvSpPr>
        <p:spPr>
          <a:xfrm>
            <a:off x="5438775" y="2083184"/>
            <a:ext cx="1000125" cy="1876425"/>
          </a:xfrm>
          <a:custGeom>
            <a:rect b="b" l="l" r="r" t="t"/>
            <a:pathLst>
              <a:path extrusionOk="0" h="2501900" w="1333500">
                <a:moveTo>
                  <a:pt x="76200" y="0"/>
                </a:moveTo>
                <a:lnTo>
                  <a:pt x="1257300" y="0"/>
                </a:lnTo>
                <a:cubicBezTo>
                  <a:pt x="1277509" y="0"/>
                  <a:pt x="1296891" y="8028"/>
                  <a:pt x="1311182" y="22318"/>
                </a:cubicBezTo>
                <a:cubicBezTo>
                  <a:pt x="1325472" y="36609"/>
                  <a:pt x="1333500" y="55991"/>
                  <a:pt x="1333500" y="76200"/>
                </a:cubicBezTo>
                <a:lnTo>
                  <a:pt x="1333500" y="2501900"/>
                </a:lnTo>
                <a:lnTo>
                  <a:pt x="0" y="2501900"/>
                </a:lnTo>
                <a:lnTo>
                  <a:pt x="0" y="76200"/>
                </a:lnTo>
                <a:cubicBezTo>
                  <a:pt x="0" y="34116"/>
                  <a:pt x="34116" y="0"/>
                  <a:pt x="762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9"/>
          <p:cNvSpPr/>
          <p:nvPr/>
        </p:nvSpPr>
        <p:spPr>
          <a:xfrm>
            <a:off x="6849978" y="1601242"/>
            <a:ext cx="863769" cy="33906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1800"/>
              <a:buFont typeface="Rubik"/>
              <a:buNone/>
            </a:pPr>
            <a:r>
              <a:rPr b="1" i="0" lang="en-GB" sz="1800" u="none" cap="none" strike="noStrike">
                <a:solidFill>
                  <a:srgbClr val="62244F"/>
                </a:solidFill>
                <a:latin typeface="Rubik"/>
                <a:ea typeface="Rubik"/>
                <a:cs typeface="Rubik"/>
                <a:sym typeface="Rubik"/>
              </a:rPr>
              <a:t>69.3 %</a:t>
            </a:r>
            <a:endParaRPr b="0" i="0" sz="1800" u="none" cap="none" strike="noStrike">
              <a:solidFill>
                <a:schemeClr val="dk1"/>
              </a:solidFill>
              <a:latin typeface="Public Sans"/>
              <a:ea typeface="Public Sans"/>
              <a:cs typeface="Public Sans"/>
              <a:sym typeface="Public Sans"/>
            </a:endParaRPr>
          </a:p>
        </p:txBody>
      </p:sp>
      <p:sp>
        <p:nvSpPr>
          <p:cNvPr id="137" name="Google Shape;137;p19"/>
          <p:cNvSpPr/>
          <p:nvPr/>
        </p:nvSpPr>
        <p:spPr>
          <a:xfrm>
            <a:off x="6781800" y="1978409"/>
            <a:ext cx="1000125" cy="1981200"/>
          </a:xfrm>
          <a:custGeom>
            <a:rect b="b" l="l" r="r" t="t"/>
            <a:pathLst>
              <a:path extrusionOk="0" h="2641600" w="1333500">
                <a:moveTo>
                  <a:pt x="76200" y="0"/>
                </a:moveTo>
                <a:lnTo>
                  <a:pt x="1257300" y="0"/>
                </a:lnTo>
                <a:cubicBezTo>
                  <a:pt x="1277509" y="0"/>
                  <a:pt x="1296891" y="8028"/>
                  <a:pt x="1311182" y="22318"/>
                </a:cubicBezTo>
                <a:cubicBezTo>
                  <a:pt x="1325472" y="36609"/>
                  <a:pt x="1333500" y="55991"/>
                  <a:pt x="1333500" y="76200"/>
                </a:cubicBezTo>
                <a:lnTo>
                  <a:pt x="1333500" y="2641600"/>
                </a:lnTo>
                <a:lnTo>
                  <a:pt x="0" y="2641600"/>
                </a:lnTo>
                <a:lnTo>
                  <a:pt x="0" y="76200"/>
                </a:lnTo>
                <a:cubicBezTo>
                  <a:pt x="0" y="34116"/>
                  <a:pt x="34116" y="0"/>
                  <a:pt x="762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9"/>
          <p:cNvSpPr/>
          <p:nvPr/>
        </p:nvSpPr>
        <p:spPr>
          <a:xfrm>
            <a:off x="5419725" y="4050097"/>
            <a:ext cx="1038225" cy="579053"/>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3"/>
              </a:buClr>
              <a:buSzPts val="1100"/>
              <a:buFont typeface="Public Sans"/>
              <a:buNone/>
            </a:pPr>
            <a:r>
              <a:rPr b="1" i="0" lang="en-GB" sz="1100" u="none" cap="none" strike="noStrike">
                <a:solidFill>
                  <a:srgbClr val="4A5563"/>
                </a:solidFill>
                <a:latin typeface="Public Sans"/>
                <a:ea typeface="Public Sans"/>
                <a:cs typeface="Public Sans"/>
                <a:sym typeface="Public Sans"/>
              </a:rPr>
              <a:t>Control</a:t>
            </a:r>
            <a:endParaRPr b="0" i="0" sz="1100" u="none" cap="none" strike="noStrike">
              <a:solidFill>
                <a:schemeClr val="dk1"/>
              </a:solidFill>
              <a:latin typeface="Public Sans"/>
              <a:ea typeface="Public Sans"/>
              <a:cs typeface="Public Sans"/>
              <a:sym typeface="Public Sans"/>
            </a:endParaRPr>
          </a:p>
          <a:p>
            <a:pPr indent="0" lvl="0" marL="0" marR="0" rtl="0" algn="ctr">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old site · 23,526</a:t>
            </a:r>
            <a:endParaRPr b="0" i="0" sz="1100" u="none" cap="none" strike="noStrike">
              <a:solidFill>
                <a:schemeClr val="dk1"/>
              </a:solidFill>
              <a:latin typeface="Public Sans"/>
              <a:ea typeface="Public Sans"/>
              <a:cs typeface="Public Sans"/>
              <a:sym typeface="Public Sans"/>
            </a:endParaRPr>
          </a:p>
        </p:txBody>
      </p:sp>
      <p:sp>
        <p:nvSpPr>
          <p:cNvPr id="139" name="Google Shape;139;p19"/>
          <p:cNvSpPr/>
          <p:nvPr/>
        </p:nvSpPr>
        <p:spPr>
          <a:xfrm>
            <a:off x="6762750" y="4050100"/>
            <a:ext cx="1241400" cy="579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3"/>
              </a:buClr>
              <a:buSzPts val="1100"/>
              <a:buFont typeface="Public Sans"/>
              <a:buNone/>
            </a:pPr>
            <a:r>
              <a:rPr b="1" i="0" lang="en-GB" sz="1100" u="none" cap="none" strike="noStrike">
                <a:solidFill>
                  <a:srgbClr val="4A5563"/>
                </a:solidFill>
                <a:latin typeface="Public Sans"/>
                <a:ea typeface="Public Sans"/>
                <a:cs typeface="Public Sans"/>
                <a:sym typeface="Public Sans"/>
              </a:rPr>
              <a:t>Test</a:t>
            </a:r>
            <a:endParaRPr b="0" i="0" sz="1100" u="none" cap="none" strike="noStrike">
              <a:solidFill>
                <a:schemeClr val="dk1"/>
              </a:solidFill>
              <a:latin typeface="Public Sans"/>
              <a:ea typeface="Public Sans"/>
              <a:cs typeface="Public Sans"/>
              <a:sym typeface="Public Sans"/>
            </a:endParaRPr>
          </a:p>
          <a:p>
            <a:pPr indent="0" lvl="0" marL="0" marR="0" rtl="0" algn="ctr">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new site · 26,961</a:t>
            </a:r>
            <a:endParaRPr b="0" i="0" sz="1100" u="none" cap="none" strike="noStrike">
              <a:solidFill>
                <a:schemeClr val="dk1"/>
              </a:solidFill>
              <a:latin typeface="Public Sans"/>
              <a:ea typeface="Public Sans"/>
              <a:cs typeface="Public Sans"/>
              <a:sym typeface="Public Sans"/>
            </a:endParaRPr>
          </a:p>
        </p:txBody>
      </p:sp>
      <p:sp>
        <p:nvSpPr>
          <p:cNvPr id="140" name="Google Shape;140;p19"/>
          <p:cNvSpPr/>
          <p:nvPr/>
        </p:nvSpPr>
        <p:spPr>
          <a:xfrm>
            <a:off x="609600" y="4781550"/>
            <a:ext cx="321290"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4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141" name="Google Shape;141;p19"/>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20"/>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20"/>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COMPARE CLIENT CATEGORIES</a:t>
            </a:r>
            <a:endParaRPr b="0" i="0" sz="900" u="none" cap="none" strike="noStrike">
              <a:solidFill>
                <a:schemeClr val="dk1"/>
              </a:solidFill>
              <a:latin typeface="Public Sans"/>
              <a:ea typeface="Public Sans"/>
              <a:cs typeface="Public Sans"/>
              <a:sym typeface="Public Sans"/>
            </a:endParaRPr>
          </a:p>
        </p:txBody>
      </p:sp>
      <p:sp>
        <p:nvSpPr>
          <p:cNvPr id="149" name="Google Shape;149;p20"/>
          <p:cNvSpPr txBox="1"/>
          <p:nvPr>
            <p:ph type="title"/>
          </p:nvPr>
        </p:nvSpPr>
        <p:spPr>
          <a:xfrm>
            <a:off x="609600" y="760065"/>
            <a:ext cx="8162544" cy="36477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500"/>
              <a:buFont typeface="Rubik"/>
              <a:buNone/>
            </a:pPr>
            <a:r>
              <a:rPr b="1" i="0" lang="en-GB" sz="2500">
                <a:solidFill>
                  <a:srgbClr val="1C2733"/>
                </a:solidFill>
                <a:latin typeface="Rubik"/>
                <a:ea typeface="Rubik"/>
                <a:cs typeface="Rubik"/>
                <a:sym typeface="Rubik"/>
              </a:rPr>
              <a:t>Only age really changes the result</a:t>
            </a:r>
            <a:endParaRPr sz="2500"/>
          </a:p>
        </p:txBody>
      </p:sp>
      <p:sp>
        <p:nvSpPr>
          <p:cNvPr id="150" name="Google Shape;150;p20"/>
          <p:cNvSpPr/>
          <p:nvPr/>
        </p:nvSpPr>
        <p:spPr>
          <a:xfrm>
            <a:off x="609600" y="1314450"/>
            <a:ext cx="8162544" cy="20571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Relative gain in completion rate (new vs old website), in %: range across the groups of each category</a:t>
            </a:r>
            <a:endParaRPr b="0" i="0" sz="1100" u="none" cap="none" strike="noStrike">
              <a:solidFill>
                <a:schemeClr val="dk1"/>
              </a:solidFill>
              <a:latin typeface="Public Sans"/>
              <a:ea typeface="Public Sans"/>
              <a:cs typeface="Public Sans"/>
              <a:sym typeface="Public Sans"/>
            </a:endParaRPr>
          </a:p>
        </p:txBody>
      </p:sp>
      <p:sp>
        <p:nvSpPr>
          <p:cNvPr id="151" name="Google Shape;151;p20"/>
          <p:cNvSpPr/>
          <p:nvPr/>
        </p:nvSpPr>
        <p:spPr>
          <a:xfrm>
            <a:off x="609600" y="1796393"/>
            <a:ext cx="1085850"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Gender</a:t>
            </a:r>
            <a:endParaRPr b="0" i="0" sz="1100" u="none" cap="none" strike="noStrike">
              <a:solidFill>
                <a:schemeClr val="dk1"/>
              </a:solidFill>
              <a:latin typeface="Public Sans"/>
              <a:ea typeface="Public Sans"/>
              <a:cs typeface="Public Sans"/>
              <a:sym typeface="Public Sans"/>
            </a:endParaRPr>
          </a:p>
        </p:txBody>
      </p:sp>
      <p:sp>
        <p:nvSpPr>
          <p:cNvPr id="152" name="Google Shape;152;p20"/>
          <p:cNvSpPr/>
          <p:nvPr/>
        </p:nvSpPr>
        <p:spPr>
          <a:xfrm>
            <a:off x="1790700" y="1791630"/>
            <a:ext cx="3333750" cy="209550"/>
          </a:xfrm>
          <a:prstGeom prst="roundRect">
            <a:avLst>
              <a:gd fmla="val 5000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20"/>
          <p:cNvSpPr/>
          <p:nvPr/>
        </p:nvSpPr>
        <p:spPr>
          <a:xfrm>
            <a:off x="2638425" y="1791630"/>
            <a:ext cx="219075" cy="209550"/>
          </a:xfrm>
          <a:prstGeom prst="roundRect">
            <a:avLst>
              <a:gd fmla="val 50000"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0"/>
          <p:cNvSpPr/>
          <p:nvPr/>
        </p:nvSpPr>
        <p:spPr>
          <a:xfrm>
            <a:off x="5257800" y="1709738"/>
            <a:ext cx="847725" cy="3923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1100"/>
              <a:buFont typeface="Public Sans"/>
              <a:buNone/>
            </a:pPr>
            <a:r>
              <a:rPr b="1" i="0" lang="en-GB" sz="1100" u="none" cap="none" strike="noStrike">
                <a:solidFill>
                  <a:srgbClr val="263A50"/>
                </a:solidFill>
                <a:latin typeface="Public Sans"/>
                <a:ea typeface="Public Sans"/>
                <a:cs typeface="Public Sans"/>
                <a:sym typeface="Public Sans"/>
              </a:rPr>
              <a:t>+5.1 to +6.4 %</a:t>
            </a:r>
            <a:endParaRPr b="0" i="0" sz="1100" u="none" cap="none" strike="noStrike">
              <a:solidFill>
                <a:schemeClr val="dk1"/>
              </a:solidFill>
              <a:latin typeface="Public Sans"/>
              <a:ea typeface="Public Sans"/>
              <a:cs typeface="Public Sans"/>
              <a:sym typeface="Public Sans"/>
            </a:endParaRPr>
          </a:p>
        </p:txBody>
      </p:sp>
      <p:sp>
        <p:nvSpPr>
          <p:cNvPr id="155" name="Google Shape;155;p20"/>
          <p:cNvSpPr/>
          <p:nvPr/>
        </p:nvSpPr>
        <p:spPr>
          <a:xfrm>
            <a:off x="609600" y="2312603"/>
            <a:ext cx="1085850"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Balance</a:t>
            </a:r>
            <a:endParaRPr b="0" i="0" sz="1100" u="none" cap="none" strike="noStrike">
              <a:solidFill>
                <a:schemeClr val="dk1"/>
              </a:solidFill>
              <a:latin typeface="Public Sans"/>
              <a:ea typeface="Public Sans"/>
              <a:cs typeface="Public Sans"/>
              <a:sym typeface="Public Sans"/>
            </a:endParaRPr>
          </a:p>
        </p:txBody>
      </p:sp>
      <p:sp>
        <p:nvSpPr>
          <p:cNvPr id="156" name="Google Shape;156;p20"/>
          <p:cNvSpPr/>
          <p:nvPr/>
        </p:nvSpPr>
        <p:spPr>
          <a:xfrm>
            <a:off x="1790700" y="2307841"/>
            <a:ext cx="3333750" cy="209550"/>
          </a:xfrm>
          <a:prstGeom prst="roundRect">
            <a:avLst>
              <a:gd fmla="val 5000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20"/>
          <p:cNvSpPr/>
          <p:nvPr/>
        </p:nvSpPr>
        <p:spPr>
          <a:xfrm>
            <a:off x="2690813" y="2307841"/>
            <a:ext cx="114300" cy="209550"/>
          </a:xfrm>
          <a:prstGeom prst="roundRect">
            <a:avLst>
              <a:gd fmla="val 50000"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20"/>
          <p:cNvSpPr/>
          <p:nvPr/>
        </p:nvSpPr>
        <p:spPr>
          <a:xfrm>
            <a:off x="5257800" y="2225948"/>
            <a:ext cx="847725" cy="3923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1100"/>
              <a:buFont typeface="Public Sans"/>
              <a:buNone/>
            </a:pPr>
            <a:r>
              <a:rPr b="1" i="0" lang="en-GB" sz="1100" u="none" cap="none" strike="noStrike">
                <a:solidFill>
                  <a:srgbClr val="263A50"/>
                </a:solidFill>
                <a:latin typeface="Public Sans"/>
                <a:ea typeface="Public Sans"/>
                <a:cs typeface="Public Sans"/>
                <a:sym typeface="Public Sans"/>
              </a:rPr>
              <a:t>+5.4 to +5.9 %</a:t>
            </a:r>
            <a:endParaRPr b="0" i="0" sz="1100" u="none" cap="none" strike="noStrike">
              <a:solidFill>
                <a:schemeClr val="dk1"/>
              </a:solidFill>
              <a:latin typeface="Public Sans"/>
              <a:ea typeface="Public Sans"/>
              <a:cs typeface="Public Sans"/>
              <a:sym typeface="Public Sans"/>
            </a:endParaRPr>
          </a:p>
        </p:txBody>
      </p:sp>
      <p:sp>
        <p:nvSpPr>
          <p:cNvPr id="159" name="Google Shape;159;p20"/>
          <p:cNvSpPr/>
          <p:nvPr/>
        </p:nvSpPr>
        <p:spPr>
          <a:xfrm>
            <a:off x="609600" y="2828813"/>
            <a:ext cx="1085850"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Tenure</a:t>
            </a:r>
            <a:endParaRPr b="0" i="0" sz="1100" u="none" cap="none" strike="noStrike">
              <a:solidFill>
                <a:schemeClr val="dk1"/>
              </a:solidFill>
              <a:latin typeface="Public Sans"/>
              <a:ea typeface="Public Sans"/>
              <a:cs typeface="Public Sans"/>
              <a:sym typeface="Public Sans"/>
            </a:endParaRPr>
          </a:p>
        </p:txBody>
      </p:sp>
      <p:sp>
        <p:nvSpPr>
          <p:cNvPr id="160" name="Google Shape;160;p20"/>
          <p:cNvSpPr/>
          <p:nvPr/>
        </p:nvSpPr>
        <p:spPr>
          <a:xfrm>
            <a:off x="1790700" y="2824051"/>
            <a:ext cx="3333750" cy="209550"/>
          </a:xfrm>
          <a:prstGeom prst="roundRect">
            <a:avLst>
              <a:gd fmla="val 5000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0"/>
          <p:cNvSpPr/>
          <p:nvPr/>
        </p:nvSpPr>
        <p:spPr>
          <a:xfrm>
            <a:off x="2638425" y="2824051"/>
            <a:ext cx="185738" cy="209550"/>
          </a:xfrm>
          <a:prstGeom prst="roundRect">
            <a:avLst>
              <a:gd fmla="val 50000"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20"/>
          <p:cNvSpPr/>
          <p:nvPr/>
        </p:nvSpPr>
        <p:spPr>
          <a:xfrm>
            <a:off x="5257800" y="2742158"/>
            <a:ext cx="847725" cy="3923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1100"/>
              <a:buFont typeface="Public Sans"/>
              <a:buNone/>
            </a:pPr>
            <a:r>
              <a:rPr b="1" i="0" lang="en-GB" sz="1100" u="none" cap="none" strike="noStrike">
                <a:solidFill>
                  <a:srgbClr val="263A50"/>
                </a:solidFill>
                <a:latin typeface="Public Sans"/>
                <a:ea typeface="Public Sans"/>
                <a:cs typeface="Public Sans"/>
                <a:sym typeface="Public Sans"/>
              </a:rPr>
              <a:t>+5.1 to +6.2 %</a:t>
            </a:r>
            <a:endParaRPr b="0" i="0" sz="1100" u="none" cap="none" strike="noStrike">
              <a:solidFill>
                <a:schemeClr val="dk1"/>
              </a:solidFill>
              <a:latin typeface="Public Sans"/>
              <a:ea typeface="Public Sans"/>
              <a:cs typeface="Public Sans"/>
              <a:sym typeface="Public Sans"/>
            </a:endParaRPr>
          </a:p>
        </p:txBody>
      </p:sp>
      <p:sp>
        <p:nvSpPr>
          <p:cNvPr id="163" name="Google Shape;163;p20"/>
          <p:cNvSpPr/>
          <p:nvPr/>
        </p:nvSpPr>
        <p:spPr>
          <a:xfrm>
            <a:off x="609600" y="3345024"/>
            <a:ext cx="1085850"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Logons</a:t>
            </a:r>
            <a:endParaRPr b="0" i="0" sz="1100" u="none" cap="none" strike="noStrike">
              <a:solidFill>
                <a:schemeClr val="dk1"/>
              </a:solidFill>
              <a:latin typeface="Public Sans"/>
              <a:ea typeface="Public Sans"/>
              <a:cs typeface="Public Sans"/>
              <a:sym typeface="Public Sans"/>
            </a:endParaRPr>
          </a:p>
        </p:txBody>
      </p:sp>
      <p:sp>
        <p:nvSpPr>
          <p:cNvPr id="164" name="Google Shape;164;p20"/>
          <p:cNvSpPr/>
          <p:nvPr/>
        </p:nvSpPr>
        <p:spPr>
          <a:xfrm>
            <a:off x="1790700" y="3340262"/>
            <a:ext cx="3333750" cy="209550"/>
          </a:xfrm>
          <a:prstGeom prst="roundRect">
            <a:avLst>
              <a:gd fmla="val 5000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0"/>
          <p:cNvSpPr/>
          <p:nvPr/>
        </p:nvSpPr>
        <p:spPr>
          <a:xfrm>
            <a:off x="2624138" y="3340262"/>
            <a:ext cx="266700" cy="209550"/>
          </a:xfrm>
          <a:prstGeom prst="roundRect">
            <a:avLst>
              <a:gd fmla="val 50000"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20"/>
          <p:cNvSpPr/>
          <p:nvPr/>
        </p:nvSpPr>
        <p:spPr>
          <a:xfrm>
            <a:off x="5257800" y="3258368"/>
            <a:ext cx="847725" cy="3923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1100"/>
              <a:buFont typeface="Public Sans"/>
              <a:buNone/>
            </a:pPr>
            <a:r>
              <a:rPr b="1" i="0" lang="en-GB" sz="1100" u="none" cap="none" strike="noStrike">
                <a:solidFill>
                  <a:srgbClr val="263A50"/>
                </a:solidFill>
                <a:latin typeface="Public Sans"/>
                <a:ea typeface="Public Sans"/>
                <a:cs typeface="Public Sans"/>
                <a:sym typeface="Public Sans"/>
              </a:rPr>
              <a:t>+5.0 to +6.6 %</a:t>
            </a:r>
            <a:endParaRPr b="0" i="0" sz="1100" u="none" cap="none" strike="noStrike">
              <a:solidFill>
                <a:schemeClr val="dk1"/>
              </a:solidFill>
              <a:latin typeface="Public Sans"/>
              <a:ea typeface="Public Sans"/>
              <a:cs typeface="Public Sans"/>
              <a:sym typeface="Public Sans"/>
            </a:endParaRPr>
          </a:p>
        </p:txBody>
      </p:sp>
      <p:sp>
        <p:nvSpPr>
          <p:cNvPr id="167" name="Google Shape;167;p20"/>
          <p:cNvSpPr/>
          <p:nvPr/>
        </p:nvSpPr>
        <p:spPr>
          <a:xfrm>
            <a:off x="609600" y="3861234"/>
            <a:ext cx="1085850" cy="2190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1" i="0" lang="en-GB" sz="1100" u="none" cap="none" strike="noStrike">
                <a:solidFill>
                  <a:srgbClr val="1C2733"/>
                </a:solidFill>
                <a:latin typeface="Public Sans"/>
                <a:ea typeface="Public Sans"/>
                <a:cs typeface="Public Sans"/>
                <a:sym typeface="Public Sans"/>
              </a:rPr>
              <a:t>Age group</a:t>
            </a:r>
            <a:endParaRPr b="0" i="0" sz="1100" u="none" cap="none" strike="noStrike">
              <a:solidFill>
                <a:schemeClr val="dk1"/>
              </a:solidFill>
              <a:latin typeface="Public Sans"/>
              <a:ea typeface="Public Sans"/>
              <a:cs typeface="Public Sans"/>
              <a:sym typeface="Public Sans"/>
            </a:endParaRPr>
          </a:p>
        </p:txBody>
      </p:sp>
      <p:sp>
        <p:nvSpPr>
          <p:cNvPr id="168" name="Google Shape;168;p20"/>
          <p:cNvSpPr/>
          <p:nvPr/>
        </p:nvSpPr>
        <p:spPr>
          <a:xfrm>
            <a:off x="1790700" y="3856472"/>
            <a:ext cx="3333750" cy="209550"/>
          </a:xfrm>
          <a:prstGeom prst="roundRect">
            <a:avLst>
              <a:gd fmla="val 50000"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20"/>
          <p:cNvSpPr/>
          <p:nvPr/>
        </p:nvSpPr>
        <p:spPr>
          <a:xfrm>
            <a:off x="2238375" y="3856472"/>
            <a:ext cx="2847975" cy="209550"/>
          </a:xfrm>
          <a:prstGeom prst="roundRect">
            <a:avLst>
              <a:gd fmla="val 50000" name="adj"/>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0"/>
          <p:cNvSpPr/>
          <p:nvPr/>
        </p:nvSpPr>
        <p:spPr>
          <a:xfrm>
            <a:off x="5257800" y="3774579"/>
            <a:ext cx="847725" cy="3923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1100"/>
              <a:buFont typeface="Public Sans"/>
              <a:buNone/>
            </a:pPr>
            <a:r>
              <a:rPr b="1" i="0" lang="en-GB" sz="1100" u="none" cap="none" strike="noStrike">
                <a:solidFill>
                  <a:srgbClr val="8E2525"/>
                </a:solidFill>
                <a:latin typeface="Public Sans"/>
                <a:ea typeface="Public Sans"/>
                <a:cs typeface="Public Sans"/>
                <a:sym typeface="Public Sans"/>
              </a:rPr>
              <a:t>+2.7 to +19.8 %</a:t>
            </a:r>
            <a:endParaRPr b="0" i="0" sz="1100" u="none" cap="none" strike="noStrike">
              <a:solidFill>
                <a:schemeClr val="dk1"/>
              </a:solidFill>
              <a:latin typeface="Public Sans"/>
              <a:ea typeface="Public Sans"/>
              <a:cs typeface="Public Sans"/>
              <a:sym typeface="Public Sans"/>
            </a:endParaRPr>
          </a:p>
        </p:txBody>
      </p:sp>
      <p:sp>
        <p:nvSpPr>
          <p:cNvPr id="171" name="Google Shape;171;p20"/>
          <p:cNvSpPr/>
          <p:nvPr/>
        </p:nvSpPr>
        <p:spPr>
          <a:xfrm>
            <a:off x="167640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0</a:t>
            </a:r>
            <a:endParaRPr b="0" i="0" sz="800" u="none" cap="none" strike="noStrike">
              <a:solidFill>
                <a:schemeClr val="dk1"/>
              </a:solidFill>
              <a:latin typeface="Public Sans"/>
              <a:ea typeface="Public Sans"/>
              <a:cs typeface="Public Sans"/>
              <a:sym typeface="Public Sans"/>
            </a:endParaRPr>
          </a:p>
        </p:txBody>
      </p:sp>
      <p:sp>
        <p:nvSpPr>
          <p:cNvPr id="172" name="Google Shape;172;p20"/>
          <p:cNvSpPr/>
          <p:nvPr/>
        </p:nvSpPr>
        <p:spPr>
          <a:xfrm>
            <a:off x="234315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4</a:t>
            </a:r>
            <a:endParaRPr b="0" i="0" sz="800" u="none" cap="none" strike="noStrike">
              <a:solidFill>
                <a:schemeClr val="dk1"/>
              </a:solidFill>
              <a:latin typeface="Public Sans"/>
              <a:ea typeface="Public Sans"/>
              <a:cs typeface="Public Sans"/>
              <a:sym typeface="Public Sans"/>
            </a:endParaRPr>
          </a:p>
        </p:txBody>
      </p:sp>
      <p:sp>
        <p:nvSpPr>
          <p:cNvPr id="173" name="Google Shape;173;p20"/>
          <p:cNvSpPr/>
          <p:nvPr/>
        </p:nvSpPr>
        <p:spPr>
          <a:xfrm>
            <a:off x="300990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8</a:t>
            </a:r>
            <a:endParaRPr b="0" i="0" sz="800" u="none" cap="none" strike="noStrike">
              <a:solidFill>
                <a:schemeClr val="dk1"/>
              </a:solidFill>
              <a:latin typeface="Public Sans"/>
              <a:ea typeface="Public Sans"/>
              <a:cs typeface="Public Sans"/>
              <a:sym typeface="Public Sans"/>
            </a:endParaRPr>
          </a:p>
        </p:txBody>
      </p:sp>
      <p:sp>
        <p:nvSpPr>
          <p:cNvPr id="174" name="Google Shape;174;p20"/>
          <p:cNvSpPr/>
          <p:nvPr/>
        </p:nvSpPr>
        <p:spPr>
          <a:xfrm>
            <a:off x="367665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12</a:t>
            </a:r>
            <a:endParaRPr b="0" i="0" sz="800" u="none" cap="none" strike="noStrike">
              <a:solidFill>
                <a:schemeClr val="dk1"/>
              </a:solidFill>
              <a:latin typeface="Public Sans"/>
              <a:ea typeface="Public Sans"/>
              <a:cs typeface="Public Sans"/>
              <a:sym typeface="Public Sans"/>
            </a:endParaRPr>
          </a:p>
        </p:txBody>
      </p:sp>
      <p:sp>
        <p:nvSpPr>
          <p:cNvPr id="175" name="Google Shape;175;p20"/>
          <p:cNvSpPr/>
          <p:nvPr/>
        </p:nvSpPr>
        <p:spPr>
          <a:xfrm>
            <a:off x="434340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16</a:t>
            </a:r>
            <a:endParaRPr b="0" i="0" sz="800" u="none" cap="none" strike="noStrike">
              <a:solidFill>
                <a:schemeClr val="dk1"/>
              </a:solidFill>
              <a:latin typeface="Public Sans"/>
              <a:ea typeface="Public Sans"/>
              <a:cs typeface="Public Sans"/>
              <a:sym typeface="Public Sans"/>
            </a:endParaRPr>
          </a:p>
        </p:txBody>
      </p:sp>
      <p:sp>
        <p:nvSpPr>
          <p:cNvPr id="176" name="Google Shape;176;p20"/>
          <p:cNvSpPr/>
          <p:nvPr/>
        </p:nvSpPr>
        <p:spPr>
          <a:xfrm>
            <a:off x="5010150" y="4290789"/>
            <a:ext cx="228600" cy="165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800"/>
              <a:buFont typeface="Public Sans"/>
              <a:buNone/>
            </a:pPr>
            <a:r>
              <a:rPr b="0" i="0" lang="en-GB" sz="800" u="none" cap="none" strike="noStrike">
                <a:solidFill>
                  <a:srgbClr val="6B7480"/>
                </a:solidFill>
                <a:latin typeface="Public Sans"/>
                <a:ea typeface="Public Sans"/>
                <a:cs typeface="Public Sans"/>
                <a:sym typeface="Public Sans"/>
              </a:rPr>
              <a:t>20</a:t>
            </a:r>
            <a:endParaRPr b="0" i="0" sz="800" u="none" cap="none" strike="noStrike">
              <a:solidFill>
                <a:schemeClr val="dk1"/>
              </a:solidFill>
              <a:latin typeface="Public Sans"/>
              <a:ea typeface="Public Sans"/>
              <a:cs typeface="Public Sans"/>
              <a:sym typeface="Public Sans"/>
            </a:endParaRPr>
          </a:p>
        </p:txBody>
      </p:sp>
      <p:sp>
        <p:nvSpPr>
          <p:cNvPr id="177" name="Google Shape;177;p20"/>
          <p:cNvSpPr/>
          <p:nvPr/>
        </p:nvSpPr>
        <p:spPr>
          <a:xfrm>
            <a:off x="6372225" y="1709738"/>
            <a:ext cx="2162175" cy="2900363"/>
          </a:xfrm>
          <a:prstGeom prst="roundRect">
            <a:avLst>
              <a:gd fmla="val 4405" name="adj"/>
            </a:avLst>
          </a:prstGeom>
          <a:solidFill>
            <a:srgbClr val="F3E8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0"/>
          <p:cNvSpPr/>
          <p:nvPr/>
        </p:nvSpPr>
        <p:spPr>
          <a:xfrm>
            <a:off x="6562725" y="2512740"/>
            <a:ext cx="1834610" cy="45333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2244F"/>
              </a:buClr>
              <a:buSzPts val="1400"/>
              <a:buFont typeface="Rubik"/>
              <a:buNone/>
            </a:pPr>
            <a:r>
              <a:rPr b="1" i="0" lang="en-GB" sz="1400" u="none" cap="none" strike="noStrike">
                <a:solidFill>
                  <a:srgbClr val="62244F"/>
                </a:solidFill>
                <a:latin typeface="Rubik"/>
                <a:ea typeface="Rubik"/>
                <a:cs typeface="Rubik"/>
                <a:sym typeface="Rubik"/>
              </a:rPr>
              <a:t>So we focused on age groups</a:t>
            </a:r>
            <a:endParaRPr b="0" i="0" sz="1400" u="none" cap="none" strike="noStrike">
              <a:solidFill>
                <a:schemeClr val="dk1"/>
              </a:solidFill>
              <a:latin typeface="Public Sans"/>
              <a:ea typeface="Public Sans"/>
              <a:cs typeface="Public Sans"/>
              <a:sym typeface="Public Sans"/>
            </a:endParaRPr>
          </a:p>
        </p:txBody>
      </p:sp>
      <p:sp>
        <p:nvSpPr>
          <p:cNvPr id="179" name="Google Shape;179;p20"/>
          <p:cNvSpPr/>
          <p:nvPr/>
        </p:nvSpPr>
        <p:spPr>
          <a:xfrm>
            <a:off x="6562725" y="3061320"/>
            <a:ext cx="1834610" cy="764828"/>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For gender, balance, tenure and logons, every group gains about the same (≈ +5 to +6 %).</a:t>
            </a:r>
            <a:endParaRPr b="0" i="0" sz="1000" u="none" cap="none" strike="noStrike">
              <a:solidFill>
                <a:schemeClr val="dk1"/>
              </a:solidFill>
              <a:latin typeface="Public Sans"/>
              <a:ea typeface="Public Sans"/>
              <a:cs typeface="Public Sans"/>
              <a:sym typeface="Public Sans"/>
            </a:endParaRPr>
          </a:p>
        </p:txBody>
      </p:sp>
      <p:sp>
        <p:nvSpPr>
          <p:cNvPr id="180" name="Google Shape;180;p20"/>
          <p:cNvSpPr/>
          <p:nvPr/>
        </p:nvSpPr>
        <p:spPr>
          <a:xfrm>
            <a:off x="609600" y="4781550"/>
            <a:ext cx="32124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5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181" name="Google Shape;181;p20"/>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21"/>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1"/>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1 · COMPLETION RATE · BY AGE</a:t>
            </a:r>
            <a:endParaRPr b="0" i="0" sz="900" u="none" cap="none" strike="noStrike">
              <a:solidFill>
                <a:schemeClr val="dk1"/>
              </a:solidFill>
              <a:latin typeface="Public Sans"/>
              <a:ea typeface="Public Sans"/>
              <a:cs typeface="Public Sans"/>
              <a:sym typeface="Public Sans"/>
            </a:endParaRPr>
          </a:p>
        </p:txBody>
      </p:sp>
      <p:sp>
        <p:nvSpPr>
          <p:cNvPr id="189" name="Google Shape;189;p21"/>
          <p:cNvSpPr txBox="1"/>
          <p:nvPr>
            <p:ph type="title"/>
          </p:nvPr>
        </p:nvSpPr>
        <p:spPr>
          <a:xfrm>
            <a:off x="609600" y="899790"/>
            <a:ext cx="8162400" cy="3543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733"/>
              </a:buClr>
              <a:buSzPct val="100000"/>
              <a:buFont typeface="Rubik"/>
              <a:buNone/>
            </a:pPr>
            <a:r>
              <a:rPr b="1" i="0" lang="en-GB" sz="2400">
                <a:solidFill>
                  <a:srgbClr val="1C2733"/>
                </a:solidFill>
                <a:latin typeface="Rubik"/>
                <a:ea typeface="Rubik"/>
                <a:cs typeface="Rubik"/>
                <a:sym typeface="Rubik"/>
              </a:rPr>
              <a:t>More clients finish – in every age group</a:t>
            </a:r>
            <a:endParaRPr sz="2400"/>
          </a:p>
        </p:txBody>
      </p:sp>
      <p:sp>
        <p:nvSpPr>
          <p:cNvPr id="190" name="Google Shape;190;p21"/>
          <p:cNvSpPr/>
          <p:nvPr/>
        </p:nvSpPr>
        <p:spPr>
          <a:xfrm>
            <a:off x="330050" y="1717225"/>
            <a:ext cx="5366100" cy="2576700"/>
          </a:xfrm>
          <a:prstGeom prst="roundRect">
            <a:avLst>
              <a:gd fmla="val 2722" name="adj"/>
            </a:avLst>
          </a:prstGeom>
          <a:noFill/>
          <a:ln cap="flat" cmpd="sng" w="10375">
            <a:solidFill>
              <a:srgbClr val="E3E6EA"/>
            </a:solidFill>
            <a:prstDash val="solid"/>
            <a:round/>
            <a:headEnd len="sm" w="sm" type="none"/>
            <a:tailEnd len="sm" w="sm" type="none"/>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191" name="Google Shape;191;p21"/>
          <p:cNvSpPr/>
          <p:nvPr/>
        </p:nvSpPr>
        <p:spPr>
          <a:xfrm>
            <a:off x="332647" y="1719822"/>
            <a:ext cx="5357241" cy="333246"/>
          </a:xfrm>
          <a:custGeom>
            <a:rect b="b" l="l" r="r" t="t"/>
            <a:pathLst>
              <a:path extrusionOk="0" h="407640" w="6553200">
                <a:moveTo>
                  <a:pt x="88900" y="0"/>
                </a:moveTo>
                <a:lnTo>
                  <a:pt x="6464300" y="0"/>
                </a:lnTo>
                <a:cubicBezTo>
                  <a:pt x="6487878" y="0"/>
                  <a:pt x="6510490" y="9366"/>
                  <a:pt x="6527162" y="26038"/>
                </a:cubicBezTo>
                <a:cubicBezTo>
                  <a:pt x="6543834" y="42710"/>
                  <a:pt x="6553200" y="65322"/>
                  <a:pt x="6553200" y="88900"/>
                </a:cubicBezTo>
                <a:lnTo>
                  <a:pt x="6553200" y="407640"/>
                </a:lnTo>
                <a:lnTo>
                  <a:pt x="0" y="407640"/>
                </a:lnTo>
                <a:lnTo>
                  <a:pt x="0" y="88900"/>
                </a:lnTo>
                <a:cubicBezTo>
                  <a:pt x="0" y="39802"/>
                  <a:pt x="39802" y="0"/>
                  <a:pt x="88900" y="0"/>
                </a:cubicBezTo>
                <a:close/>
              </a:path>
            </a:pathLst>
          </a:custGeom>
          <a:solidFill>
            <a:srgbClr val="263A50"/>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192" name="Google Shape;192;p21"/>
          <p:cNvSpPr/>
          <p:nvPr/>
        </p:nvSpPr>
        <p:spPr>
          <a:xfrm>
            <a:off x="467708" y="1802936"/>
            <a:ext cx="10806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Age group</a:t>
            </a:r>
            <a:endParaRPr b="0" i="0" sz="982" u="none" cap="none" strike="noStrike">
              <a:solidFill>
                <a:schemeClr val="dk1"/>
              </a:solidFill>
              <a:latin typeface="Public Sans"/>
              <a:ea typeface="Public Sans"/>
              <a:cs typeface="Public Sans"/>
              <a:sym typeface="Public Sans"/>
            </a:endParaRPr>
          </a:p>
        </p:txBody>
      </p:sp>
      <p:sp>
        <p:nvSpPr>
          <p:cNvPr id="193" name="Google Shape;193;p21"/>
          <p:cNvSpPr/>
          <p:nvPr/>
        </p:nvSpPr>
        <p:spPr>
          <a:xfrm>
            <a:off x="1506635" y="1802936"/>
            <a:ext cx="7692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Clients</a:t>
            </a:r>
            <a:endParaRPr b="0" i="0" sz="982" u="none" cap="none" strike="noStrike">
              <a:solidFill>
                <a:schemeClr val="dk1"/>
              </a:solidFill>
              <a:latin typeface="Public Sans"/>
              <a:ea typeface="Public Sans"/>
              <a:cs typeface="Public Sans"/>
              <a:sym typeface="Public Sans"/>
            </a:endParaRPr>
          </a:p>
        </p:txBody>
      </p:sp>
      <p:sp>
        <p:nvSpPr>
          <p:cNvPr id="194" name="Google Shape;194;p21"/>
          <p:cNvSpPr/>
          <p:nvPr/>
        </p:nvSpPr>
        <p:spPr>
          <a:xfrm>
            <a:off x="2233884" y="1802936"/>
            <a:ext cx="8727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Old site</a:t>
            </a:r>
            <a:endParaRPr b="0" i="0" sz="982" u="none" cap="none" strike="noStrike">
              <a:solidFill>
                <a:schemeClr val="dk1"/>
              </a:solidFill>
              <a:latin typeface="Public Sans"/>
              <a:ea typeface="Public Sans"/>
              <a:cs typeface="Public Sans"/>
              <a:sym typeface="Public Sans"/>
            </a:endParaRPr>
          </a:p>
        </p:txBody>
      </p:sp>
      <p:sp>
        <p:nvSpPr>
          <p:cNvPr id="195" name="Google Shape;195;p21"/>
          <p:cNvSpPr/>
          <p:nvPr/>
        </p:nvSpPr>
        <p:spPr>
          <a:xfrm>
            <a:off x="3065026" y="1802936"/>
            <a:ext cx="8727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New site</a:t>
            </a:r>
            <a:endParaRPr b="0" i="0" sz="982" u="none" cap="none" strike="noStrike">
              <a:solidFill>
                <a:schemeClr val="dk1"/>
              </a:solidFill>
              <a:latin typeface="Public Sans"/>
              <a:ea typeface="Public Sans"/>
              <a:cs typeface="Public Sans"/>
              <a:sym typeface="Public Sans"/>
            </a:endParaRPr>
          </a:p>
        </p:txBody>
      </p:sp>
      <p:sp>
        <p:nvSpPr>
          <p:cNvPr id="196" name="Google Shape;196;p21"/>
          <p:cNvSpPr/>
          <p:nvPr/>
        </p:nvSpPr>
        <p:spPr>
          <a:xfrm>
            <a:off x="3896167" y="1802936"/>
            <a:ext cx="8727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Gain (pts)</a:t>
            </a:r>
            <a:endParaRPr b="0" i="0" sz="982" u="none" cap="none" strike="noStrike">
              <a:solidFill>
                <a:schemeClr val="dk1"/>
              </a:solidFill>
              <a:latin typeface="Public Sans"/>
              <a:ea typeface="Public Sans"/>
              <a:cs typeface="Public Sans"/>
              <a:sym typeface="Public Sans"/>
            </a:endParaRPr>
          </a:p>
        </p:txBody>
      </p:sp>
      <p:sp>
        <p:nvSpPr>
          <p:cNvPr id="197" name="Google Shape;197;p21"/>
          <p:cNvSpPr/>
          <p:nvPr/>
        </p:nvSpPr>
        <p:spPr>
          <a:xfrm>
            <a:off x="4727309" y="1802936"/>
            <a:ext cx="872700" cy="18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82"/>
              <a:buFont typeface="Public Sans"/>
              <a:buNone/>
            </a:pPr>
            <a:r>
              <a:rPr b="1" i="0" lang="en-GB" sz="982" u="none" cap="none" strike="noStrike">
                <a:solidFill>
                  <a:srgbClr val="FFFFFF"/>
                </a:solidFill>
                <a:latin typeface="Public Sans"/>
                <a:ea typeface="Public Sans"/>
                <a:cs typeface="Public Sans"/>
                <a:sym typeface="Public Sans"/>
              </a:rPr>
              <a:t>Gain (%)</a:t>
            </a:r>
            <a:endParaRPr b="0" i="0" sz="982" u="none" cap="none" strike="noStrike">
              <a:solidFill>
                <a:schemeClr val="dk1"/>
              </a:solidFill>
              <a:latin typeface="Public Sans"/>
              <a:ea typeface="Public Sans"/>
              <a:cs typeface="Public Sans"/>
              <a:sym typeface="Public Sans"/>
            </a:endParaRPr>
          </a:p>
        </p:txBody>
      </p:sp>
      <p:sp>
        <p:nvSpPr>
          <p:cNvPr id="198" name="Google Shape;198;p21"/>
          <p:cNvSpPr/>
          <p:nvPr/>
        </p:nvSpPr>
        <p:spPr>
          <a:xfrm>
            <a:off x="332647" y="2053294"/>
            <a:ext cx="5361000" cy="373200"/>
          </a:xfrm>
          <a:prstGeom prst="rect">
            <a:avLst/>
          </a:prstGeom>
          <a:solidFill>
            <a:srgbClr val="E6EAEF"/>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199" name="Google Shape;199;p21"/>
          <p:cNvSpPr/>
          <p:nvPr/>
        </p:nvSpPr>
        <p:spPr>
          <a:xfrm>
            <a:off x="467708" y="2141602"/>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All clients</a:t>
            </a:r>
            <a:endParaRPr b="0" i="0" sz="1091" u="none" cap="none" strike="noStrike">
              <a:solidFill>
                <a:schemeClr val="dk1"/>
              </a:solidFill>
              <a:latin typeface="Public Sans"/>
              <a:ea typeface="Public Sans"/>
              <a:cs typeface="Public Sans"/>
              <a:sym typeface="Public Sans"/>
            </a:endParaRPr>
          </a:p>
        </p:txBody>
      </p:sp>
      <p:sp>
        <p:nvSpPr>
          <p:cNvPr id="200" name="Google Shape;200;p21"/>
          <p:cNvSpPr/>
          <p:nvPr/>
        </p:nvSpPr>
        <p:spPr>
          <a:xfrm>
            <a:off x="1506635" y="2141602"/>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50,487</a:t>
            </a:r>
            <a:endParaRPr b="0" i="0" sz="1091" u="none" cap="none" strike="noStrike">
              <a:solidFill>
                <a:schemeClr val="dk1"/>
              </a:solidFill>
              <a:latin typeface="Public Sans"/>
              <a:ea typeface="Public Sans"/>
              <a:cs typeface="Public Sans"/>
              <a:sym typeface="Public Sans"/>
            </a:endParaRPr>
          </a:p>
        </p:txBody>
      </p:sp>
      <p:sp>
        <p:nvSpPr>
          <p:cNvPr id="201" name="Google Shape;201;p21"/>
          <p:cNvSpPr/>
          <p:nvPr/>
        </p:nvSpPr>
        <p:spPr>
          <a:xfrm>
            <a:off x="2233884" y="214160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65.6 %</a:t>
            </a:r>
            <a:endParaRPr b="0" i="0" sz="1091" u="none" cap="none" strike="noStrike">
              <a:solidFill>
                <a:schemeClr val="dk1"/>
              </a:solidFill>
              <a:latin typeface="Public Sans"/>
              <a:ea typeface="Public Sans"/>
              <a:cs typeface="Public Sans"/>
              <a:sym typeface="Public Sans"/>
            </a:endParaRPr>
          </a:p>
        </p:txBody>
      </p:sp>
      <p:sp>
        <p:nvSpPr>
          <p:cNvPr id="202" name="Google Shape;202;p21"/>
          <p:cNvSpPr/>
          <p:nvPr/>
        </p:nvSpPr>
        <p:spPr>
          <a:xfrm>
            <a:off x="3065026" y="214160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69.3 %</a:t>
            </a:r>
            <a:endParaRPr b="0" i="0" sz="1091" u="none" cap="none" strike="noStrike">
              <a:solidFill>
                <a:schemeClr val="dk1"/>
              </a:solidFill>
              <a:latin typeface="Public Sans"/>
              <a:ea typeface="Public Sans"/>
              <a:cs typeface="Public Sans"/>
              <a:sym typeface="Public Sans"/>
            </a:endParaRPr>
          </a:p>
        </p:txBody>
      </p:sp>
      <p:sp>
        <p:nvSpPr>
          <p:cNvPr id="203" name="Google Shape;203;p21"/>
          <p:cNvSpPr/>
          <p:nvPr/>
        </p:nvSpPr>
        <p:spPr>
          <a:xfrm>
            <a:off x="3896167" y="214160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+3.7</a:t>
            </a:r>
            <a:endParaRPr b="0" i="0" sz="1091" u="none" cap="none" strike="noStrike">
              <a:solidFill>
                <a:schemeClr val="dk1"/>
              </a:solidFill>
              <a:latin typeface="Public Sans"/>
              <a:ea typeface="Public Sans"/>
              <a:cs typeface="Public Sans"/>
              <a:sym typeface="Public Sans"/>
            </a:endParaRPr>
          </a:p>
        </p:txBody>
      </p:sp>
      <p:sp>
        <p:nvSpPr>
          <p:cNvPr id="204" name="Google Shape;204;p21"/>
          <p:cNvSpPr/>
          <p:nvPr/>
        </p:nvSpPr>
        <p:spPr>
          <a:xfrm>
            <a:off x="4727309" y="214160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+5.7 %</a:t>
            </a:r>
            <a:endParaRPr b="0" i="0" sz="1091" u="none" cap="none" strike="noStrike">
              <a:solidFill>
                <a:schemeClr val="dk1"/>
              </a:solidFill>
              <a:latin typeface="Public Sans"/>
              <a:ea typeface="Public Sans"/>
              <a:cs typeface="Public Sans"/>
              <a:sym typeface="Public Sans"/>
            </a:endParaRPr>
          </a:p>
        </p:txBody>
      </p:sp>
      <p:sp>
        <p:nvSpPr>
          <p:cNvPr id="205" name="Google Shape;205;p21"/>
          <p:cNvSpPr/>
          <p:nvPr/>
        </p:nvSpPr>
        <p:spPr>
          <a:xfrm>
            <a:off x="332647" y="2426252"/>
            <a:ext cx="5361000" cy="373200"/>
          </a:xfrm>
          <a:prstGeom prst="rect">
            <a:avLst/>
          </a:prstGeom>
          <a:solidFill>
            <a:srgbClr val="FFFFFF"/>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206" name="Google Shape;206;p21"/>
          <p:cNvSpPr/>
          <p:nvPr/>
        </p:nvSpPr>
        <p:spPr>
          <a:xfrm>
            <a:off x="467708" y="2514560"/>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Under 30</a:t>
            </a:r>
            <a:endParaRPr b="0" i="0" sz="1091" u="none" cap="none" strike="noStrike">
              <a:solidFill>
                <a:schemeClr val="dk1"/>
              </a:solidFill>
              <a:latin typeface="Public Sans"/>
              <a:ea typeface="Public Sans"/>
              <a:cs typeface="Public Sans"/>
              <a:sym typeface="Public Sans"/>
            </a:endParaRPr>
          </a:p>
        </p:txBody>
      </p:sp>
      <p:sp>
        <p:nvSpPr>
          <p:cNvPr id="207" name="Google Shape;207;p21"/>
          <p:cNvSpPr/>
          <p:nvPr/>
        </p:nvSpPr>
        <p:spPr>
          <a:xfrm>
            <a:off x="1506635" y="2514560"/>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8,531</a:t>
            </a:r>
            <a:endParaRPr b="0" i="0" sz="1091" u="none" cap="none" strike="noStrike">
              <a:solidFill>
                <a:schemeClr val="dk1"/>
              </a:solidFill>
              <a:latin typeface="Public Sans"/>
              <a:ea typeface="Public Sans"/>
              <a:cs typeface="Public Sans"/>
              <a:sym typeface="Public Sans"/>
            </a:endParaRPr>
          </a:p>
        </p:txBody>
      </p:sp>
      <p:sp>
        <p:nvSpPr>
          <p:cNvPr id="208" name="Google Shape;208;p21"/>
          <p:cNvSpPr/>
          <p:nvPr/>
        </p:nvSpPr>
        <p:spPr>
          <a:xfrm>
            <a:off x="2233884" y="2514560"/>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67.6 %</a:t>
            </a:r>
            <a:endParaRPr b="0" i="0" sz="1091" u="none" cap="none" strike="noStrike">
              <a:solidFill>
                <a:schemeClr val="dk1"/>
              </a:solidFill>
              <a:latin typeface="Public Sans"/>
              <a:ea typeface="Public Sans"/>
              <a:cs typeface="Public Sans"/>
              <a:sym typeface="Public Sans"/>
            </a:endParaRPr>
          </a:p>
        </p:txBody>
      </p:sp>
      <p:sp>
        <p:nvSpPr>
          <p:cNvPr id="209" name="Google Shape;209;p21"/>
          <p:cNvSpPr/>
          <p:nvPr/>
        </p:nvSpPr>
        <p:spPr>
          <a:xfrm>
            <a:off x="3065026" y="2514560"/>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74.4 %</a:t>
            </a:r>
            <a:endParaRPr b="0" i="0" sz="1091" u="none" cap="none" strike="noStrike">
              <a:solidFill>
                <a:schemeClr val="dk1"/>
              </a:solidFill>
              <a:latin typeface="Public Sans"/>
              <a:ea typeface="Public Sans"/>
              <a:cs typeface="Public Sans"/>
              <a:sym typeface="Public Sans"/>
            </a:endParaRPr>
          </a:p>
        </p:txBody>
      </p:sp>
      <p:sp>
        <p:nvSpPr>
          <p:cNvPr id="210" name="Google Shape;210;p21"/>
          <p:cNvSpPr/>
          <p:nvPr/>
        </p:nvSpPr>
        <p:spPr>
          <a:xfrm>
            <a:off x="3896167" y="2514560"/>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+6.8</a:t>
            </a:r>
            <a:endParaRPr b="0" i="0" sz="1091" u="none" cap="none" strike="noStrike">
              <a:solidFill>
                <a:schemeClr val="dk1"/>
              </a:solidFill>
              <a:latin typeface="Public Sans"/>
              <a:ea typeface="Public Sans"/>
              <a:cs typeface="Public Sans"/>
              <a:sym typeface="Public Sans"/>
            </a:endParaRPr>
          </a:p>
        </p:txBody>
      </p:sp>
      <p:sp>
        <p:nvSpPr>
          <p:cNvPr id="211" name="Google Shape;211;p21"/>
          <p:cNvSpPr/>
          <p:nvPr/>
        </p:nvSpPr>
        <p:spPr>
          <a:xfrm>
            <a:off x="4727309" y="2514560"/>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+10.0 %</a:t>
            </a:r>
            <a:endParaRPr b="0" i="0" sz="1091" u="none" cap="none" strike="noStrike">
              <a:solidFill>
                <a:schemeClr val="dk1"/>
              </a:solidFill>
              <a:latin typeface="Public Sans"/>
              <a:ea typeface="Public Sans"/>
              <a:cs typeface="Public Sans"/>
              <a:sym typeface="Public Sans"/>
            </a:endParaRPr>
          </a:p>
        </p:txBody>
      </p:sp>
      <p:sp>
        <p:nvSpPr>
          <p:cNvPr id="212" name="Google Shape;212;p21"/>
          <p:cNvSpPr/>
          <p:nvPr/>
        </p:nvSpPr>
        <p:spPr>
          <a:xfrm>
            <a:off x="332647" y="2799210"/>
            <a:ext cx="5361000" cy="373200"/>
          </a:xfrm>
          <a:prstGeom prst="rect">
            <a:avLst/>
          </a:prstGeom>
          <a:solidFill>
            <a:srgbClr val="F3F4F6"/>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213" name="Google Shape;213;p21"/>
          <p:cNvSpPr/>
          <p:nvPr/>
        </p:nvSpPr>
        <p:spPr>
          <a:xfrm>
            <a:off x="467708" y="2887518"/>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30-44</a:t>
            </a:r>
            <a:endParaRPr b="0" i="0" sz="1091" u="none" cap="none" strike="noStrike">
              <a:solidFill>
                <a:schemeClr val="dk1"/>
              </a:solidFill>
              <a:latin typeface="Public Sans"/>
              <a:ea typeface="Public Sans"/>
              <a:cs typeface="Public Sans"/>
              <a:sym typeface="Public Sans"/>
            </a:endParaRPr>
          </a:p>
        </p:txBody>
      </p:sp>
      <p:sp>
        <p:nvSpPr>
          <p:cNvPr id="214" name="Google Shape;214;p21"/>
          <p:cNvSpPr/>
          <p:nvPr/>
        </p:nvSpPr>
        <p:spPr>
          <a:xfrm>
            <a:off x="1506635" y="2887518"/>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13,864</a:t>
            </a:r>
            <a:endParaRPr b="0" i="0" sz="1091" u="none" cap="none" strike="noStrike">
              <a:solidFill>
                <a:schemeClr val="dk1"/>
              </a:solidFill>
              <a:latin typeface="Public Sans"/>
              <a:ea typeface="Public Sans"/>
              <a:cs typeface="Public Sans"/>
              <a:sym typeface="Public Sans"/>
            </a:endParaRPr>
          </a:p>
        </p:txBody>
      </p:sp>
      <p:sp>
        <p:nvSpPr>
          <p:cNvPr id="215" name="Google Shape;215;p21"/>
          <p:cNvSpPr/>
          <p:nvPr/>
        </p:nvSpPr>
        <p:spPr>
          <a:xfrm>
            <a:off x="2233884" y="2887518"/>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67.5 %</a:t>
            </a:r>
            <a:endParaRPr b="0" i="0" sz="1091" u="none" cap="none" strike="noStrike">
              <a:solidFill>
                <a:schemeClr val="dk1"/>
              </a:solidFill>
              <a:latin typeface="Public Sans"/>
              <a:ea typeface="Public Sans"/>
              <a:cs typeface="Public Sans"/>
              <a:sym typeface="Public Sans"/>
            </a:endParaRPr>
          </a:p>
        </p:txBody>
      </p:sp>
      <p:sp>
        <p:nvSpPr>
          <p:cNvPr id="216" name="Google Shape;216;p21"/>
          <p:cNvSpPr/>
          <p:nvPr/>
        </p:nvSpPr>
        <p:spPr>
          <a:xfrm>
            <a:off x="3065026" y="2887518"/>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70.2 %</a:t>
            </a:r>
            <a:endParaRPr b="0" i="0" sz="1091" u="none" cap="none" strike="noStrike">
              <a:solidFill>
                <a:schemeClr val="dk1"/>
              </a:solidFill>
              <a:latin typeface="Public Sans"/>
              <a:ea typeface="Public Sans"/>
              <a:cs typeface="Public Sans"/>
              <a:sym typeface="Public Sans"/>
            </a:endParaRPr>
          </a:p>
        </p:txBody>
      </p:sp>
      <p:sp>
        <p:nvSpPr>
          <p:cNvPr id="217" name="Google Shape;217;p21"/>
          <p:cNvSpPr/>
          <p:nvPr/>
        </p:nvSpPr>
        <p:spPr>
          <a:xfrm>
            <a:off x="3896167" y="2887518"/>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+2.8</a:t>
            </a:r>
            <a:endParaRPr b="0" i="0" sz="1091" u="none" cap="none" strike="noStrike">
              <a:solidFill>
                <a:schemeClr val="dk1"/>
              </a:solidFill>
              <a:latin typeface="Public Sans"/>
              <a:ea typeface="Public Sans"/>
              <a:cs typeface="Public Sans"/>
              <a:sym typeface="Public Sans"/>
            </a:endParaRPr>
          </a:p>
        </p:txBody>
      </p:sp>
      <p:sp>
        <p:nvSpPr>
          <p:cNvPr id="218" name="Google Shape;218;p21"/>
          <p:cNvSpPr/>
          <p:nvPr/>
        </p:nvSpPr>
        <p:spPr>
          <a:xfrm>
            <a:off x="4727309" y="2887518"/>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+4.1 %</a:t>
            </a:r>
            <a:endParaRPr b="0" i="0" sz="1091" u="none" cap="none" strike="noStrike">
              <a:solidFill>
                <a:schemeClr val="dk1"/>
              </a:solidFill>
              <a:latin typeface="Public Sans"/>
              <a:ea typeface="Public Sans"/>
              <a:cs typeface="Public Sans"/>
              <a:sym typeface="Public Sans"/>
            </a:endParaRPr>
          </a:p>
        </p:txBody>
      </p:sp>
      <p:sp>
        <p:nvSpPr>
          <p:cNvPr id="219" name="Google Shape;219;p21"/>
          <p:cNvSpPr/>
          <p:nvPr/>
        </p:nvSpPr>
        <p:spPr>
          <a:xfrm>
            <a:off x="332647" y="3172168"/>
            <a:ext cx="5361000" cy="373200"/>
          </a:xfrm>
          <a:prstGeom prst="rect">
            <a:avLst/>
          </a:prstGeom>
          <a:solidFill>
            <a:srgbClr val="FFFFFF"/>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220" name="Google Shape;220;p21"/>
          <p:cNvSpPr/>
          <p:nvPr/>
        </p:nvSpPr>
        <p:spPr>
          <a:xfrm>
            <a:off x="467708" y="3260476"/>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45-59</a:t>
            </a:r>
            <a:endParaRPr b="0" i="0" sz="1091" u="none" cap="none" strike="noStrike">
              <a:solidFill>
                <a:schemeClr val="dk1"/>
              </a:solidFill>
              <a:latin typeface="Public Sans"/>
              <a:ea typeface="Public Sans"/>
              <a:cs typeface="Public Sans"/>
              <a:sym typeface="Public Sans"/>
            </a:endParaRPr>
          </a:p>
        </p:txBody>
      </p:sp>
      <p:sp>
        <p:nvSpPr>
          <p:cNvPr id="221" name="Google Shape;221;p21"/>
          <p:cNvSpPr/>
          <p:nvPr/>
        </p:nvSpPr>
        <p:spPr>
          <a:xfrm>
            <a:off x="1506635" y="3260476"/>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15,534</a:t>
            </a:r>
            <a:endParaRPr b="0" i="0" sz="1091" u="none" cap="none" strike="noStrike">
              <a:solidFill>
                <a:schemeClr val="dk1"/>
              </a:solidFill>
              <a:latin typeface="Public Sans"/>
              <a:ea typeface="Public Sans"/>
              <a:cs typeface="Public Sans"/>
              <a:sym typeface="Public Sans"/>
            </a:endParaRPr>
          </a:p>
        </p:txBody>
      </p:sp>
      <p:sp>
        <p:nvSpPr>
          <p:cNvPr id="222" name="Google Shape;222;p21"/>
          <p:cNvSpPr/>
          <p:nvPr/>
        </p:nvSpPr>
        <p:spPr>
          <a:xfrm>
            <a:off x="2233884" y="3260476"/>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67.1 %</a:t>
            </a:r>
            <a:endParaRPr b="0" i="0" sz="1091" u="none" cap="none" strike="noStrike">
              <a:solidFill>
                <a:schemeClr val="dk1"/>
              </a:solidFill>
              <a:latin typeface="Public Sans"/>
              <a:ea typeface="Public Sans"/>
              <a:cs typeface="Public Sans"/>
              <a:sym typeface="Public Sans"/>
            </a:endParaRPr>
          </a:p>
        </p:txBody>
      </p:sp>
      <p:sp>
        <p:nvSpPr>
          <p:cNvPr id="223" name="Google Shape;223;p21"/>
          <p:cNvSpPr/>
          <p:nvPr/>
        </p:nvSpPr>
        <p:spPr>
          <a:xfrm>
            <a:off x="3065026" y="3260476"/>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68.9 %</a:t>
            </a:r>
            <a:endParaRPr b="0" i="0" sz="1091" u="none" cap="none" strike="noStrike">
              <a:solidFill>
                <a:schemeClr val="dk1"/>
              </a:solidFill>
              <a:latin typeface="Public Sans"/>
              <a:ea typeface="Public Sans"/>
              <a:cs typeface="Public Sans"/>
              <a:sym typeface="Public Sans"/>
            </a:endParaRPr>
          </a:p>
        </p:txBody>
      </p:sp>
      <p:sp>
        <p:nvSpPr>
          <p:cNvPr id="224" name="Google Shape;224;p21"/>
          <p:cNvSpPr/>
          <p:nvPr/>
        </p:nvSpPr>
        <p:spPr>
          <a:xfrm>
            <a:off x="3896167" y="3260476"/>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+1.8</a:t>
            </a:r>
            <a:endParaRPr b="0" i="0" sz="1091" u="none" cap="none" strike="noStrike">
              <a:solidFill>
                <a:schemeClr val="dk1"/>
              </a:solidFill>
              <a:latin typeface="Public Sans"/>
              <a:ea typeface="Public Sans"/>
              <a:cs typeface="Public Sans"/>
              <a:sym typeface="Public Sans"/>
            </a:endParaRPr>
          </a:p>
        </p:txBody>
      </p:sp>
      <p:sp>
        <p:nvSpPr>
          <p:cNvPr id="225" name="Google Shape;225;p21"/>
          <p:cNvSpPr/>
          <p:nvPr/>
        </p:nvSpPr>
        <p:spPr>
          <a:xfrm>
            <a:off x="4727309" y="3260476"/>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+2.7 %</a:t>
            </a:r>
            <a:endParaRPr b="0" i="0" sz="1091" u="none" cap="none" strike="noStrike">
              <a:solidFill>
                <a:schemeClr val="dk1"/>
              </a:solidFill>
              <a:latin typeface="Public Sans"/>
              <a:ea typeface="Public Sans"/>
              <a:cs typeface="Public Sans"/>
              <a:sym typeface="Public Sans"/>
            </a:endParaRPr>
          </a:p>
        </p:txBody>
      </p:sp>
      <p:sp>
        <p:nvSpPr>
          <p:cNvPr id="226" name="Google Shape;226;p21"/>
          <p:cNvSpPr/>
          <p:nvPr/>
        </p:nvSpPr>
        <p:spPr>
          <a:xfrm>
            <a:off x="332647" y="3545125"/>
            <a:ext cx="5361000" cy="373200"/>
          </a:xfrm>
          <a:prstGeom prst="rect">
            <a:avLst/>
          </a:prstGeom>
          <a:solidFill>
            <a:srgbClr val="F3F4F6"/>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227" name="Google Shape;227;p21"/>
          <p:cNvSpPr/>
          <p:nvPr/>
        </p:nvSpPr>
        <p:spPr>
          <a:xfrm>
            <a:off x="467708" y="3633434"/>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60-74</a:t>
            </a:r>
            <a:endParaRPr b="0" i="0" sz="1091" u="none" cap="none" strike="noStrike">
              <a:solidFill>
                <a:schemeClr val="dk1"/>
              </a:solidFill>
              <a:latin typeface="Public Sans"/>
              <a:ea typeface="Public Sans"/>
              <a:cs typeface="Public Sans"/>
              <a:sym typeface="Public Sans"/>
            </a:endParaRPr>
          </a:p>
        </p:txBody>
      </p:sp>
      <p:sp>
        <p:nvSpPr>
          <p:cNvPr id="228" name="Google Shape;228;p21"/>
          <p:cNvSpPr/>
          <p:nvPr/>
        </p:nvSpPr>
        <p:spPr>
          <a:xfrm>
            <a:off x="1506635" y="3633434"/>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11,126</a:t>
            </a:r>
            <a:endParaRPr b="0" i="0" sz="1091" u="none" cap="none" strike="noStrike">
              <a:solidFill>
                <a:schemeClr val="dk1"/>
              </a:solidFill>
              <a:latin typeface="Public Sans"/>
              <a:ea typeface="Public Sans"/>
              <a:cs typeface="Public Sans"/>
              <a:sym typeface="Public Sans"/>
            </a:endParaRPr>
          </a:p>
        </p:txBody>
      </p:sp>
      <p:sp>
        <p:nvSpPr>
          <p:cNvPr id="229" name="Google Shape;229;p21"/>
          <p:cNvSpPr/>
          <p:nvPr/>
        </p:nvSpPr>
        <p:spPr>
          <a:xfrm>
            <a:off x="2233884" y="3633434"/>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62.1 %</a:t>
            </a:r>
            <a:endParaRPr b="0" i="0" sz="1091" u="none" cap="none" strike="noStrike">
              <a:solidFill>
                <a:schemeClr val="dk1"/>
              </a:solidFill>
              <a:latin typeface="Public Sans"/>
              <a:ea typeface="Public Sans"/>
              <a:cs typeface="Public Sans"/>
              <a:sym typeface="Public Sans"/>
            </a:endParaRPr>
          </a:p>
        </p:txBody>
      </p:sp>
      <p:sp>
        <p:nvSpPr>
          <p:cNvPr id="230" name="Google Shape;230;p21"/>
          <p:cNvSpPr/>
          <p:nvPr/>
        </p:nvSpPr>
        <p:spPr>
          <a:xfrm>
            <a:off x="3065026" y="3633434"/>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66.3 %</a:t>
            </a:r>
            <a:endParaRPr b="0" i="0" sz="1091" u="none" cap="none" strike="noStrike">
              <a:solidFill>
                <a:schemeClr val="dk1"/>
              </a:solidFill>
              <a:latin typeface="Public Sans"/>
              <a:ea typeface="Public Sans"/>
              <a:cs typeface="Public Sans"/>
              <a:sym typeface="Public Sans"/>
            </a:endParaRPr>
          </a:p>
        </p:txBody>
      </p:sp>
      <p:sp>
        <p:nvSpPr>
          <p:cNvPr id="231" name="Google Shape;231;p21"/>
          <p:cNvSpPr/>
          <p:nvPr/>
        </p:nvSpPr>
        <p:spPr>
          <a:xfrm>
            <a:off x="3896167" y="3633434"/>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+4.2</a:t>
            </a:r>
            <a:endParaRPr b="0" i="0" sz="1091" u="none" cap="none" strike="noStrike">
              <a:solidFill>
                <a:schemeClr val="dk1"/>
              </a:solidFill>
              <a:latin typeface="Public Sans"/>
              <a:ea typeface="Public Sans"/>
              <a:cs typeface="Public Sans"/>
              <a:sym typeface="Public Sans"/>
            </a:endParaRPr>
          </a:p>
        </p:txBody>
      </p:sp>
      <p:sp>
        <p:nvSpPr>
          <p:cNvPr id="232" name="Google Shape;232;p21"/>
          <p:cNvSpPr/>
          <p:nvPr/>
        </p:nvSpPr>
        <p:spPr>
          <a:xfrm>
            <a:off x="4727309" y="3633434"/>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+6.8 %</a:t>
            </a:r>
            <a:endParaRPr b="0" i="0" sz="1091" u="none" cap="none" strike="noStrike">
              <a:solidFill>
                <a:schemeClr val="dk1"/>
              </a:solidFill>
              <a:latin typeface="Public Sans"/>
              <a:ea typeface="Public Sans"/>
              <a:cs typeface="Public Sans"/>
              <a:sym typeface="Public Sans"/>
            </a:endParaRPr>
          </a:p>
        </p:txBody>
      </p:sp>
      <p:sp>
        <p:nvSpPr>
          <p:cNvPr id="233" name="Google Shape;233;p21"/>
          <p:cNvSpPr/>
          <p:nvPr/>
        </p:nvSpPr>
        <p:spPr>
          <a:xfrm>
            <a:off x="332647" y="3918083"/>
            <a:ext cx="5361000" cy="373200"/>
          </a:xfrm>
          <a:prstGeom prst="rect">
            <a:avLst/>
          </a:prstGeom>
          <a:solidFill>
            <a:srgbClr val="F3E8EF"/>
          </a:solidFill>
          <a:ln>
            <a:noFill/>
          </a:ln>
        </p:spPr>
        <p:txBody>
          <a:bodyPr anchorCtr="0" anchor="ctr" bIns="74800" lIns="74800" spcFirstLastPara="1" rIns="74800" wrap="square" tIns="74800">
            <a:noAutofit/>
          </a:bodyPr>
          <a:lstStyle/>
          <a:p>
            <a:pPr indent="0" lvl="0" marL="0" rtl="0" algn="l">
              <a:spcBef>
                <a:spcPts val="0"/>
              </a:spcBef>
              <a:spcAft>
                <a:spcPts val="0"/>
              </a:spcAft>
              <a:buNone/>
            </a:pPr>
            <a:r>
              <a:t/>
            </a:r>
            <a:endParaRPr/>
          </a:p>
        </p:txBody>
      </p:sp>
      <p:sp>
        <p:nvSpPr>
          <p:cNvPr id="234" name="Google Shape;234;p21"/>
          <p:cNvSpPr/>
          <p:nvPr/>
        </p:nvSpPr>
        <p:spPr>
          <a:xfrm>
            <a:off x="467708" y="4006392"/>
            <a:ext cx="10806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1" i="0" lang="en-GB" sz="1091" u="none" cap="none" strike="noStrike">
                <a:solidFill>
                  <a:srgbClr val="1C2733"/>
                </a:solidFill>
                <a:latin typeface="Public Sans"/>
                <a:ea typeface="Public Sans"/>
                <a:cs typeface="Public Sans"/>
                <a:sym typeface="Public Sans"/>
              </a:rPr>
              <a:t>75+</a:t>
            </a:r>
            <a:endParaRPr b="0" i="0" sz="1091" u="none" cap="none" strike="noStrike">
              <a:solidFill>
                <a:schemeClr val="dk1"/>
              </a:solidFill>
              <a:latin typeface="Public Sans"/>
              <a:ea typeface="Public Sans"/>
              <a:cs typeface="Public Sans"/>
              <a:sym typeface="Public Sans"/>
            </a:endParaRPr>
          </a:p>
        </p:txBody>
      </p:sp>
      <p:sp>
        <p:nvSpPr>
          <p:cNvPr id="235" name="Google Shape;235;p21"/>
          <p:cNvSpPr/>
          <p:nvPr/>
        </p:nvSpPr>
        <p:spPr>
          <a:xfrm>
            <a:off x="1506635" y="4006392"/>
            <a:ext cx="7692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1,432</a:t>
            </a:r>
            <a:endParaRPr b="0" i="0" sz="1091" u="none" cap="none" strike="noStrike">
              <a:solidFill>
                <a:schemeClr val="dk1"/>
              </a:solidFill>
              <a:latin typeface="Public Sans"/>
              <a:ea typeface="Public Sans"/>
              <a:cs typeface="Public Sans"/>
              <a:sym typeface="Public Sans"/>
            </a:endParaRPr>
          </a:p>
        </p:txBody>
      </p:sp>
      <p:sp>
        <p:nvSpPr>
          <p:cNvPr id="236" name="Google Shape;236;p21"/>
          <p:cNvSpPr/>
          <p:nvPr/>
        </p:nvSpPr>
        <p:spPr>
          <a:xfrm>
            <a:off x="2233884" y="400639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47.0 %</a:t>
            </a:r>
            <a:endParaRPr b="0" i="0" sz="1091" u="none" cap="none" strike="noStrike">
              <a:solidFill>
                <a:schemeClr val="dk1"/>
              </a:solidFill>
              <a:latin typeface="Public Sans"/>
              <a:ea typeface="Public Sans"/>
              <a:cs typeface="Public Sans"/>
              <a:sym typeface="Public Sans"/>
            </a:endParaRPr>
          </a:p>
        </p:txBody>
      </p:sp>
      <p:sp>
        <p:nvSpPr>
          <p:cNvPr id="237" name="Google Shape;237;p21"/>
          <p:cNvSpPr/>
          <p:nvPr/>
        </p:nvSpPr>
        <p:spPr>
          <a:xfrm>
            <a:off x="3065026" y="400639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91"/>
              <a:buFont typeface="Public Sans"/>
              <a:buNone/>
            </a:pPr>
            <a:r>
              <a:rPr b="0" i="0" lang="en-GB" sz="1091" u="none" cap="none" strike="noStrike">
                <a:solidFill>
                  <a:srgbClr val="1C2733"/>
                </a:solidFill>
                <a:latin typeface="Public Sans"/>
                <a:ea typeface="Public Sans"/>
                <a:cs typeface="Public Sans"/>
                <a:sym typeface="Public Sans"/>
              </a:rPr>
              <a:t>56.3 %</a:t>
            </a:r>
            <a:endParaRPr b="0" i="0" sz="1091" u="none" cap="none" strike="noStrike">
              <a:solidFill>
                <a:schemeClr val="dk1"/>
              </a:solidFill>
              <a:latin typeface="Public Sans"/>
              <a:ea typeface="Public Sans"/>
              <a:cs typeface="Public Sans"/>
              <a:sym typeface="Public Sans"/>
            </a:endParaRPr>
          </a:p>
        </p:txBody>
      </p:sp>
      <p:sp>
        <p:nvSpPr>
          <p:cNvPr id="238" name="Google Shape;238;p21"/>
          <p:cNvSpPr/>
          <p:nvPr/>
        </p:nvSpPr>
        <p:spPr>
          <a:xfrm>
            <a:off x="3896167" y="400639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+9.3</a:t>
            </a:r>
            <a:endParaRPr b="0" i="0" sz="1091" u="none" cap="none" strike="noStrike">
              <a:solidFill>
                <a:schemeClr val="dk1"/>
              </a:solidFill>
              <a:latin typeface="Public Sans"/>
              <a:ea typeface="Public Sans"/>
              <a:cs typeface="Public Sans"/>
              <a:sym typeface="Public Sans"/>
            </a:endParaRPr>
          </a:p>
        </p:txBody>
      </p:sp>
      <p:sp>
        <p:nvSpPr>
          <p:cNvPr id="239" name="Google Shape;239;p21"/>
          <p:cNvSpPr/>
          <p:nvPr/>
        </p:nvSpPr>
        <p:spPr>
          <a:xfrm>
            <a:off x="4727309" y="4006392"/>
            <a:ext cx="872700" cy="21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091"/>
              <a:buFont typeface="Public Sans"/>
              <a:buNone/>
            </a:pPr>
            <a:r>
              <a:rPr b="1" i="0" lang="en-GB" sz="1091" u="none" cap="none" strike="noStrike">
                <a:solidFill>
                  <a:srgbClr val="62244F"/>
                </a:solidFill>
                <a:latin typeface="Public Sans"/>
                <a:ea typeface="Public Sans"/>
                <a:cs typeface="Public Sans"/>
                <a:sym typeface="Public Sans"/>
              </a:rPr>
              <a:t>+19.8 %</a:t>
            </a:r>
            <a:endParaRPr b="0" i="0" sz="1091" u="none" cap="none" strike="noStrike">
              <a:solidFill>
                <a:schemeClr val="dk1"/>
              </a:solidFill>
              <a:latin typeface="Public Sans"/>
              <a:ea typeface="Public Sans"/>
              <a:cs typeface="Public Sans"/>
              <a:sym typeface="Public Sans"/>
            </a:endParaRPr>
          </a:p>
        </p:txBody>
      </p:sp>
      <p:sp>
        <p:nvSpPr>
          <p:cNvPr id="240" name="Google Shape;240;p21"/>
          <p:cNvSpPr/>
          <p:nvPr/>
        </p:nvSpPr>
        <p:spPr>
          <a:xfrm>
            <a:off x="6046775" y="2204939"/>
            <a:ext cx="2835300" cy="4611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KPI = % of clients who reach the </a:t>
            </a:r>
            <a:r>
              <a:rPr b="1" i="0" lang="en-GB" sz="1000" u="none" cap="none" strike="noStrike">
                <a:solidFill>
                  <a:srgbClr val="4A5563"/>
                </a:solidFill>
                <a:latin typeface="Public Sans"/>
                <a:ea typeface="Public Sans"/>
                <a:cs typeface="Public Sans"/>
                <a:sym typeface="Public Sans"/>
              </a:rPr>
              <a:t>confirm</a:t>
            </a:r>
            <a:r>
              <a:rPr b="0" i="0" lang="en-GB" sz="1000" u="none" cap="none" strike="noStrike">
                <a:solidFill>
                  <a:srgbClr val="4A5563"/>
                </a:solidFill>
                <a:latin typeface="Public Sans"/>
                <a:ea typeface="Public Sans"/>
                <a:cs typeface="Public Sans"/>
                <a:sym typeface="Public Sans"/>
              </a:rPr>
              <a:t> page by age groupe.</a:t>
            </a:r>
            <a:endParaRPr b="0" i="0" sz="1000" u="none" cap="none" strike="noStrike">
              <a:solidFill>
                <a:schemeClr val="dk1"/>
              </a:solidFill>
              <a:latin typeface="Public Sans"/>
              <a:ea typeface="Public Sans"/>
              <a:cs typeface="Public Sans"/>
              <a:sym typeface="Public Sans"/>
            </a:endParaRPr>
          </a:p>
        </p:txBody>
      </p:sp>
      <p:sp>
        <p:nvSpPr>
          <p:cNvPr id="241" name="Google Shape;241;p21"/>
          <p:cNvSpPr/>
          <p:nvPr/>
        </p:nvSpPr>
        <p:spPr>
          <a:xfrm>
            <a:off x="6046775" y="3356986"/>
            <a:ext cx="2835300" cy="378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Completion </a:t>
            </a:r>
            <a:r>
              <a:rPr b="1" i="0" lang="en-GB" sz="1000" u="none" cap="none" strike="noStrike">
                <a:solidFill>
                  <a:srgbClr val="4A5563"/>
                </a:solidFill>
                <a:latin typeface="Public Sans"/>
                <a:ea typeface="Public Sans"/>
                <a:cs typeface="Public Sans"/>
                <a:sym typeface="Public Sans"/>
              </a:rPr>
              <a:t>falls with age</a:t>
            </a:r>
            <a:r>
              <a:rPr b="0" i="0" lang="en-GB" sz="1000" u="none" cap="none" strike="noStrike">
                <a:solidFill>
                  <a:srgbClr val="4A5563"/>
                </a:solidFill>
                <a:latin typeface="Public Sans"/>
                <a:ea typeface="Public Sans"/>
                <a:cs typeface="Public Sans"/>
                <a:sym typeface="Public Sans"/>
              </a:rPr>
              <a:t>; the new site helps most at</a:t>
            </a:r>
            <a:r>
              <a:rPr b="0" i="0" lang="en-GB" sz="1000" u="none" cap="none" strike="noStrike">
                <a:solidFill>
                  <a:srgbClr val="3A4756"/>
                </a:solidFill>
                <a:latin typeface="Public Sans"/>
                <a:ea typeface="Public Sans"/>
                <a:cs typeface="Public Sans"/>
                <a:sym typeface="Public Sans"/>
              </a:rPr>
              <a:t> </a:t>
            </a:r>
            <a:r>
              <a:rPr b="1" i="0" lang="en-GB" sz="1000" u="none" cap="none" strike="noStrike">
                <a:solidFill>
                  <a:srgbClr val="3A4756"/>
                </a:solidFill>
                <a:latin typeface="Public Sans"/>
                <a:ea typeface="Public Sans"/>
                <a:cs typeface="Public Sans"/>
                <a:sym typeface="Public Sans"/>
              </a:rPr>
              <a:t>both ends</a:t>
            </a:r>
            <a:r>
              <a:rPr b="0" i="0" lang="en-GB" sz="1000" u="none" cap="none" strike="noStrike">
                <a:solidFill>
                  <a:srgbClr val="3A4756"/>
                </a:solidFill>
                <a:latin typeface="Public Sans"/>
                <a:ea typeface="Public Sans"/>
                <a:cs typeface="Public Sans"/>
                <a:sym typeface="Public Sans"/>
              </a:rPr>
              <a:t>.</a:t>
            </a:r>
            <a:endParaRPr b="0" i="0" sz="1000" u="none" cap="none" strike="noStrike">
              <a:solidFill>
                <a:srgbClr val="3A4756"/>
              </a:solidFill>
              <a:latin typeface="Public Sans"/>
              <a:ea typeface="Public Sans"/>
              <a:cs typeface="Public Sans"/>
              <a:sym typeface="Public Sans"/>
            </a:endParaRPr>
          </a:p>
        </p:txBody>
      </p:sp>
      <p:sp>
        <p:nvSpPr>
          <p:cNvPr id="242" name="Google Shape;242;p21"/>
          <p:cNvSpPr/>
          <p:nvPr/>
        </p:nvSpPr>
        <p:spPr>
          <a:xfrm>
            <a:off x="6046775" y="3921709"/>
            <a:ext cx="2835300" cy="3504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8E2525"/>
              </a:buClr>
              <a:buSzPts val="900"/>
              <a:buFont typeface="Public Sans"/>
              <a:buNone/>
            </a:pPr>
            <a:r>
              <a:rPr b="0" i="0" lang="en-GB" sz="900" u="none" cap="none" strike="noStrike">
                <a:solidFill>
                  <a:srgbClr val="8E2525"/>
                </a:solidFill>
                <a:latin typeface="Public Sans"/>
                <a:ea typeface="Public Sans"/>
                <a:cs typeface="Public Sans"/>
                <a:sym typeface="Public Sans"/>
              </a:rPr>
              <a:t>⚠ 75+ is a small group (1,432 clients) → less certain.</a:t>
            </a:r>
            <a:endParaRPr b="0" i="0" sz="900" u="none" cap="none" strike="noStrike">
              <a:solidFill>
                <a:schemeClr val="dk1"/>
              </a:solidFill>
              <a:latin typeface="Public Sans"/>
              <a:ea typeface="Public Sans"/>
              <a:cs typeface="Public Sans"/>
              <a:sym typeface="Public Sans"/>
            </a:endParaRPr>
          </a:p>
        </p:txBody>
      </p:sp>
      <p:sp>
        <p:nvSpPr>
          <p:cNvPr id="243" name="Google Shape;243;p21"/>
          <p:cNvSpPr/>
          <p:nvPr/>
        </p:nvSpPr>
        <p:spPr>
          <a:xfrm>
            <a:off x="609600" y="4781550"/>
            <a:ext cx="32124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6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244" name="Google Shape;244;p21"/>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
        <p:nvSpPr>
          <p:cNvPr id="245" name="Google Shape;245;p21"/>
          <p:cNvSpPr/>
          <p:nvPr/>
        </p:nvSpPr>
        <p:spPr>
          <a:xfrm>
            <a:off x="6046775" y="2780952"/>
            <a:ext cx="2835300" cy="4611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000"/>
              <a:buFont typeface="Public Sans"/>
              <a:buNone/>
            </a:pPr>
            <a:r>
              <a:rPr lang="en-GB" sz="1000">
                <a:solidFill>
                  <a:srgbClr val="4A5563"/>
                </a:solidFill>
                <a:latin typeface="Public Sans"/>
                <a:ea typeface="Public Sans"/>
                <a:cs typeface="Public Sans"/>
                <a:sym typeface="Public Sans"/>
              </a:rPr>
              <a:t>The gain is how much the </a:t>
            </a:r>
            <a:r>
              <a:rPr lang="en-GB" sz="1000">
                <a:solidFill>
                  <a:srgbClr val="4A5563"/>
                </a:solidFill>
                <a:latin typeface="Public Sans"/>
                <a:ea typeface="Public Sans"/>
                <a:cs typeface="Public Sans"/>
                <a:sym typeface="Public Sans"/>
              </a:rPr>
              <a:t>completion</a:t>
            </a:r>
            <a:r>
              <a:rPr lang="en-GB" sz="1000">
                <a:solidFill>
                  <a:srgbClr val="4A5563"/>
                </a:solidFill>
                <a:latin typeface="Public Sans"/>
                <a:ea typeface="Public Sans"/>
                <a:cs typeface="Public Sans"/>
                <a:sym typeface="Public Sans"/>
              </a:rPr>
              <a:t> rate went up with the new website compared with old one.</a:t>
            </a:r>
            <a:endParaRPr b="0" i="0" sz="10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250" name="Shape 250"/>
        <p:cNvGrpSpPr/>
        <p:nvPr/>
      </p:nvGrpSpPr>
      <p:grpSpPr>
        <a:xfrm>
          <a:off x="0" y="0"/>
          <a:ext cx="0" cy="0"/>
          <a:chOff x="0" y="0"/>
          <a:chExt cx="0" cy="0"/>
        </a:xfrm>
      </p:grpSpPr>
      <p:sp>
        <p:nvSpPr>
          <p:cNvPr id="251" name="Google Shape;251;p22"/>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p22"/>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2 · TIME</a:t>
            </a:r>
            <a:endParaRPr b="0" i="0" sz="900" u="none" cap="none" strike="noStrike">
              <a:solidFill>
                <a:schemeClr val="dk1"/>
              </a:solidFill>
              <a:latin typeface="Public Sans"/>
              <a:ea typeface="Public Sans"/>
              <a:cs typeface="Public Sans"/>
              <a:sym typeface="Public Sans"/>
            </a:endParaRPr>
          </a:p>
        </p:txBody>
      </p:sp>
      <p:sp>
        <p:nvSpPr>
          <p:cNvPr id="253" name="Google Shape;253;p22"/>
          <p:cNvSpPr txBox="1"/>
          <p:nvPr>
            <p:ph type="title"/>
          </p:nvPr>
        </p:nvSpPr>
        <p:spPr>
          <a:xfrm>
            <a:off x="609600" y="760065"/>
            <a:ext cx="8162544" cy="35432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400"/>
              <a:buFont typeface="Rubik"/>
              <a:buNone/>
            </a:pPr>
            <a:r>
              <a:rPr b="1" i="0" lang="en-GB" sz="2400">
                <a:solidFill>
                  <a:srgbClr val="1C2733"/>
                </a:solidFill>
                <a:latin typeface="Rubik"/>
                <a:ea typeface="Rubik"/>
                <a:cs typeface="Rubik"/>
                <a:sym typeface="Rubik"/>
              </a:rPr>
              <a:t>The new site is faster – except at step 1</a:t>
            </a:r>
            <a:endParaRPr sz="2400"/>
          </a:p>
        </p:txBody>
      </p:sp>
      <p:sp>
        <p:nvSpPr>
          <p:cNvPr id="254" name="Google Shape;254;p22"/>
          <p:cNvSpPr/>
          <p:nvPr/>
        </p:nvSpPr>
        <p:spPr>
          <a:xfrm>
            <a:off x="609600" y="1285838"/>
            <a:ext cx="45521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Median time before the next action, per step (seconds)</a:t>
            </a:r>
            <a:endParaRPr b="0" i="0" sz="900" u="none" cap="none" strike="noStrike">
              <a:solidFill>
                <a:schemeClr val="dk1"/>
              </a:solidFill>
              <a:latin typeface="Public Sans"/>
              <a:ea typeface="Public Sans"/>
              <a:cs typeface="Public Sans"/>
              <a:sym typeface="Public Sans"/>
            </a:endParaRPr>
          </a:p>
        </p:txBody>
      </p:sp>
      <p:cxnSp>
        <p:nvCxnSpPr>
          <p:cNvPr id="255" name="Google Shape;255;p22"/>
          <p:cNvCxnSpPr/>
          <p:nvPr/>
        </p:nvCxnSpPr>
        <p:spPr>
          <a:xfrm>
            <a:off x="609600" y="3664670"/>
            <a:ext cx="4419600" cy="0"/>
          </a:xfrm>
          <a:prstGeom prst="straightConnector1">
            <a:avLst/>
          </a:prstGeom>
          <a:noFill/>
          <a:ln cap="flat" cmpd="sng" w="19050">
            <a:solidFill>
              <a:srgbClr val="1C2733"/>
            </a:solidFill>
            <a:prstDash val="solid"/>
            <a:round/>
            <a:headEnd len="sm" w="sm" type="none"/>
            <a:tailEnd len="sm" w="sm" type="none"/>
          </a:ln>
        </p:spPr>
      </p:cxnSp>
      <p:sp>
        <p:nvSpPr>
          <p:cNvPr id="256" name="Google Shape;256;p22"/>
          <p:cNvSpPr/>
          <p:nvPr/>
        </p:nvSpPr>
        <p:spPr>
          <a:xfrm>
            <a:off x="703987" y="2762213"/>
            <a:ext cx="268426"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900"/>
              <a:buFont typeface="Public Sans"/>
              <a:buNone/>
            </a:pPr>
            <a:r>
              <a:rPr b="0" i="0" lang="en-GB" sz="900" u="none" cap="none" strike="noStrike">
                <a:solidFill>
                  <a:srgbClr val="263A50"/>
                </a:solidFill>
                <a:latin typeface="Public Sans"/>
                <a:ea typeface="Public Sans"/>
                <a:cs typeface="Public Sans"/>
                <a:sym typeface="Public Sans"/>
              </a:rPr>
              <a:t>20 s</a:t>
            </a:r>
            <a:endParaRPr b="0" i="0" sz="900" u="none" cap="none" strike="noStrike">
              <a:solidFill>
                <a:schemeClr val="dk1"/>
              </a:solidFill>
              <a:latin typeface="Public Sans"/>
              <a:ea typeface="Public Sans"/>
              <a:cs typeface="Public Sans"/>
              <a:sym typeface="Public Sans"/>
            </a:endParaRPr>
          </a:p>
        </p:txBody>
      </p:sp>
      <p:sp>
        <p:nvSpPr>
          <p:cNvPr id="257" name="Google Shape;257;p22"/>
          <p:cNvSpPr/>
          <p:nvPr/>
        </p:nvSpPr>
        <p:spPr>
          <a:xfrm>
            <a:off x="609600" y="2950778"/>
            <a:ext cx="457200" cy="476250"/>
          </a:xfrm>
          <a:custGeom>
            <a:rect b="b" l="l" r="r" t="t"/>
            <a:pathLst>
              <a:path extrusionOk="0" h="635000" w="609600">
                <a:moveTo>
                  <a:pt x="50800" y="0"/>
                </a:moveTo>
                <a:lnTo>
                  <a:pt x="558800" y="0"/>
                </a:lnTo>
                <a:cubicBezTo>
                  <a:pt x="572273" y="0"/>
                  <a:pt x="585194" y="5352"/>
                  <a:pt x="594721" y="14879"/>
                </a:cubicBezTo>
                <a:cubicBezTo>
                  <a:pt x="604248" y="24406"/>
                  <a:pt x="609600" y="37327"/>
                  <a:pt x="609600" y="50800"/>
                </a:cubicBezTo>
                <a:lnTo>
                  <a:pt x="609600" y="635000"/>
                </a:lnTo>
                <a:lnTo>
                  <a:pt x="0" y="635000"/>
                </a:lnTo>
                <a:lnTo>
                  <a:pt x="0" y="50800"/>
                </a:lnTo>
                <a:cubicBezTo>
                  <a:pt x="0" y="22744"/>
                  <a:pt x="22744" y="0"/>
                  <a:pt x="508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2"/>
          <p:cNvSpPr/>
          <p:nvPr/>
        </p:nvSpPr>
        <p:spPr>
          <a:xfrm>
            <a:off x="1217031" y="2905088"/>
            <a:ext cx="251951"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900"/>
              <a:buFont typeface="Public Sans"/>
              <a:buNone/>
            </a:pPr>
            <a:r>
              <a:rPr b="1" i="0" lang="en-GB" sz="900" u="none" cap="none" strike="noStrike">
                <a:solidFill>
                  <a:srgbClr val="62244F"/>
                </a:solidFill>
                <a:latin typeface="Public Sans"/>
                <a:ea typeface="Public Sans"/>
                <a:cs typeface="Public Sans"/>
                <a:sym typeface="Public Sans"/>
              </a:rPr>
              <a:t>14 s</a:t>
            </a:r>
            <a:endParaRPr b="0" i="0" sz="900" u="none" cap="none" strike="noStrike">
              <a:solidFill>
                <a:schemeClr val="dk1"/>
              </a:solidFill>
              <a:latin typeface="Public Sans"/>
              <a:ea typeface="Public Sans"/>
              <a:cs typeface="Public Sans"/>
              <a:sym typeface="Public Sans"/>
            </a:endParaRPr>
          </a:p>
        </p:txBody>
      </p:sp>
      <p:sp>
        <p:nvSpPr>
          <p:cNvPr id="259" name="Google Shape;259;p22"/>
          <p:cNvSpPr/>
          <p:nvPr/>
        </p:nvSpPr>
        <p:spPr>
          <a:xfrm>
            <a:off x="1114425" y="3093653"/>
            <a:ext cx="457200" cy="333375"/>
          </a:xfrm>
          <a:custGeom>
            <a:rect b="b" l="l" r="r" t="t"/>
            <a:pathLst>
              <a:path extrusionOk="0" h="444500" w="609600">
                <a:moveTo>
                  <a:pt x="50800" y="0"/>
                </a:moveTo>
                <a:lnTo>
                  <a:pt x="558800" y="0"/>
                </a:lnTo>
                <a:cubicBezTo>
                  <a:pt x="572273" y="0"/>
                  <a:pt x="585194" y="5352"/>
                  <a:pt x="594721" y="14879"/>
                </a:cubicBezTo>
                <a:cubicBezTo>
                  <a:pt x="604248" y="24406"/>
                  <a:pt x="609600" y="37327"/>
                  <a:pt x="609600" y="50800"/>
                </a:cubicBezTo>
                <a:lnTo>
                  <a:pt x="609600" y="444500"/>
                </a:lnTo>
                <a:lnTo>
                  <a:pt x="0" y="444500"/>
                </a:lnTo>
                <a:lnTo>
                  <a:pt x="0" y="50800"/>
                </a:lnTo>
                <a:cubicBezTo>
                  <a:pt x="0" y="22744"/>
                  <a:pt x="22744" y="0"/>
                  <a:pt x="508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2"/>
          <p:cNvSpPr/>
          <p:nvPr/>
        </p:nvSpPr>
        <p:spPr>
          <a:xfrm>
            <a:off x="921935" y="3484178"/>
            <a:ext cx="337319" cy="19239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start</a:t>
            </a:r>
            <a:endParaRPr b="0" i="0" sz="1000" u="none" cap="none" strike="noStrike">
              <a:solidFill>
                <a:schemeClr val="dk1"/>
              </a:solidFill>
              <a:latin typeface="Public Sans"/>
              <a:ea typeface="Public Sans"/>
              <a:cs typeface="Public Sans"/>
              <a:sym typeface="Public Sans"/>
            </a:endParaRPr>
          </a:p>
        </p:txBody>
      </p:sp>
      <p:sp>
        <p:nvSpPr>
          <p:cNvPr id="261" name="Google Shape;261;p22"/>
          <p:cNvSpPr/>
          <p:nvPr/>
        </p:nvSpPr>
        <p:spPr>
          <a:xfrm>
            <a:off x="1856512" y="2762213"/>
            <a:ext cx="268426"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900"/>
              <a:buFont typeface="Public Sans"/>
              <a:buNone/>
            </a:pPr>
            <a:r>
              <a:rPr b="0" i="0" lang="en-GB" sz="900" u="none" cap="none" strike="noStrike">
                <a:solidFill>
                  <a:srgbClr val="263A50"/>
                </a:solidFill>
                <a:latin typeface="Public Sans"/>
                <a:ea typeface="Public Sans"/>
                <a:cs typeface="Public Sans"/>
                <a:sym typeface="Public Sans"/>
              </a:rPr>
              <a:t>20 s</a:t>
            </a:r>
            <a:endParaRPr b="0" i="0" sz="900" u="none" cap="none" strike="noStrike">
              <a:solidFill>
                <a:schemeClr val="dk1"/>
              </a:solidFill>
              <a:latin typeface="Public Sans"/>
              <a:ea typeface="Public Sans"/>
              <a:cs typeface="Public Sans"/>
              <a:sym typeface="Public Sans"/>
            </a:endParaRPr>
          </a:p>
        </p:txBody>
      </p:sp>
      <p:sp>
        <p:nvSpPr>
          <p:cNvPr id="262" name="Google Shape;262;p22"/>
          <p:cNvSpPr/>
          <p:nvPr/>
        </p:nvSpPr>
        <p:spPr>
          <a:xfrm>
            <a:off x="1762125" y="2950778"/>
            <a:ext cx="457200" cy="476250"/>
          </a:xfrm>
          <a:custGeom>
            <a:rect b="b" l="l" r="r" t="t"/>
            <a:pathLst>
              <a:path extrusionOk="0" h="635000" w="609600">
                <a:moveTo>
                  <a:pt x="50800" y="0"/>
                </a:moveTo>
                <a:lnTo>
                  <a:pt x="558800" y="0"/>
                </a:lnTo>
                <a:cubicBezTo>
                  <a:pt x="572273" y="0"/>
                  <a:pt x="585194" y="5352"/>
                  <a:pt x="594721" y="14879"/>
                </a:cubicBezTo>
                <a:cubicBezTo>
                  <a:pt x="604248" y="24406"/>
                  <a:pt x="609600" y="37327"/>
                  <a:pt x="609600" y="50800"/>
                </a:cubicBezTo>
                <a:lnTo>
                  <a:pt x="609600" y="635000"/>
                </a:lnTo>
                <a:lnTo>
                  <a:pt x="0" y="635000"/>
                </a:lnTo>
                <a:lnTo>
                  <a:pt x="0" y="50800"/>
                </a:lnTo>
                <a:cubicBezTo>
                  <a:pt x="0" y="22744"/>
                  <a:pt x="22744" y="0"/>
                  <a:pt x="508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2"/>
          <p:cNvSpPr/>
          <p:nvPr/>
        </p:nvSpPr>
        <p:spPr>
          <a:xfrm>
            <a:off x="2357453" y="2595525"/>
            <a:ext cx="276195"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27 s</a:t>
            </a:r>
            <a:endParaRPr b="0" i="0" sz="900" u="none" cap="none" strike="noStrike">
              <a:solidFill>
                <a:schemeClr val="dk1"/>
              </a:solidFill>
              <a:latin typeface="Public Sans"/>
              <a:ea typeface="Public Sans"/>
              <a:cs typeface="Public Sans"/>
              <a:sym typeface="Public Sans"/>
            </a:endParaRPr>
          </a:p>
        </p:txBody>
      </p:sp>
      <p:sp>
        <p:nvSpPr>
          <p:cNvPr id="264" name="Google Shape;264;p22"/>
          <p:cNvSpPr/>
          <p:nvPr/>
        </p:nvSpPr>
        <p:spPr>
          <a:xfrm>
            <a:off x="2266950" y="2784091"/>
            <a:ext cx="457200" cy="642938"/>
          </a:xfrm>
          <a:custGeom>
            <a:rect b="b" l="l" r="r" t="t"/>
            <a:pathLst>
              <a:path extrusionOk="0" h="857250" w="609600">
                <a:moveTo>
                  <a:pt x="50800" y="0"/>
                </a:moveTo>
                <a:lnTo>
                  <a:pt x="558800" y="0"/>
                </a:lnTo>
                <a:cubicBezTo>
                  <a:pt x="572273" y="0"/>
                  <a:pt x="585194" y="5352"/>
                  <a:pt x="594721" y="14879"/>
                </a:cubicBezTo>
                <a:cubicBezTo>
                  <a:pt x="604248" y="24406"/>
                  <a:pt x="609600" y="37327"/>
                  <a:pt x="609600" y="50800"/>
                </a:cubicBezTo>
                <a:lnTo>
                  <a:pt x="609600" y="857250"/>
                </a:lnTo>
                <a:lnTo>
                  <a:pt x="0" y="857250"/>
                </a:lnTo>
                <a:lnTo>
                  <a:pt x="0" y="50800"/>
                </a:lnTo>
                <a:cubicBezTo>
                  <a:pt x="0" y="22744"/>
                  <a:pt x="22744" y="0"/>
                  <a:pt x="508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2"/>
          <p:cNvSpPr/>
          <p:nvPr/>
        </p:nvSpPr>
        <p:spPr>
          <a:xfrm>
            <a:off x="2041018" y="3484178"/>
            <a:ext cx="404202" cy="19239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8E2525"/>
              </a:buClr>
              <a:buSzPts val="1000"/>
              <a:buFont typeface="Public Sans"/>
              <a:buNone/>
            </a:pPr>
            <a:r>
              <a:rPr b="1" i="0" lang="en-GB" sz="1000" u="none" cap="none" strike="noStrike">
                <a:solidFill>
                  <a:srgbClr val="8E2525"/>
                </a:solidFill>
                <a:latin typeface="Public Sans"/>
                <a:ea typeface="Public Sans"/>
                <a:cs typeface="Public Sans"/>
                <a:sym typeface="Public Sans"/>
              </a:rPr>
              <a:t>step 1</a:t>
            </a:r>
            <a:endParaRPr b="0" i="0" sz="1000" u="none" cap="none" strike="noStrike">
              <a:solidFill>
                <a:schemeClr val="dk1"/>
              </a:solidFill>
              <a:latin typeface="Public Sans"/>
              <a:ea typeface="Public Sans"/>
              <a:cs typeface="Public Sans"/>
              <a:sym typeface="Public Sans"/>
            </a:endParaRPr>
          </a:p>
        </p:txBody>
      </p:sp>
      <p:sp>
        <p:nvSpPr>
          <p:cNvPr id="266" name="Google Shape;266;p22"/>
          <p:cNvSpPr/>
          <p:nvPr/>
        </p:nvSpPr>
        <p:spPr>
          <a:xfrm>
            <a:off x="3006224" y="1714463"/>
            <a:ext cx="274052"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900"/>
              <a:buFont typeface="Public Sans"/>
              <a:buNone/>
            </a:pPr>
            <a:r>
              <a:rPr b="0" i="0" lang="en-GB" sz="900" u="none" cap="none" strike="noStrike">
                <a:solidFill>
                  <a:srgbClr val="263A50"/>
                </a:solidFill>
                <a:latin typeface="Public Sans"/>
                <a:ea typeface="Public Sans"/>
                <a:cs typeface="Public Sans"/>
                <a:sym typeface="Public Sans"/>
              </a:rPr>
              <a:t>64 s</a:t>
            </a:r>
            <a:endParaRPr b="0" i="0" sz="900" u="none" cap="none" strike="noStrike">
              <a:solidFill>
                <a:schemeClr val="dk1"/>
              </a:solidFill>
              <a:latin typeface="Public Sans"/>
              <a:ea typeface="Public Sans"/>
              <a:cs typeface="Public Sans"/>
              <a:sym typeface="Public Sans"/>
            </a:endParaRPr>
          </a:p>
        </p:txBody>
      </p:sp>
      <p:sp>
        <p:nvSpPr>
          <p:cNvPr id="267" name="Google Shape;267;p22"/>
          <p:cNvSpPr/>
          <p:nvPr/>
        </p:nvSpPr>
        <p:spPr>
          <a:xfrm>
            <a:off x="2914650" y="1903028"/>
            <a:ext cx="457200" cy="1524000"/>
          </a:xfrm>
          <a:custGeom>
            <a:rect b="b" l="l" r="r" t="t"/>
            <a:pathLst>
              <a:path extrusionOk="0" h="2032000" w="609600">
                <a:moveTo>
                  <a:pt x="50800" y="0"/>
                </a:moveTo>
                <a:lnTo>
                  <a:pt x="558800" y="0"/>
                </a:lnTo>
                <a:cubicBezTo>
                  <a:pt x="572273" y="0"/>
                  <a:pt x="585194" y="5352"/>
                  <a:pt x="594721" y="14879"/>
                </a:cubicBezTo>
                <a:cubicBezTo>
                  <a:pt x="604248" y="24406"/>
                  <a:pt x="609600" y="37327"/>
                  <a:pt x="609600" y="50800"/>
                </a:cubicBezTo>
                <a:lnTo>
                  <a:pt x="609600" y="2032000"/>
                </a:lnTo>
                <a:lnTo>
                  <a:pt x="0" y="2032000"/>
                </a:lnTo>
                <a:lnTo>
                  <a:pt x="0" y="50800"/>
                </a:lnTo>
                <a:cubicBezTo>
                  <a:pt x="0" y="22744"/>
                  <a:pt x="22744" y="0"/>
                  <a:pt x="508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p:nvPr/>
        </p:nvSpPr>
        <p:spPr>
          <a:xfrm>
            <a:off x="3521810" y="1785900"/>
            <a:ext cx="252532"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900"/>
              <a:buFont typeface="Public Sans"/>
              <a:buNone/>
            </a:pPr>
            <a:r>
              <a:rPr b="1" i="0" lang="en-GB" sz="900" u="none" cap="none" strike="noStrike">
                <a:solidFill>
                  <a:srgbClr val="62244F"/>
                </a:solidFill>
                <a:latin typeface="Public Sans"/>
                <a:ea typeface="Public Sans"/>
                <a:cs typeface="Public Sans"/>
                <a:sym typeface="Public Sans"/>
              </a:rPr>
              <a:t>61 s</a:t>
            </a:r>
            <a:endParaRPr b="0" i="0" sz="900" u="none" cap="none" strike="noStrike">
              <a:solidFill>
                <a:schemeClr val="dk1"/>
              </a:solidFill>
              <a:latin typeface="Public Sans"/>
              <a:ea typeface="Public Sans"/>
              <a:cs typeface="Public Sans"/>
              <a:sym typeface="Public Sans"/>
            </a:endParaRPr>
          </a:p>
        </p:txBody>
      </p:sp>
      <p:sp>
        <p:nvSpPr>
          <p:cNvPr id="269" name="Google Shape;269;p22"/>
          <p:cNvSpPr/>
          <p:nvPr/>
        </p:nvSpPr>
        <p:spPr>
          <a:xfrm>
            <a:off x="3419475" y="1974466"/>
            <a:ext cx="457200" cy="1452563"/>
          </a:xfrm>
          <a:custGeom>
            <a:rect b="b" l="l" r="r" t="t"/>
            <a:pathLst>
              <a:path extrusionOk="0" h="1936750" w="609600">
                <a:moveTo>
                  <a:pt x="50800" y="0"/>
                </a:moveTo>
                <a:lnTo>
                  <a:pt x="558800" y="0"/>
                </a:lnTo>
                <a:cubicBezTo>
                  <a:pt x="572273" y="0"/>
                  <a:pt x="585194" y="5352"/>
                  <a:pt x="594721" y="14879"/>
                </a:cubicBezTo>
                <a:cubicBezTo>
                  <a:pt x="604248" y="24406"/>
                  <a:pt x="609600" y="37327"/>
                  <a:pt x="609600" y="50800"/>
                </a:cubicBezTo>
                <a:lnTo>
                  <a:pt x="609600" y="1936750"/>
                </a:lnTo>
                <a:lnTo>
                  <a:pt x="0" y="1936750"/>
                </a:lnTo>
                <a:lnTo>
                  <a:pt x="0" y="50800"/>
                </a:lnTo>
                <a:cubicBezTo>
                  <a:pt x="0" y="22744"/>
                  <a:pt x="22744" y="0"/>
                  <a:pt x="508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2"/>
          <p:cNvSpPr/>
          <p:nvPr/>
        </p:nvSpPr>
        <p:spPr>
          <a:xfrm>
            <a:off x="3178764" y="3484178"/>
            <a:ext cx="433760" cy="19239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step 2</a:t>
            </a:r>
            <a:endParaRPr b="0" i="0" sz="1000" u="none" cap="none" strike="noStrike">
              <a:solidFill>
                <a:schemeClr val="dk1"/>
              </a:solidFill>
              <a:latin typeface="Public Sans"/>
              <a:ea typeface="Public Sans"/>
              <a:cs typeface="Public Sans"/>
              <a:sym typeface="Public Sans"/>
            </a:endParaRPr>
          </a:p>
        </p:txBody>
      </p:sp>
      <p:sp>
        <p:nvSpPr>
          <p:cNvPr id="271" name="Google Shape;271;p22"/>
          <p:cNvSpPr/>
          <p:nvPr/>
        </p:nvSpPr>
        <p:spPr>
          <a:xfrm>
            <a:off x="4161878" y="1523963"/>
            <a:ext cx="267757"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900"/>
              <a:buFont typeface="Public Sans"/>
              <a:buNone/>
            </a:pPr>
            <a:r>
              <a:rPr b="0" i="0" lang="en-GB" sz="900" u="none" cap="none" strike="noStrike">
                <a:solidFill>
                  <a:srgbClr val="263A50"/>
                </a:solidFill>
                <a:latin typeface="Public Sans"/>
                <a:ea typeface="Public Sans"/>
                <a:cs typeface="Public Sans"/>
                <a:sym typeface="Public Sans"/>
              </a:rPr>
              <a:t>72 s</a:t>
            </a:r>
            <a:endParaRPr b="0" i="0" sz="900" u="none" cap="none" strike="noStrike">
              <a:solidFill>
                <a:schemeClr val="dk1"/>
              </a:solidFill>
              <a:latin typeface="Public Sans"/>
              <a:ea typeface="Public Sans"/>
              <a:cs typeface="Public Sans"/>
              <a:sym typeface="Public Sans"/>
            </a:endParaRPr>
          </a:p>
        </p:txBody>
      </p:sp>
      <p:sp>
        <p:nvSpPr>
          <p:cNvPr id="272" name="Google Shape;272;p22"/>
          <p:cNvSpPr/>
          <p:nvPr/>
        </p:nvSpPr>
        <p:spPr>
          <a:xfrm>
            <a:off x="4067175" y="1712528"/>
            <a:ext cx="457200" cy="1714500"/>
          </a:xfrm>
          <a:custGeom>
            <a:rect b="b" l="l" r="r" t="t"/>
            <a:pathLst>
              <a:path extrusionOk="0" h="2286000" w="609600">
                <a:moveTo>
                  <a:pt x="50800" y="0"/>
                </a:moveTo>
                <a:lnTo>
                  <a:pt x="558800" y="0"/>
                </a:lnTo>
                <a:cubicBezTo>
                  <a:pt x="572273" y="0"/>
                  <a:pt x="585194" y="5352"/>
                  <a:pt x="594721" y="14879"/>
                </a:cubicBezTo>
                <a:cubicBezTo>
                  <a:pt x="604248" y="24406"/>
                  <a:pt x="609600" y="37327"/>
                  <a:pt x="609600" y="50800"/>
                </a:cubicBezTo>
                <a:lnTo>
                  <a:pt x="609600" y="2286000"/>
                </a:lnTo>
                <a:lnTo>
                  <a:pt x="0" y="2286000"/>
                </a:lnTo>
                <a:lnTo>
                  <a:pt x="0" y="50800"/>
                </a:lnTo>
                <a:cubicBezTo>
                  <a:pt x="0" y="22744"/>
                  <a:pt x="22744" y="0"/>
                  <a:pt x="508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22"/>
          <p:cNvSpPr/>
          <p:nvPr/>
        </p:nvSpPr>
        <p:spPr>
          <a:xfrm>
            <a:off x="4656698" y="1857338"/>
            <a:ext cx="287804"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900"/>
              <a:buFont typeface="Public Sans"/>
              <a:buNone/>
            </a:pPr>
            <a:r>
              <a:rPr b="1" i="0" lang="en-GB" sz="900" u="none" cap="none" strike="noStrike">
                <a:solidFill>
                  <a:srgbClr val="62244F"/>
                </a:solidFill>
                <a:latin typeface="Public Sans"/>
                <a:ea typeface="Public Sans"/>
                <a:cs typeface="Public Sans"/>
                <a:sym typeface="Public Sans"/>
              </a:rPr>
              <a:t>58 s</a:t>
            </a:r>
            <a:endParaRPr b="0" i="0" sz="900" u="none" cap="none" strike="noStrike">
              <a:solidFill>
                <a:schemeClr val="dk1"/>
              </a:solidFill>
              <a:latin typeface="Public Sans"/>
              <a:ea typeface="Public Sans"/>
              <a:cs typeface="Public Sans"/>
              <a:sym typeface="Public Sans"/>
            </a:endParaRPr>
          </a:p>
        </p:txBody>
      </p:sp>
      <p:sp>
        <p:nvSpPr>
          <p:cNvPr id="274" name="Google Shape;274;p22"/>
          <p:cNvSpPr/>
          <p:nvPr/>
        </p:nvSpPr>
        <p:spPr>
          <a:xfrm>
            <a:off x="4572000" y="2045903"/>
            <a:ext cx="457200" cy="1381125"/>
          </a:xfrm>
          <a:custGeom>
            <a:rect b="b" l="l" r="r" t="t"/>
            <a:pathLst>
              <a:path extrusionOk="0" h="1841500" w="609600">
                <a:moveTo>
                  <a:pt x="50800" y="0"/>
                </a:moveTo>
                <a:lnTo>
                  <a:pt x="558800" y="0"/>
                </a:lnTo>
                <a:cubicBezTo>
                  <a:pt x="572273" y="0"/>
                  <a:pt x="585194" y="5352"/>
                  <a:pt x="594721" y="14879"/>
                </a:cubicBezTo>
                <a:cubicBezTo>
                  <a:pt x="604248" y="24406"/>
                  <a:pt x="609600" y="37327"/>
                  <a:pt x="609600" y="50800"/>
                </a:cubicBezTo>
                <a:lnTo>
                  <a:pt x="609600" y="1841500"/>
                </a:lnTo>
                <a:lnTo>
                  <a:pt x="0" y="1841500"/>
                </a:lnTo>
                <a:lnTo>
                  <a:pt x="0" y="50800"/>
                </a:lnTo>
                <a:cubicBezTo>
                  <a:pt x="0" y="22744"/>
                  <a:pt x="22744" y="0"/>
                  <a:pt x="508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22"/>
          <p:cNvSpPr/>
          <p:nvPr/>
        </p:nvSpPr>
        <p:spPr>
          <a:xfrm>
            <a:off x="4328923" y="3484178"/>
            <a:ext cx="438492" cy="19239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step 3</a:t>
            </a:r>
            <a:endParaRPr b="0" i="0" sz="1000" u="none" cap="none" strike="noStrike">
              <a:solidFill>
                <a:schemeClr val="dk1"/>
              </a:solidFill>
              <a:latin typeface="Public Sans"/>
              <a:ea typeface="Public Sans"/>
              <a:cs typeface="Public Sans"/>
              <a:sym typeface="Public Sans"/>
            </a:endParaRPr>
          </a:p>
        </p:txBody>
      </p:sp>
      <p:sp>
        <p:nvSpPr>
          <p:cNvPr id="276" name="Google Shape;276;p22"/>
          <p:cNvSpPr/>
          <p:nvPr/>
        </p:nvSpPr>
        <p:spPr>
          <a:xfrm>
            <a:off x="609600" y="3766096"/>
            <a:ext cx="123825" cy="123825"/>
          </a:xfrm>
          <a:prstGeom prst="roundRect">
            <a:avLst>
              <a:gd fmla="val 15385"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22"/>
          <p:cNvSpPr/>
          <p:nvPr/>
        </p:nvSpPr>
        <p:spPr>
          <a:xfrm>
            <a:off x="781050" y="3748013"/>
            <a:ext cx="1231925"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Control · old website</a:t>
            </a:r>
            <a:endParaRPr b="0" i="0" sz="900" u="none" cap="none" strike="noStrike">
              <a:solidFill>
                <a:schemeClr val="dk1"/>
              </a:solidFill>
              <a:latin typeface="Public Sans"/>
              <a:ea typeface="Public Sans"/>
              <a:cs typeface="Public Sans"/>
              <a:sym typeface="Public Sans"/>
            </a:endParaRPr>
          </a:p>
        </p:txBody>
      </p:sp>
      <p:sp>
        <p:nvSpPr>
          <p:cNvPr id="278" name="Google Shape;278;p22"/>
          <p:cNvSpPr/>
          <p:nvPr/>
        </p:nvSpPr>
        <p:spPr>
          <a:xfrm>
            <a:off x="2012975" y="3766096"/>
            <a:ext cx="123825" cy="123825"/>
          </a:xfrm>
          <a:prstGeom prst="roundRect">
            <a:avLst>
              <a:gd fmla="val 15385" name="adj"/>
            </a:avLst>
          </a:pr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22"/>
          <p:cNvSpPr/>
          <p:nvPr/>
        </p:nvSpPr>
        <p:spPr>
          <a:xfrm>
            <a:off x="2184425" y="3748013"/>
            <a:ext cx="115960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Test · new website</a:t>
            </a:r>
            <a:endParaRPr b="0" i="0" sz="900" u="none" cap="none" strike="noStrike">
              <a:solidFill>
                <a:schemeClr val="dk1"/>
              </a:solidFill>
              <a:latin typeface="Public Sans"/>
              <a:ea typeface="Public Sans"/>
              <a:cs typeface="Public Sans"/>
              <a:sym typeface="Public Sans"/>
            </a:endParaRPr>
          </a:p>
        </p:txBody>
      </p:sp>
      <p:sp>
        <p:nvSpPr>
          <p:cNvPr id="280" name="Google Shape;280;p22"/>
          <p:cNvSpPr/>
          <p:nvPr/>
        </p:nvSpPr>
        <p:spPr>
          <a:xfrm>
            <a:off x="5483825" y="1885613"/>
            <a:ext cx="3238500" cy="1066800"/>
          </a:xfrm>
          <a:prstGeom prst="roundRect">
            <a:avLst>
              <a:gd fmla="val 8929" name="adj"/>
            </a:avLst>
          </a:prstGeom>
          <a:solidFill>
            <a:srgbClr val="1C27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2"/>
          <p:cNvSpPr/>
          <p:nvPr/>
        </p:nvSpPr>
        <p:spPr>
          <a:xfrm>
            <a:off x="5645750" y="2047538"/>
            <a:ext cx="3002100" cy="172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0CA"/>
              </a:buClr>
              <a:buSzPts val="900"/>
              <a:buFont typeface="Public Sans"/>
              <a:buNone/>
            </a:pPr>
            <a:r>
              <a:rPr b="0" i="0" lang="en-GB" sz="900" u="none" cap="none" strike="noStrike">
                <a:solidFill>
                  <a:srgbClr val="B8C0CA"/>
                </a:solidFill>
                <a:latin typeface="Public Sans"/>
                <a:ea typeface="Public Sans"/>
                <a:cs typeface="Public Sans"/>
                <a:sym typeface="Public Sans"/>
              </a:rPr>
              <a:t>Whole process, start → confirm (median)</a:t>
            </a:r>
            <a:endParaRPr b="0" i="0" sz="900" u="none" cap="none" strike="noStrike">
              <a:solidFill>
                <a:schemeClr val="dk1"/>
              </a:solidFill>
              <a:latin typeface="Public Sans"/>
              <a:ea typeface="Public Sans"/>
              <a:cs typeface="Public Sans"/>
              <a:sym typeface="Public Sans"/>
            </a:endParaRPr>
          </a:p>
        </p:txBody>
      </p:sp>
      <p:sp>
        <p:nvSpPr>
          <p:cNvPr id="282" name="Google Shape;282;p22"/>
          <p:cNvSpPr/>
          <p:nvPr/>
        </p:nvSpPr>
        <p:spPr>
          <a:xfrm>
            <a:off x="5645750" y="2238968"/>
            <a:ext cx="3002100" cy="36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F4F6"/>
              </a:buClr>
              <a:buSzPts val="2000"/>
              <a:buFont typeface="Rubik"/>
              <a:buNone/>
            </a:pPr>
            <a:r>
              <a:rPr b="1" i="0" lang="en-GB" sz="2000" u="none" cap="none" strike="noStrike">
                <a:solidFill>
                  <a:srgbClr val="F3F4F6"/>
                </a:solidFill>
                <a:latin typeface="Rubik"/>
                <a:ea typeface="Rubik"/>
                <a:cs typeface="Rubik"/>
                <a:sym typeface="Rubik"/>
              </a:rPr>
              <a:t>4:31 → 3:57</a:t>
            </a:r>
            <a:endParaRPr b="0" i="0" sz="2000" u="none" cap="none" strike="noStrike">
              <a:solidFill>
                <a:schemeClr val="dk1"/>
              </a:solidFill>
              <a:latin typeface="Public Sans"/>
              <a:ea typeface="Public Sans"/>
              <a:cs typeface="Public Sans"/>
              <a:sym typeface="Public Sans"/>
            </a:endParaRPr>
          </a:p>
        </p:txBody>
      </p:sp>
      <p:sp>
        <p:nvSpPr>
          <p:cNvPr id="283" name="Google Shape;283;p22"/>
          <p:cNvSpPr/>
          <p:nvPr/>
        </p:nvSpPr>
        <p:spPr>
          <a:xfrm>
            <a:off x="5645750" y="2623763"/>
            <a:ext cx="3002100" cy="18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A0A0"/>
              </a:buClr>
              <a:buSzPts val="900"/>
              <a:buFont typeface="Public Sans"/>
              <a:buNone/>
            </a:pPr>
            <a:r>
              <a:rPr b="0" i="0" lang="en-GB" sz="900" u="none" cap="none" strike="noStrike">
                <a:solidFill>
                  <a:srgbClr val="E6A0A0"/>
                </a:solidFill>
                <a:latin typeface="Public Sans"/>
                <a:ea typeface="Public Sans"/>
                <a:cs typeface="Public Sans"/>
                <a:sym typeface="Public Sans"/>
              </a:rPr>
              <a:t>34 s faster · −12.5 %</a:t>
            </a:r>
            <a:endParaRPr b="0" i="0" sz="900" u="none" cap="none" strike="noStrike">
              <a:solidFill>
                <a:schemeClr val="dk1"/>
              </a:solidFill>
              <a:latin typeface="Public Sans"/>
              <a:ea typeface="Public Sans"/>
              <a:cs typeface="Public Sans"/>
              <a:sym typeface="Public Sans"/>
            </a:endParaRPr>
          </a:p>
        </p:txBody>
      </p:sp>
      <p:sp>
        <p:nvSpPr>
          <p:cNvPr id="284" name="Google Shape;284;p22"/>
          <p:cNvSpPr/>
          <p:nvPr/>
        </p:nvSpPr>
        <p:spPr>
          <a:xfrm>
            <a:off x="5483825" y="3128626"/>
            <a:ext cx="3335700" cy="537000"/>
          </a:xfrm>
          <a:prstGeom prst="rect">
            <a:avLst/>
          </a:prstGeom>
          <a:noFill/>
          <a:ln>
            <a:noFill/>
          </a:ln>
        </p:spPr>
        <p:txBody>
          <a:bodyPr anchorCtr="0" anchor="t" bIns="0" lIns="0" spcFirstLastPara="1" rIns="0" wrap="square" tIns="0">
            <a:noAutofit/>
          </a:bodyPr>
          <a:lstStyle/>
          <a:p>
            <a:pPr indent="0" lvl="0" marL="0" marR="0" rtl="0" algn="l">
              <a:lnSpc>
                <a:spcPct val="14504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Step 1 is slower</a:t>
            </a:r>
            <a:r>
              <a:rPr b="0" i="0" lang="en-GB" sz="900" u="none" cap="none" strike="noStrike">
                <a:solidFill>
                  <a:srgbClr val="4A5563"/>
                </a:solidFill>
                <a:latin typeface="Public Sans"/>
                <a:ea typeface="Public Sans"/>
                <a:cs typeface="Public Sans"/>
                <a:sym typeface="Public Sans"/>
              </a:rPr>
              <a:t> on the new site and older clients take longest there: </a:t>
            </a:r>
            <a:r>
              <a:rPr b="1" i="0" lang="en-GB" sz="900" u="none" cap="none" strike="noStrike">
                <a:solidFill>
                  <a:srgbClr val="4A5563"/>
                </a:solidFill>
                <a:latin typeface="Public Sans"/>
                <a:ea typeface="Public Sans"/>
                <a:cs typeface="Public Sans"/>
                <a:sym typeface="Public Sans"/>
              </a:rPr>
              <a:t>16 s</a:t>
            </a:r>
            <a:r>
              <a:rPr b="0" i="0" lang="en-GB" sz="900" u="none" cap="none" strike="noStrike">
                <a:solidFill>
                  <a:srgbClr val="4A5563"/>
                </a:solidFill>
                <a:latin typeface="Public Sans"/>
                <a:ea typeface="Public Sans"/>
                <a:cs typeface="Public Sans"/>
                <a:sym typeface="Public Sans"/>
              </a:rPr>
              <a:t> (18–39) → </a:t>
            </a:r>
            <a:r>
              <a:rPr b="1" i="0" lang="en-GB" sz="900" u="none" cap="none" strike="noStrike">
                <a:solidFill>
                  <a:srgbClr val="4A5563"/>
                </a:solidFill>
                <a:latin typeface="Public Sans"/>
                <a:ea typeface="Public Sans"/>
                <a:cs typeface="Public Sans"/>
                <a:sym typeface="Public Sans"/>
              </a:rPr>
              <a:t>25 s</a:t>
            </a:r>
            <a:r>
              <a:rPr b="0" i="0" lang="en-GB" sz="900" u="none" cap="none" strike="noStrike">
                <a:solidFill>
                  <a:srgbClr val="4A5563"/>
                </a:solidFill>
                <a:latin typeface="Public Sans"/>
                <a:ea typeface="Public Sans"/>
                <a:cs typeface="Public Sans"/>
                <a:sym typeface="Public Sans"/>
              </a:rPr>
              <a:t> (40–59) → </a:t>
            </a:r>
            <a:r>
              <a:rPr b="1" i="0" lang="en-GB" sz="900" u="none" cap="none" strike="noStrike">
                <a:solidFill>
                  <a:srgbClr val="4A5563"/>
                </a:solidFill>
                <a:latin typeface="Public Sans"/>
                <a:ea typeface="Public Sans"/>
                <a:cs typeface="Public Sans"/>
                <a:sym typeface="Public Sans"/>
              </a:rPr>
              <a:t>35 s</a:t>
            </a:r>
            <a:r>
              <a:rPr b="0" i="0" lang="en-GB" sz="900" u="none" cap="none" strike="noStrike">
                <a:solidFill>
                  <a:srgbClr val="4A5563"/>
                </a:solidFill>
                <a:latin typeface="Public Sans"/>
                <a:ea typeface="Public Sans"/>
                <a:cs typeface="Public Sans"/>
                <a:sym typeface="Public Sans"/>
              </a:rPr>
              <a:t> (60+).</a:t>
            </a:r>
            <a:endParaRPr b="0" i="0" sz="900" u="none" cap="none" strike="noStrike">
              <a:solidFill>
                <a:schemeClr val="dk1"/>
              </a:solidFill>
              <a:latin typeface="Public Sans"/>
              <a:ea typeface="Public Sans"/>
              <a:cs typeface="Public Sans"/>
              <a:sym typeface="Public Sans"/>
            </a:endParaRPr>
          </a:p>
        </p:txBody>
      </p:sp>
      <p:sp>
        <p:nvSpPr>
          <p:cNvPr id="285" name="Google Shape;285;p22"/>
          <p:cNvSpPr/>
          <p:nvPr/>
        </p:nvSpPr>
        <p:spPr>
          <a:xfrm>
            <a:off x="609600" y="4781550"/>
            <a:ext cx="317674"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7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286" name="Google Shape;286;p22"/>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3"/>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3"/>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2 · TIME · BY AGE</a:t>
            </a:r>
            <a:endParaRPr b="0" i="0" sz="900" u="none" cap="none" strike="noStrike">
              <a:solidFill>
                <a:schemeClr val="dk1"/>
              </a:solidFill>
              <a:latin typeface="Public Sans"/>
              <a:ea typeface="Public Sans"/>
              <a:cs typeface="Public Sans"/>
              <a:sym typeface="Public Sans"/>
            </a:endParaRPr>
          </a:p>
        </p:txBody>
      </p:sp>
      <p:sp>
        <p:nvSpPr>
          <p:cNvPr id="294" name="Google Shape;294;p23"/>
          <p:cNvSpPr txBox="1"/>
          <p:nvPr>
            <p:ph type="title"/>
          </p:nvPr>
        </p:nvSpPr>
        <p:spPr>
          <a:xfrm>
            <a:off x="609600" y="760065"/>
            <a:ext cx="8162544" cy="35432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400"/>
              <a:buFont typeface="Rubik"/>
              <a:buNone/>
            </a:pPr>
            <a:r>
              <a:rPr b="1" i="0" lang="en-GB" sz="2400">
                <a:solidFill>
                  <a:srgbClr val="1C2733"/>
                </a:solidFill>
                <a:latin typeface="Rubik"/>
                <a:ea typeface="Rubik"/>
                <a:cs typeface="Rubik"/>
                <a:sym typeface="Rubik"/>
              </a:rPr>
              <a:t>Step 1 takes longer on the new site – for every age</a:t>
            </a:r>
            <a:endParaRPr sz="2400"/>
          </a:p>
        </p:txBody>
      </p:sp>
      <p:sp>
        <p:nvSpPr>
          <p:cNvPr id="295" name="Google Shape;295;p23"/>
          <p:cNvSpPr/>
          <p:nvPr/>
        </p:nvSpPr>
        <p:spPr>
          <a:xfrm>
            <a:off x="609600" y="1285838"/>
            <a:ext cx="441483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Median time after step 1, by age group (seconds)</a:t>
            </a:r>
            <a:endParaRPr b="0" i="0" sz="900" u="none" cap="none" strike="noStrike">
              <a:solidFill>
                <a:schemeClr val="dk1"/>
              </a:solidFill>
              <a:latin typeface="Public Sans"/>
              <a:ea typeface="Public Sans"/>
              <a:cs typeface="Public Sans"/>
              <a:sym typeface="Public Sans"/>
            </a:endParaRPr>
          </a:p>
        </p:txBody>
      </p:sp>
      <p:sp>
        <p:nvSpPr>
          <p:cNvPr id="296" name="Google Shape;296;p23"/>
          <p:cNvSpPr/>
          <p:nvPr/>
        </p:nvSpPr>
        <p:spPr>
          <a:xfrm>
            <a:off x="609600" y="1605818"/>
            <a:ext cx="704850" cy="19239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Under 30</a:t>
            </a:r>
            <a:endParaRPr b="0" i="0" sz="1000" u="none" cap="none" strike="noStrike">
              <a:solidFill>
                <a:schemeClr val="dk1"/>
              </a:solidFill>
              <a:latin typeface="Public Sans"/>
              <a:ea typeface="Public Sans"/>
              <a:cs typeface="Public Sans"/>
              <a:sym typeface="Public Sans"/>
            </a:endParaRPr>
          </a:p>
        </p:txBody>
      </p:sp>
      <p:sp>
        <p:nvSpPr>
          <p:cNvPr id="297" name="Google Shape;297;p23"/>
          <p:cNvSpPr/>
          <p:nvPr/>
        </p:nvSpPr>
        <p:spPr>
          <a:xfrm>
            <a:off x="1371600" y="1542976"/>
            <a:ext cx="666750" cy="123825"/>
          </a:xfrm>
          <a:custGeom>
            <a:rect b="b" l="l" r="r" t="t"/>
            <a:pathLst>
              <a:path extrusionOk="0" h="165100" w="889000">
                <a:moveTo>
                  <a:pt x="0" y="0"/>
                </a:moveTo>
                <a:lnTo>
                  <a:pt x="850900" y="0"/>
                </a:lnTo>
                <a:cubicBezTo>
                  <a:pt x="861005" y="0"/>
                  <a:pt x="870696" y="4014"/>
                  <a:pt x="877841" y="11159"/>
                </a:cubicBezTo>
                <a:cubicBezTo>
                  <a:pt x="884986" y="18304"/>
                  <a:pt x="889000" y="27995"/>
                  <a:pt x="889000" y="38100"/>
                </a:cubicBezTo>
                <a:lnTo>
                  <a:pt x="889000" y="127000"/>
                </a:lnTo>
                <a:cubicBezTo>
                  <a:pt x="889000" y="148042"/>
                  <a:pt x="871942" y="165100"/>
                  <a:pt x="8509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23"/>
          <p:cNvSpPr/>
          <p:nvPr/>
        </p:nvSpPr>
        <p:spPr>
          <a:xfrm>
            <a:off x="2085975" y="1531553"/>
            <a:ext cx="223316"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10 s</a:t>
            </a:r>
            <a:endParaRPr b="0" i="0" sz="800" u="none" cap="none" strike="noStrike">
              <a:solidFill>
                <a:schemeClr val="dk1"/>
              </a:solidFill>
              <a:latin typeface="Public Sans"/>
              <a:ea typeface="Public Sans"/>
              <a:cs typeface="Public Sans"/>
              <a:sym typeface="Public Sans"/>
            </a:endParaRPr>
          </a:p>
        </p:txBody>
      </p:sp>
      <p:sp>
        <p:nvSpPr>
          <p:cNvPr id="299" name="Google Shape;299;p23"/>
          <p:cNvSpPr/>
          <p:nvPr/>
        </p:nvSpPr>
        <p:spPr>
          <a:xfrm>
            <a:off x="1371600" y="1718221"/>
            <a:ext cx="1333500" cy="123825"/>
          </a:xfrm>
          <a:custGeom>
            <a:rect b="b" l="l" r="r" t="t"/>
            <a:pathLst>
              <a:path extrusionOk="0" h="165100" w="1778000">
                <a:moveTo>
                  <a:pt x="0" y="0"/>
                </a:moveTo>
                <a:lnTo>
                  <a:pt x="1739900" y="0"/>
                </a:lnTo>
                <a:cubicBezTo>
                  <a:pt x="1750005" y="0"/>
                  <a:pt x="1759696" y="4014"/>
                  <a:pt x="1766841" y="11159"/>
                </a:cubicBezTo>
                <a:cubicBezTo>
                  <a:pt x="1773986" y="18304"/>
                  <a:pt x="1778000" y="27995"/>
                  <a:pt x="1778000" y="38100"/>
                </a:cubicBezTo>
                <a:lnTo>
                  <a:pt x="1778000" y="127000"/>
                </a:lnTo>
                <a:cubicBezTo>
                  <a:pt x="1778000" y="148042"/>
                  <a:pt x="1760942" y="165100"/>
                  <a:pt x="17399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23"/>
          <p:cNvSpPr/>
          <p:nvPr/>
        </p:nvSpPr>
        <p:spPr>
          <a:xfrm>
            <a:off x="2752725" y="1706798"/>
            <a:ext cx="57609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20 s </a:t>
            </a:r>
            <a:r>
              <a:rPr b="1" i="0" lang="en-GB" sz="800" u="none" cap="none" strike="noStrike">
                <a:solidFill>
                  <a:srgbClr val="8E2525"/>
                </a:solidFill>
                <a:latin typeface="Public Sans"/>
                <a:ea typeface="Public Sans"/>
                <a:cs typeface="Public Sans"/>
                <a:sym typeface="Public Sans"/>
              </a:rPr>
              <a:t>(+10)</a:t>
            </a:r>
            <a:endParaRPr b="0" i="0" sz="800" u="none" cap="none" strike="noStrike">
              <a:solidFill>
                <a:schemeClr val="dk1"/>
              </a:solidFill>
              <a:latin typeface="Public Sans"/>
              <a:ea typeface="Public Sans"/>
              <a:cs typeface="Public Sans"/>
              <a:sym typeface="Public Sans"/>
            </a:endParaRPr>
          </a:p>
        </p:txBody>
      </p:sp>
      <p:sp>
        <p:nvSpPr>
          <p:cNvPr id="301" name="Google Shape;301;p23"/>
          <p:cNvSpPr/>
          <p:nvPr/>
        </p:nvSpPr>
        <p:spPr>
          <a:xfrm>
            <a:off x="609600" y="2013458"/>
            <a:ext cx="704850" cy="19239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30-44</a:t>
            </a:r>
            <a:endParaRPr b="0" i="0" sz="1000" u="none" cap="none" strike="noStrike">
              <a:solidFill>
                <a:schemeClr val="dk1"/>
              </a:solidFill>
              <a:latin typeface="Public Sans"/>
              <a:ea typeface="Public Sans"/>
              <a:cs typeface="Public Sans"/>
              <a:sym typeface="Public Sans"/>
            </a:endParaRPr>
          </a:p>
        </p:txBody>
      </p:sp>
      <p:sp>
        <p:nvSpPr>
          <p:cNvPr id="302" name="Google Shape;302;p23"/>
          <p:cNvSpPr/>
          <p:nvPr/>
        </p:nvSpPr>
        <p:spPr>
          <a:xfrm>
            <a:off x="1371600" y="1950616"/>
            <a:ext cx="933450" cy="123825"/>
          </a:xfrm>
          <a:custGeom>
            <a:rect b="b" l="l" r="r" t="t"/>
            <a:pathLst>
              <a:path extrusionOk="0" h="165100" w="1244600">
                <a:moveTo>
                  <a:pt x="0" y="0"/>
                </a:moveTo>
                <a:lnTo>
                  <a:pt x="1206500" y="0"/>
                </a:lnTo>
                <a:cubicBezTo>
                  <a:pt x="1216605" y="0"/>
                  <a:pt x="1226296" y="4014"/>
                  <a:pt x="1233441" y="11159"/>
                </a:cubicBezTo>
                <a:cubicBezTo>
                  <a:pt x="1240586" y="18304"/>
                  <a:pt x="1244600" y="27995"/>
                  <a:pt x="1244600" y="38100"/>
                </a:cubicBezTo>
                <a:lnTo>
                  <a:pt x="1244600" y="127000"/>
                </a:lnTo>
                <a:cubicBezTo>
                  <a:pt x="1244600" y="148042"/>
                  <a:pt x="1227542" y="165100"/>
                  <a:pt x="12065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23"/>
          <p:cNvSpPr/>
          <p:nvPr/>
        </p:nvSpPr>
        <p:spPr>
          <a:xfrm>
            <a:off x="2352675" y="1939193"/>
            <a:ext cx="225028"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14 s</a:t>
            </a:r>
            <a:endParaRPr b="0" i="0" sz="800" u="none" cap="none" strike="noStrike">
              <a:solidFill>
                <a:schemeClr val="dk1"/>
              </a:solidFill>
              <a:latin typeface="Public Sans"/>
              <a:ea typeface="Public Sans"/>
              <a:cs typeface="Public Sans"/>
              <a:sym typeface="Public Sans"/>
            </a:endParaRPr>
          </a:p>
        </p:txBody>
      </p:sp>
      <p:sp>
        <p:nvSpPr>
          <p:cNvPr id="304" name="Google Shape;304;p23"/>
          <p:cNvSpPr/>
          <p:nvPr/>
        </p:nvSpPr>
        <p:spPr>
          <a:xfrm>
            <a:off x="1371600" y="2125861"/>
            <a:ext cx="1400175" cy="123825"/>
          </a:xfrm>
          <a:custGeom>
            <a:rect b="b" l="l" r="r" t="t"/>
            <a:pathLst>
              <a:path extrusionOk="0" h="165100" w="1866900">
                <a:moveTo>
                  <a:pt x="0" y="0"/>
                </a:moveTo>
                <a:lnTo>
                  <a:pt x="1828800" y="0"/>
                </a:lnTo>
                <a:cubicBezTo>
                  <a:pt x="1838905" y="0"/>
                  <a:pt x="1848596" y="4014"/>
                  <a:pt x="1855741" y="11159"/>
                </a:cubicBezTo>
                <a:cubicBezTo>
                  <a:pt x="1862886" y="18304"/>
                  <a:pt x="1866900" y="27995"/>
                  <a:pt x="1866900" y="38100"/>
                </a:cubicBezTo>
                <a:lnTo>
                  <a:pt x="1866900" y="127000"/>
                </a:lnTo>
                <a:cubicBezTo>
                  <a:pt x="1866900" y="148042"/>
                  <a:pt x="1849842" y="165100"/>
                  <a:pt x="18288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5" name="Google Shape;305;p23"/>
          <p:cNvSpPr/>
          <p:nvPr/>
        </p:nvSpPr>
        <p:spPr>
          <a:xfrm>
            <a:off x="2819400" y="2114438"/>
            <a:ext cx="498857"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21 s </a:t>
            </a:r>
            <a:r>
              <a:rPr b="1" i="0" lang="en-GB" sz="800" u="none" cap="none" strike="noStrike">
                <a:solidFill>
                  <a:srgbClr val="8E2525"/>
                </a:solidFill>
                <a:latin typeface="Public Sans"/>
                <a:ea typeface="Public Sans"/>
                <a:cs typeface="Public Sans"/>
                <a:sym typeface="Public Sans"/>
              </a:rPr>
              <a:t>(+7)</a:t>
            </a:r>
            <a:endParaRPr b="0" i="0" sz="800" u="none" cap="none" strike="noStrike">
              <a:solidFill>
                <a:schemeClr val="dk1"/>
              </a:solidFill>
              <a:latin typeface="Public Sans"/>
              <a:ea typeface="Public Sans"/>
              <a:cs typeface="Public Sans"/>
              <a:sym typeface="Public Sans"/>
            </a:endParaRPr>
          </a:p>
        </p:txBody>
      </p:sp>
      <p:sp>
        <p:nvSpPr>
          <p:cNvPr id="306" name="Google Shape;306;p23"/>
          <p:cNvSpPr/>
          <p:nvPr/>
        </p:nvSpPr>
        <p:spPr>
          <a:xfrm>
            <a:off x="609600" y="2421099"/>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45-59</a:t>
            </a:r>
            <a:endParaRPr b="0" i="0" sz="1000" u="none" cap="none" strike="noStrike">
              <a:solidFill>
                <a:schemeClr val="dk1"/>
              </a:solidFill>
              <a:latin typeface="Public Sans"/>
              <a:ea typeface="Public Sans"/>
              <a:cs typeface="Public Sans"/>
              <a:sym typeface="Public Sans"/>
            </a:endParaRPr>
          </a:p>
        </p:txBody>
      </p:sp>
      <p:sp>
        <p:nvSpPr>
          <p:cNvPr id="307" name="Google Shape;307;p23"/>
          <p:cNvSpPr/>
          <p:nvPr/>
        </p:nvSpPr>
        <p:spPr>
          <a:xfrm>
            <a:off x="1371600" y="2358256"/>
            <a:ext cx="1666875" cy="123825"/>
          </a:xfrm>
          <a:custGeom>
            <a:rect b="b" l="l" r="r" t="t"/>
            <a:pathLst>
              <a:path extrusionOk="0" h="165100" w="2222500">
                <a:moveTo>
                  <a:pt x="0" y="0"/>
                </a:moveTo>
                <a:lnTo>
                  <a:pt x="2184400" y="0"/>
                </a:lnTo>
                <a:cubicBezTo>
                  <a:pt x="2194505" y="0"/>
                  <a:pt x="2204196" y="4014"/>
                  <a:pt x="2211341" y="11159"/>
                </a:cubicBezTo>
                <a:cubicBezTo>
                  <a:pt x="2218486" y="18304"/>
                  <a:pt x="2222500" y="27995"/>
                  <a:pt x="2222500" y="38100"/>
                </a:cubicBezTo>
                <a:lnTo>
                  <a:pt x="2222500" y="127000"/>
                </a:lnTo>
                <a:cubicBezTo>
                  <a:pt x="2222500" y="148042"/>
                  <a:pt x="2205442" y="165100"/>
                  <a:pt x="21844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23"/>
          <p:cNvSpPr/>
          <p:nvPr/>
        </p:nvSpPr>
        <p:spPr>
          <a:xfrm>
            <a:off x="3086100" y="2346833"/>
            <a:ext cx="24962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25 s</a:t>
            </a:r>
            <a:endParaRPr b="0" i="0" sz="800" u="none" cap="none" strike="noStrike">
              <a:solidFill>
                <a:schemeClr val="dk1"/>
              </a:solidFill>
              <a:latin typeface="Public Sans"/>
              <a:ea typeface="Public Sans"/>
              <a:cs typeface="Public Sans"/>
              <a:sym typeface="Public Sans"/>
            </a:endParaRPr>
          </a:p>
        </p:txBody>
      </p:sp>
      <p:sp>
        <p:nvSpPr>
          <p:cNvPr id="309" name="Google Shape;309;p23"/>
          <p:cNvSpPr/>
          <p:nvPr/>
        </p:nvSpPr>
        <p:spPr>
          <a:xfrm>
            <a:off x="1371600" y="2533502"/>
            <a:ext cx="1866900" cy="123825"/>
          </a:xfrm>
          <a:custGeom>
            <a:rect b="b" l="l" r="r" t="t"/>
            <a:pathLst>
              <a:path extrusionOk="0" h="165100" w="2489200">
                <a:moveTo>
                  <a:pt x="0" y="0"/>
                </a:moveTo>
                <a:lnTo>
                  <a:pt x="2451100" y="0"/>
                </a:lnTo>
                <a:cubicBezTo>
                  <a:pt x="2461205" y="0"/>
                  <a:pt x="2470896" y="4014"/>
                  <a:pt x="2478041" y="11159"/>
                </a:cubicBezTo>
                <a:cubicBezTo>
                  <a:pt x="2485186" y="18304"/>
                  <a:pt x="2489200" y="27995"/>
                  <a:pt x="2489200" y="38100"/>
                </a:cubicBezTo>
                <a:lnTo>
                  <a:pt x="2489200" y="127000"/>
                </a:lnTo>
                <a:cubicBezTo>
                  <a:pt x="2489200" y="148042"/>
                  <a:pt x="2472142" y="165100"/>
                  <a:pt x="24511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23"/>
          <p:cNvSpPr/>
          <p:nvPr/>
        </p:nvSpPr>
        <p:spPr>
          <a:xfrm>
            <a:off x="3286125" y="2522078"/>
            <a:ext cx="528102"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28 s </a:t>
            </a:r>
            <a:r>
              <a:rPr b="1" i="0" lang="en-GB" sz="800" u="none" cap="none" strike="noStrike">
                <a:solidFill>
                  <a:srgbClr val="8E2525"/>
                </a:solidFill>
                <a:latin typeface="Public Sans"/>
                <a:ea typeface="Public Sans"/>
                <a:cs typeface="Public Sans"/>
                <a:sym typeface="Public Sans"/>
              </a:rPr>
              <a:t>(+3)</a:t>
            </a:r>
            <a:endParaRPr b="0" i="0" sz="800" u="none" cap="none" strike="noStrike">
              <a:solidFill>
                <a:schemeClr val="dk1"/>
              </a:solidFill>
              <a:latin typeface="Public Sans"/>
              <a:ea typeface="Public Sans"/>
              <a:cs typeface="Public Sans"/>
              <a:sym typeface="Public Sans"/>
            </a:endParaRPr>
          </a:p>
        </p:txBody>
      </p:sp>
      <p:sp>
        <p:nvSpPr>
          <p:cNvPr id="311" name="Google Shape;311;p23"/>
          <p:cNvSpPr/>
          <p:nvPr/>
        </p:nvSpPr>
        <p:spPr>
          <a:xfrm>
            <a:off x="609600" y="2828739"/>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60-74</a:t>
            </a:r>
            <a:endParaRPr b="0" i="0" sz="1000" u="none" cap="none" strike="noStrike">
              <a:solidFill>
                <a:schemeClr val="dk1"/>
              </a:solidFill>
              <a:latin typeface="Public Sans"/>
              <a:ea typeface="Public Sans"/>
              <a:cs typeface="Public Sans"/>
              <a:sym typeface="Public Sans"/>
            </a:endParaRPr>
          </a:p>
        </p:txBody>
      </p:sp>
      <p:sp>
        <p:nvSpPr>
          <p:cNvPr id="312" name="Google Shape;312;p23"/>
          <p:cNvSpPr/>
          <p:nvPr/>
        </p:nvSpPr>
        <p:spPr>
          <a:xfrm>
            <a:off x="1371600" y="2765897"/>
            <a:ext cx="2266950" cy="123825"/>
          </a:xfrm>
          <a:custGeom>
            <a:rect b="b" l="l" r="r" t="t"/>
            <a:pathLst>
              <a:path extrusionOk="0" h="165100" w="3022600">
                <a:moveTo>
                  <a:pt x="0" y="0"/>
                </a:moveTo>
                <a:lnTo>
                  <a:pt x="2984500" y="0"/>
                </a:lnTo>
                <a:cubicBezTo>
                  <a:pt x="2994605" y="0"/>
                  <a:pt x="3004296" y="4014"/>
                  <a:pt x="3011441" y="11159"/>
                </a:cubicBezTo>
                <a:cubicBezTo>
                  <a:pt x="3018586" y="18304"/>
                  <a:pt x="3022600" y="27995"/>
                  <a:pt x="3022600" y="38100"/>
                </a:cubicBezTo>
                <a:lnTo>
                  <a:pt x="3022600" y="127000"/>
                </a:lnTo>
                <a:cubicBezTo>
                  <a:pt x="3022600" y="148042"/>
                  <a:pt x="3005542" y="165100"/>
                  <a:pt x="29845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23"/>
          <p:cNvSpPr/>
          <p:nvPr/>
        </p:nvSpPr>
        <p:spPr>
          <a:xfrm>
            <a:off x="3686175" y="2754474"/>
            <a:ext cx="25217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34 s</a:t>
            </a:r>
            <a:endParaRPr b="0" i="0" sz="800" u="none" cap="none" strike="noStrike">
              <a:solidFill>
                <a:schemeClr val="dk1"/>
              </a:solidFill>
              <a:latin typeface="Public Sans"/>
              <a:ea typeface="Public Sans"/>
              <a:cs typeface="Public Sans"/>
              <a:sym typeface="Public Sans"/>
            </a:endParaRPr>
          </a:p>
        </p:txBody>
      </p:sp>
      <p:sp>
        <p:nvSpPr>
          <p:cNvPr id="314" name="Google Shape;314;p23"/>
          <p:cNvSpPr/>
          <p:nvPr/>
        </p:nvSpPr>
        <p:spPr>
          <a:xfrm>
            <a:off x="1371600" y="2941142"/>
            <a:ext cx="2333625" cy="123825"/>
          </a:xfrm>
          <a:custGeom>
            <a:rect b="b" l="l" r="r" t="t"/>
            <a:pathLst>
              <a:path extrusionOk="0" h="165100" w="3111500">
                <a:moveTo>
                  <a:pt x="0" y="0"/>
                </a:moveTo>
                <a:lnTo>
                  <a:pt x="3073400" y="0"/>
                </a:lnTo>
                <a:cubicBezTo>
                  <a:pt x="3083505" y="0"/>
                  <a:pt x="3093196" y="4014"/>
                  <a:pt x="3100341" y="11159"/>
                </a:cubicBezTo>
                <a:cubicBezTo>
                  <a:pt x="3107486" y="18304"/>
                  <a:pt x="3111500" y="27995"/>
                  <a:pt x="3111500" y="38100"/>
                </a:cubicBezTo>
                <a:lnTo>
                  <a:pt x="3111500" y="127000"/>
                </a:lnTo>
                <a:cubicBezTo>
                  <a:pt x="3111500" y="148042"/>
                  <a:pt x="3094442" y="165100"/>
                  <a:pt x="30734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5" name="Google Shape;315;p23"/>
          <p:cNvSpPr/>
          <p:nvPr/>
        </p:nvSpPr>
        <p:spPr>
          <a:xfrm>
            <a:off x="3752850" y="2929719"/>
            <a:ext cx="502563"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35 s </a:t>
            </a:r>
            <a:r>
              <a:rPr b="1" i="0" lang="en-GB" sz="800" u="none" cap="none" strike="noStrike">
                <a:solidFill>
                  <a:srgbClr val="8E2525"/>
                </a:solidFill>
                <a:latin typeface="Public Sans"/>
                <a:ea typeface="Public Sans"/>
                <a:cs typeface="Public Sans"/>
                <a:sym typeface="Public Sans"/>
              </a:rPr>
              <a:t>(+1)</a:t>
            </a:r>
            <a:endParaRPr b="0" i="0" sz="800" u="none" cap="none" strike="noStrike">
              <a:solidFill>
                <a:schemeClr val="dk1"/>
              </a:solidFill>
              <a:latin typeface="Public Sans"/>
              <a:ea typeface="Public Sans"/>
              <a:cs typeface="Public Sans"/>
              <a:sym typeface="Public Sans"/>
            </a:endParaRPr>
          </a:p>
        </p:txBody>
      </p:sp>
      <p:sp>
        <p:nvSpPr>
          <p:cNvPr id="316" name="Google Shape;316;p23"/>
          <p:cNvSpPr/>
          <p:nvPr/>
        </p:nvSpPr>
        <p:spPr>
          <a:xfrm>
            <a:off x="609600" y="3236379"/>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75+</a:t>
            </a:r>
            <a:endParaRPr b="0" i="0" sz="1000" u="none" cap="none" strike="noStrike">
              <a:solidFill>
                <a:schemeClr val="dk1"/>
              </a:solidFill>
              <a:latin typeface="Public Sans"/>
              <a:ea typeface="Public Sans"/>
              <a:cs typeface="Public Sans"/>
              <a:sym typeface="Public Sans"/>
            </a:endParaRPr>
          </a:p>
        </p:txBody>
      </p:sp>
      <p:sp>
        <p:nvSpPr>
          <p:cNvPr id="317" name="Google Shape;317;p23"/>
          <p:cNvSpPr/>
          <p:nvPr/>
        </p:nvSpPr>
        <p:spPr>
          <a:xfrm>
            <a:off x="1371600" y="3173537"/>
            <a:ext cx="2733675" cy="123825"/>
          </a:xfrm>
          <a:custGeom>
            <a:rect b="b" l="l" r="r" t="t"/>
            <a:pathLst>
              <a:path extrusionOk="0" h="165100" w="3644900">
                <a:moveTo>
                  <a:pt x="0" y="0"/>
                </a:moveTo>
                <a:lnTo>
                  <a:pt x="3606800" y="0"/>
                </a:lnTo>
                <a:cubicBezTo>
                  <a:pt x="3616905" y="0"/>
                  <a:pt x="3626596" y="4014"/>
                  <a:pt x="3633741" y="11159"/>
                </a:cubicBezTo>
                <a:cubicBezTo>
                  <a:pt x="3640886" y="18304"/>
                  <a:pt x="3644900" y="27995"/>
                  <a:pt x="3644900" y="38100"/>
                </a:cubicBezTo>
                <a:lnTo>
                  <a:pt x="3644900" y="127000"/>
                </a:lnTo>
                <a:cubicBezTo>
                  <a:pt x="3644900" y="148042"/>
                  <a:pt x="3627842" y="165100"/>
                  <a:pt x="36068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8" name="Google Shape;318;p23"/>
          <p:cNvSpPr/>
          <p:nvPr/>
        </p:nvSpPr>
        <p:spPr>
          <a:xfrm>
            <a:off x="4152900" y="3162114"/>
            <a:ext cx="22502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41 s</a:t>
            </a:r>
            <a:endParaRPr b="0" i="0" sz="800" u="none" cap="none" strike="noStrike">
              <a:solidFill>
                <a:schemeClr val="dk1"/>
              </a:solidFill>
              <a:latin typeface="Public Sans"/>
              <a:ea typeface="Public Sans"/>
              <a:cs typeface="Public Sans"/>
              <a:sym typeface="Public Sans"/>
            </a:endParaRPr>
          </a:p>
        </p:txBody>
      </p:sp>
      <p:sp>
        <p:nvSpPr>
          <p:cNvPr id="319" name="Google Shape;319;p23"/>
          <p:cNvSpPr/>
          <p:nvPr/>
        </p:nvSpPr>
        <p:spPr>
          <a:xfrm>
            <a:off x="1371600" y="3348782"/>
            <a:ext cx="2933700" cy="123825"/>
          </a:xfrm>
          <a:custGeom>
            <a:rect b="b" l="l" r="r" t="t"/>
            <a:pathLst>
              <a:path extrusionOk="0" h="165100" w="3911600">
                <a:moveTo>
                  <a:pt x="0" y="0"/>
                </a:moveTo>
                <a:lnTo>
                  <a:pt x="3873500" y="0"/>
                </a:lnTo>
                <a:cubicBezTo>
                  <a:pt x="3883605" y="0"/>
                  <a:pt x="3893296" y="4014"/>
                  <a:pt x="3900441" y="11159"/>
                </a:cubicBezTo>
                <a:cubicBezTo>
                  <a:pt x="3907586" y="18304"/>
                  <a:pt x="3911600" y="27995"/>
                  <a:pt x="3911600" y="38100"/>
                </a:cubicBezTo>
                <a:lnTo>
                  <a:pt x="3911600" y="127000"/>
                </a:lnTo>
                <a:cubicBezTo>
                  <a:pt x="3911600" y="148042"/>
                  <a:pt x="3894542" y="165100"/>
                  <a:pt x="38735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0" name="Google Shape;320;p23"/>
          <p:cNvSpPr/>
          <p:nvPr/>
        </p:nvSpPr>
        <p:spPr>
          <a:xfrm>
            <a:off x="4352925" y="3337359"/>
            <a:ext cx="52890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44 s </a:t>
            </a:r>
            <a:r>
              <a:rPr b="1" i="0" lang="en-GB" sz="800" u="none" cap="none" strike="noStrike">
                <a:solidFill>
                  <a:srgbClr val="8E2525"/>
                </a:solidFill>
                <a:latin typeface="Public Sans"/>
                <a:ea typeface="Public Sans"/>
                <a:cs typeface="Public Sans"/>
                <a:sym typeface="Public Sans"/>
              </a:rPr>
              <a:t>(+3)</a:t>
            </a:r>
            <a:endParaRPr b="0" i="0" sz="800" u="none" cap="none" strike="noStrike">
              <a:solidFill>
                <a:schemeClr val="dk1"/>
              </a:solidFill>
              <a:latin typeface="Public Sans"/>
              <a:ea typeface="Public Sans"/>
              <a:cs typeface="Public Sans"/>
              <a:sym typeface="Public Sans"/>
            </a:endParaRPr>
          </a:p>
        </p:txBody>
      </p:sp>
      <p:sp>
        <p:nvSpPr>
          <p:cNvPr id="321" name="Google Shape;321;p23"/>
          <p:cNvSpPr/>
          <p:nvPr/>
        </p:nvSpPr>
        <p:spPr>
          <a:xfrm>
            <a:off x="609600" y="3587837"/>
            <a:ext cx="123825" cy="123825"/>
          </a:xfrm>
          <a:prstGeom prst="roundRect">
            <a:avLst>
              <a:gd fmla="val 15385"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3"/>
          <p:cNvSpPr/>
          <p:nvPr/>
        </p:nvSpPr>
        <p:spPr>
          <a:xfrm>
            <a:off x="781050" y="3569754"/>
            <a:ext cx="1231925"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Control · old website</a:t>
            </a:r>
            <a:endParaRPr b="0" i="0" sz="900" u="none" cap="none" strike="noStrike">
              <a:solidFill>
                <a:schemeClr val="dk1"/>
              </a:solidFill>
              <a:latin typeface="Public Sans"/>
              <a:ea typeface="Public Sans"/>
              <a:cs typeface="Public Sans"/>
              <a:sym typeface="Public Sans"/>
            </a:endParaRPr>
          </a:p>
        </p:txBody>
      </p:sp>
      <p:sp>
        <p:nvSpPr>
          <p:cNvPr id="323" name="Google Shape;323;p23"/>
          <p:cNvSpPr/>
          <p:nvPr/>
        </p:nvSpPr>
        <p:spPr>
          <a:xfrm>
            <a:off x="2012975" y="3587837"/>
            <a:ext cx="123825" cy="123825"/>
          </a:xfrm>
          <a:prstGeom prst="roundRect">
            <a:avLst>
              <a:gd fmla="val 15385" name="adj"/>
            </a:avLst>
          </a:pr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4" name="Google Shape;324;p23"/>
          <p:cNvSpPr/>
          <p:nvPr/>
        </p:nvSpPr>
        <p:spPr>
          <a:xfrm>
            <a:off x="2184425" y="3569754"/>
            <a:ext cx="115960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Test · new website</a:t>
            </a:r>
            <a:endParaRPr b="0" i="0" sz="900" u="none" cap="none" strike="noStrike">
              <a:solidFill>
                <a:schemeClr val="dk1"/>
              </a:solidFill>
              <a:latin typeface="Public Sans"/>
              <a:ea typeface="Public Sans"/>
              <a:cs typeface="Public Sans"/>
              <a:sym typeface="Public Sans"/>
            </a:endParaRPr>
          </a:p>
        </p:txBody>
      </p:sp>
      <p:sp>
        <p:nvSpPr>
          <p:cNvPr id="325" name="Google Shape;325;p23"/>
          <p:cNvSpPr/>
          <p:nvPr/>
        </p:nvSpPr>
        <p:spPr>
          <a:xfrm>
            <a:off x="5200650" y="2360823"/>
            <a:ext cx="3433763" cy="405706"/>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100"/>
              <a:buFont typeface="Public Sans"/>
              <a:buNone/>
            </a:pPr>
            <a:r>
              <a:rPr b="1" i="0" lang="en-GB" sz="1100" u="none" cap="none" strike="noStrike">
                <a:solidFill>
                  <a:srgbClr val="4A5563"/>
                </a:solidFill>
                <a:latin typeface="Public Sans"/>
                <a:ea typeface="Public Sans"/>
                <a:cs typeface="Public Sans"/>
                <a:sym typeface="Public Sans"/>
              </a:rPr>
              <a:t>Age matters most:</a:t>
            </a:r>
            <a:r>
              <a:rPr b="0" i="0" lang="en-GB" sz="1100" u="none" cap="none" strike="noStrike">
                <a:solidFill>
                  <a:srgbClr val="4A5563"/>
                </a:solidFill>
                <a:latin typeface="Public Sans"/>
                <a:ea typeface="Public Sans"/>
                <a:cs typeface="Public Sans"/>
                <a:sym typeface="Public Sans"/>
              </a:rPr>
              <a:t> clients over 75 take about </a:t>
            </a:r>
            <a:r>
              <a:rPr b="1" i="0" lang="en-GB" sz="1100" u="none" cap="none" strike="noStrike">
                <a:solidFill>
                  <a:srgbClr val="4A5563"/>
                </a:solidFill>
                <a:latin typeface="Public Sans"/>
                <a:ea typeface="Public Sans"/>
                <a:cs typeface="Public Sans"/>
                <a:sym typeface="Public Sans"/>
              </a:rPr>
              <a:t>4×</a:t>
            </a:r>
            <a:r>
              <a:rPr b="0" i="0" lang="en-GB" sz="1100" u="none" cap="none" strike="noStrike">
                <a:solidFill>
                  <a:srgbClr val="4A5563"/>
                </a:solidFill>
                <a:latin typeface="Public Sans"/>
                <a:ea typeface="Public Sans"/>
                <a:cs typeface="Public Sans"/>
                <a:sym typeface="Public Sans"/>
              </a:rPr>
              <a:t> longer than under-30s (41 s vs 10 s on the old site).</a:t>
            </a:r>
            <a:endParaRPr b="0" i="0" sz="1100" u="none" cap="none" strike="noStrike">
              <a:solidFill>
                <a:schemeClr val="dk1"/>
              </a:solidFill>
              <a:latin typeface="Public Sans"/>
              <a:ea typeface="Public Sans"/>
              <a:cs typeface="Public Sans"/>
              <a:sym typeface="Public Sans"/>
            </a:endParaRPr>
          </a:p>
        </p:txBody>
      </p:sp>
      <p:sp>
        <p:nvSpPr>
          <p:cNvPr id="326" name="Google Shape;326;p23"/>
          <p:cNvSpPr/>
          <p:nvPr/>
        </p:nvSpPr>
        <p:spPr>
          <a:xfrm>
            <a:off x="5200650" y="2871304"/>
            <a:ext cx="3433763" cy="405706"/>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The new site adds time at step 1 in </a:t>
            </a:r>
            <a:r>
              <a:rPr b="1" i="0" lang="en-GB" sz="1100" u="none" cap="none" strike="noStrike">
                <a:solidFill>
                  <a:srgbClr val="8E2525"/>
                </a:solidFill>
                <a:latin typeface="Public Sans"/>
                <a:ea typeface="Public Sans"/>
                <a:cs typeface="Public Sans"/>
                <a:sym typeface="Public Sans"/>
              </a:rPr>
              <a:t>every</a:t>
            </a:r>
            <a:r>
              <a:rPr b="0" i="0" lang="en-GB" sz="1100" u="none" cap="none" strike="noStrike">
                <a:solidFill>
                  <a:srgbClr val="4A5563"/>
                </a:solidFill>
                <a:latin typeface="Public Sans"/>
                <a:ea typeface="Public Sans"/>
                <a:cs typeface="Public Sans"/>
                <a:sym typeface="Public Sans"/>
              </a:rPr>
              <a:t> age group – most for the youngest (+10 s), least for 60–74 (+1 s).</a:t>
            </a:r>
            <a:endParaRPr b="0" i="0" sz="1100" u="none" cap="none" strike="noStrike">
              <a:solidFill>
                <a:schemeClr val="dk1"/>
              </a:solidFill>
              <a:latin typeface="Public Sans"/>
              <a:ea typeface="Public Sans"/>
              <a:cs typeface="Public Sans"/>
              <a:sym typeface="Public Sans"/>
            </a:endParaRPr>
          </a:p>
        </p:txBody>
      </p:sp>
      <p:sp>
        <p:nvSpPr>
          <p:cNvPr id="327" name="Google Shape;327;p23"/>
          <p:cNvSpPr/>
          <p:nvPr/>
        </p:nvSpPr>
        <p:spPr>
          <a:xfrm>
            <a:off x="609600" y="4781550"/>
            <a:ext cx="32338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8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328" name="Google Shape;328;p23"/>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33" name="Shape 333"/>
        <p:cNvGrpSpPr/>
        <p:nvPr/>
      </p:nvGrpSpPr>
      <p:grpSpPr>
        <a:xfrm>
          <a:off x="0" y="0"/>
          <a:ext cx="0" cy="0"/>
          <a:chOff x="0" y="0"/>
          <a:chExt cx="0" cy="0"/>
        </a:xfrm>
      </p:grpSpPr>
      <p:sp>
        <p:nvSpPr>
          <p:cNvPr id="334" name="Google Shape;334;p24"/>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5" name="Google Shape;335;p24"/>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3 · ERROR RATE · OVERALL</a:t>
            </a:r>
            <a:endParaRPr b="0" i="0" sz="900" u="none" cap="none" strike="noStrike">
              <a:solidFill>
                <a:schemeClr val="dk1"/>
              </a:solidFill>
              <a:latin typeface="Public Sans"/>
              <a:ea typeface="Public Sans"/>
              <a:cs typeface="Public Sans"/>
              <a:sym typeface="Public Sans"/>
            </a:endParaRPr>
          </a:p>
        </p:txBody>
      </p:sp>
      <p:sp>
        <p:nvSpPr>
          <p:cNvPr id="336" name="Google Shape;336;p24"/>
          <p:cNvSpPr txBox="1"/>
          <p:nvPr>
            <p:ph type="title"/>
          </p:nvPr>
        </p:nvSpPr>
        <p:spPr>
          <a:xfrm>
            <a:off x="609600" y="760065"/>
            <a:ext cx="8162544" cy="35432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400"/>
              <a:buFont typeface="Rubik"/>
              <a:buNone/>
            </a:pPr>
            <a:r>
              <a:rPr b="1" i="0" lang="en-GB" sz="2400">
                <a:solidFill>
                  <a:srgbClr val="1C2733"/>
                </a:solidFill>
                <a:latin typeface="Rubik"/>
                <a:ea typeface="Rubik"/>
                <a:cs typeface="Rubik"/>
                <a:sym typeface="Rubik"/>
              </a:rPr>
              <a:t>Clients go back more on the new website</a:t>
            </a:r>
            <a:endParaRPr sz="2400"/>
          </a:p>
        </p:txBody>
      </p:sp>
      <p:sp>
        <p:nvSpPr>
          <p:cNvPr id="337" name="Google Shape;337;p24"/>
          <p:cNvSpPr/>
          <p:nvPr/>
        </p:nvSpPr>
        <p:spPr>
          <a:xfrm>
            <a:off x="609600" y="1669294"/>
            <a:ext cx="3728085" cy="41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KPI = % of steps where a client goes </a:t>
            </a:r>
            <a:r>
              <a:rPr b="1" i="0" lang="en-GB" sz="1100" u="none" cap="none" strike="noStrike">
                <a:solidFill>
                  <a:srgbClr val="4A5563"/>
                </a:solidFill>
                <a:latin typeface="Public Sans"/>
                <a:ea typeface="Public Sans"/>
                <a:cs typeface="Public Sans"/>
                <a:sym typeface="Public Sans"/>
              </a:rPr>
              <a:t>back</a:t>
            </a:r>
            <a:r>
              <a:rPr b="0" i="0" lang="en-GB" sz="1100" u="none" cap="none" strike="noStrike">
                <a:solidFill>
                  <a:srgbClr val="4A5563"/>
                </a:solidFill>
                <a:latin typeface="Public Sans"/>
                <a:ea typeface="Public Sans"/>
                <a:cs typeface="Public Sans"/>
                <a:sym typeface="Public Sans"/>
              </a:rPr>
              <a:t> to a previous step instead of forward – a sign of confusion.</a:t>
            </a:r>
            <a:endParaRPr b="0" i="0" sz="1100" u="none" cap="none" strike="noStrike">
              <a:solidFill>
                <a:schemeClr val="dk1"/>
              </a:solidFill>
              <a:latin typeface="Public Sans"/>
              <a:ea typeface="Public Sans"/>
              <a:cs typeface="Public Sans"/>
              <a:sym typeface="Public Sans"/>
            </a:endParaRPr>
          </a:p>
        </p:txBody>
      </p:sp>
      <p:sp>
        <p:nvSpPr>
          <p:cNvPr id="338" name="Google Shape;338;p24"/>
          <p:cNvSpPr/>
          <p:nvPr/>
        </p:nvSpPr>
        <p:spPr>
          <a:xfrm>
            <a:off x="609600" y="2231269"/>
            <a:ext cx="1080455" cy="6591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3600"/>
              <a:buFont typeface="Rubik"/>
              <a:buNone/>
            </a:pPr>
            <a:r>
              <a:rPr b="1" i="0" lang="en-GB" sz="3600" u="none" cap="none" strike="noStrike">
                <a:solidFill>
                  <a:srgbClr val="8E2525"/>
                </a:solidFill>
                <a:latin typeface="Rubik"/>
                <a:ea typeface="Rubik"/>
                <a:cs typeface="Rubik"/>
                <a:sym typeface="Rubik"/>
              </a:rPr>
              <a:t>+3.3</a:t>
            </a:r>
            <a:endParaRPr b="0" i="0" sz="3600" u="none" cap="none" strike="noStrike">
              <a:solidFill>
                <a:schemeClr val="dk1"/>
              </a:solidFill>
              <a:latin typeface="Public Sans"/>
              <a:ea typeface="Public Sans"/>
              <a:cs typeface="Public Sans"/>
              <a:sym typeface="Public Sans"/>
            </a:endParaRPr>
          </a:p>
        </p:txBody>
      </p:sp>
      <p:sp>
        <p:nvSpPr>
          <p:cNvPr id="339" name="Google Shape;339;p24"/>
          <p:cNvSpPr/>
          <p:nvPr/>
        </p:nvSpPr>
        <p:spPr>
          <a:xfrm>
            <a:off x="609600" y="2890391"/>
            <a:ext cx="1080455"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percentage points</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11.5 − 8.3</a:t>
            </a:r>
            <a:endParaRPr b="0" i="0" sz="1000" u="none" cap="none" strike="noStrike">
              <a:solidFill>
                <a:schemeClr val="dk1"/>
              </a:solidFill>
              <a:latin typeface="Public Sans"/>
              <a:ea typeface="Public Sans"/>
              <a:cs typeface="Public Sans"/>
              <a:sym typeface="Public Sans"/>
            </a:endParaRPr>
          </a:p>
        </p:txBody>
      </p:sp>
      <p:sp>
        <p:nvSpPr>
          <p:cNvPr id="340" name="Google Shape;340;p24"/>
          <p:cNvSpPr/>
          <p:nvPr/>
        </p:nvSpPr>
        <p:spPr>
          <a:xfrm>
            <a:off x="1918655" y="2231269"/>
            <a:ext cx="1624846" cy="65912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3600"/>
              <a:buFont typeface="Rubik"/>
              <a:buNone/>
            </a:pPr>
            <a:r>
              <a:rPr b="1" i="0" lang="en-GB" sz="3600" u="none" cap="none" strike="noStrike">
                <a:solidFill>
                  <a:srgbClr val="8E2525"/>
                </a:solidFill>
                <a:latin typeface="Rubik"/>
                <a:ea typeface="Rubik"/>
                <a:cs typeface="Rubik"/>
                <a:sym typeface="Rubik"/>
              </a:rPr>
              <a:t>+40 %</a:t>
            </a:r>
            <a:endParaRPr b="0" i="0" sz="3600" u="none" cap="none" strike="noStrike">
              <a:solidFill>
                <a:schemeClr val="dk1"/>
              </a:solidFill>
              <a:latin typeface="Public Sans"/>
              <a:ea typeface="Public Sans"/>
              <a:cs typeface="Public Sans"/>
              <a:sym typeface="Public Sans"/>
            </a:endParaRPr>
          </a:p>
        </p:txBody>
      </p:sp>
      <p:sp>
        <p:nvSpPr>
          <p:cNvPr id="341" name="Google Shape;341;p24"/>
          <p:cNvSpPr/>
          <p:nvPr/>
        </p:nvSpPr>
        <p:spPr>
          <a:xfrm>
            <a:off x="1918655" y="2890391"/>
            <a:ext cx="1394660" cy="36574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relative change</a:t>
            </a:r>
            <a:endParaRPr b="0" i="0" sz="10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3.3 ÷ 8.3</a:t>
            </a:r>
            <a:endParaRPr b="0" i="0" sz="1000" u="none" cap="none" strike="noStrike">
              <a:solidFill>
                <a:schemeClr val="dk1"/>
              </a:solidFill>
              <a:latin typeface="Public Sans"/>
              <a:ea typeface="Public Sans"/>
              <a:cs typeface="Public Sans"/>
              <a:sym typeface="Public Sans"/>
            </a:endParaRPr>
          </a:p>
        </p:txBody>
      </p:sp>
      <p:sp>
        <p:nvSpPr>
          <p:cNvPr id="342" name="Google Shape;342;p24"/>
          <p:cNvSpPr/>
          <p:nvPr/>
        </p:nvSpPr>
        <p:spPr>
          <a:xfrm>
            <a:off x="609600" y="3399011"/>
            <a:ext cx="3619500" cy="827633"/>
          </a:xfrm>
          <a:prstGeom prst="roundRect">
            <a:avLst>
              <a:gd fmla="val 9207" name="adj"/>
            </a:avLst>
          </a:prstGeom>
          <a:solidFill>
            <a:srgbClr val="FFFFFF"/>
          </a:solidFill>
          <a:ln>
            <a:noFill/>
          </a:ln>
        </p:spPr>
        <p:txBody>
          <a:bodyPr anchorCtr="0" anchor="t" bIns="82450" lIns="120550" spcFirstLastPara="1" rIns="20525" wrap="square" tIns="101500">
            <a:noAutofit/>
          </a:bodyPr>
          <a:lstStyle/>
          <a:p>
            <a:pPr indent="0" lvl="0" marL="0" marR="0" rtl="0" algn="l">
              <a:lnSpc>
                <a:spcPct val="145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More clients </a:t>
            </a:r>
            <a:r>
              <a:rPr b="1" i="0" lang="en-GB" sz="1100" u="none" cap="none" strike="noStrike">
                <a:solidFill>
                  <a:srgbClr val="4A5563"/>
                </a:solidFill>
                <a:latin typeface="Public Sans"/>
                <a:ea typeface="Public Sans"/>
                <a:cs typeface="Public Sans"/>
                <a:sym typeface="Public Sans"/>
              </a:rPr>
              <a:t>finish</a:t>
            </a:r>
            <a:r>
              <a:rPr b="0" i="0" lang="en-GB" sz="1100" u="none" cap="none" strike="noStrike">
                <a:solidFill>
                  <a:srgbClr val="4A5563"/>
                </a:solidFill>
                <a:latin typeface="Public Sans"/>
                <a:ea typeface="Public Sans"/>
                <a:cs typeface="Public Sans"/>
                <a:sym typeface="Public Sans"/>
              </a:rPr>
              <a:t>, but more of them </a:t>
            </a:r>
            <a:r>
              <a:rPr b="1" i="0" lang="en-GB" sz="1100" u="none" cap="none" strike="noStrike">
                <a:solidFill>
                  <a:srgbClr val="4A5563"/>
                </a:solidFill>
                <a:latin typeface="Public Sans"/>
                <a:ea typeface="Public Sans"/>
                <a:cs typeface="Public Sans"/>
                <a:sym typeface="Public Sans"/>
              </a:rPr>
              <a:t>hesitate</a:t>
            </a:r>
            <a:r>
              <a:rPr b="0" i="0" lang="en-GB" sz="1100" u="none" cap="none" strike="noStrike">
                <a:solidFill>
                  <a:srgbClr val="4A5563"/>
                </a:solidFill>
                <a:latin typeface="Public Sans"/>
                <a:ea typeface="Public Sans"/>
                <a:cs typeface="Public Sans"/>
                <a:sym typeface="Public Sans"/>
              </a:rPr>
              <a:t> on the way. Going back is not always an error – it can be a client checking something.</a:t>
            </a:r>
            <a:endParaRPr b="0" i="0" sz="1100" u="none" cap="none" strike="noStrike">
              <a:solidFill>
                <a:schemeClr val="dk1"/>
              </a:solidFill>
              <a:latin typeface="Public Sans"/>
              <a:ea typeface="Public Sans"/>
              <a:cs typeface="Public Sans"/>
              <a:sym typeface="Public Sans"/>
            </a:endParaRPr>
          </a:p>
        </p:txBody>
      </p:sp>
      <p:cxnSp>
        <p:nvCxnSpPr>
          <p:cNvPr id="343" name="Google Shape;343;p24"/>
          <p:cNvCxnSpPr/>
          <p:nvPr/>
        </p:nvCxnSpPr>
        <p:spPr>
          <a:xfrm>
            <a:off x="4686300" y="4153421"/>
            <a:ext cx="3848100" cy="0"/>
          </a:xfrm>
          <a:prstGeom prst="straightConnector1">
            <a:avLst/>
          </a:prstGeom>
          <a:noFill/>
          <a:ln cap="flat" cmpd="sng" w="19050">
            <a:solidFill>
              <a:srgbClr val="1C2733"/>
            </a:solidFill>
            <a:prstDash val="solid"/>
            <a:round/>
            <a:headEnd len="sm" w="sm" type="none"/>
            <a:tailEnd len="sm" w="sm" type="none"/>
          </a:ln>
        </p:spPr>
      </p:cxnSp>
      <p:sp>
        <p:nvSpPr>
          <p:cNvPr id="344" name="Google Shape;344;p24"/>
          <p:cNvSpPr/>
          <p:nvPr/>
        </p:nvSpPr>
        <p:spPr>
          <a:xfrm>
            <a:off x="5582722" y="2354647"/>
            <a:ext cx="712232" cy="33906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63A50"/>
              </a:buClr>
              <a:buSzPts val="1800"/>
              <a:buFont typeface="Rubik"/>
              <a:buNone/>
            </a:pPr>
            <a:r>
              <a:rPr b="1" i="0" lang="en-GB" sz="1800" u="none" cap="none" strike="noStrike">
                <a:solidFill>
                  <a:srgbClr val="263A50"/>
                </a:solidFill>
                <a:latin typeface="Rubik"/>
                <a:ea typeface="Rubik"/>
                <a:cs typeface="Rubik"/>
                <a:sym typeface="Rubik"/>
              </a:rPr>
              <a:t>8.3 %</a:t>
            </a:r>
            <a:endParaRPr b="0" i="0" sz="1800" u="none" cap="none" strike="noStrike">
              <a:solidFill>
                <a:schemeClr val="dk1"/>
              </a:solidFill>
              <a:latin typeface="Public Sans"/>
              <a:ea typeface="Public Sans"/>
              <a:cs typeface="Public Sans"/>
              <a:sym typeface="Public Sans"/>
            </a:endParaRPr>
          </a:p>
        </p:txBody>
      </p:sp>
      <p:sp>
        <p:nvSpPr>
          <p:cNvPr id="345" name="Google Shape;345;p24"/>
          <p:cNvSpPr/>
          <p:nvPr/>
        </p:nvSpPr>
        <p:spPr>
          <a:xfrm>
            <a:off x="5438775" y="2731815"/>
            <a:ext cx="1000125" cy="1414462"/>
          </a:xfrm>
          <a:custGeom>
            <a:rect b="b" l="l" r="r" t="t"/>
            <a:pathLst>
              <a:path extrusionOk="0" h="1885950" w="1333500">
                <a:moveTo>
                  <a:pt x="76200" y="0"/>
                </a:moveTo>
                <a:lnTo>
                  <a:pt x="1257300" y="0"/>
                </a:lnTo>
                <a:cubicBezTo>
                  <a:pt x="1277509" y="0"/>
                  <a:pt x="1296891" y="8028"/>
                  <a:pt x="1311182" y="22318"/>
                </a:cubicBezTo>
                <a:cubicBezTo>
                  <a:pt x="1325472" y="36609"/>
                  <a:pt x="1333500" y="55991"/>
                  <a:pt x="1333500" y="76200"/>
                </a:cubicBezTo>
                <a:lnTo>
                  <a:pt x="1333500" y="1885950"/>
                </a:lnTo>
                <a:lnTo>
                  <a:pt x="0" y="1885950"/>
                </a:lnTo>
                <a:lnTo>
                  <a:pt x="0" y="76200"/>
                </a:lnTo>
                <a:cubicBezTo>
                  <a:pt x="0" y="34116"/>
                  <a:pt x="34116" y="0"/>
                  <a:pt x="76200" y="0"/>
                </a:cubicBez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6" name="Google Shape;346;p24"/>
          <p:cNvSpPr/>
          <p:nvPr/>
        </p:nvSpPr>
        <p:spPr>
          <a:xfrm>
            <a:off x="6886370" y="1792672"/>
            <a:ext cx="790947" cy="33906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1800"/>
              <a:buFont typeface="Rubik"/>
              <a:buNone/>
            </a:pPr>
            <a:r>
              <a:rPr b="1" i="0" lang="en-GB" sz="1800" u="none" cap="none" strike="noStrike">
                <a:solidFill>
                  <a:srgbClr val="62244F"/>
                </a:solidFill>
                <a:latin typeface="Rubik"/>
                <a:ea typeface="Rubik"/>
                <a:cs typeface="Rubik"/>
                <a:sym typeface="Rubik"/>
              </a:rPr>
              <a:t>11.5 %</a:t>
            </a:r>
            <a:endParaRPr b="0" i="0" sz="1800" u="none" cap="none" strike="noStrike">
              <a:solidFill>
                <a:schemeClr val="dk1"/>
              </a:solidFill>
              <a:latin typeface="Public Sans"/>
              <a:ea typeface="Public Sans"/>
              <a:cs typeface="Public Sans"/>
              <a:sym typeface="Public Sans"/>
            </a:endParaRPr>
          </a:p>
        </p:txBody>
      </p:sp>
      <p:sp>
        <p:nvSpPr>
          <p:cNvPr id="347" name="Google Shape;347;p24"/>
          <p:cNvSpPr/>
          <p:nvPr/>
        </p:nvSpPr>
        <p:spPr>
          <a:xfrm>
            <a:off x="6781800" y="2169840"/>
            <a:ext cx="1000125" cy="1976438"/>
          </a:xfrm>
          <a:custGeom>
            <a:rect b="b" l="l" r="r" t="t"/>
            <a:pathLst>
              <a:path extrusionOk="0" h="2635250" w="1333500">
                <a:moveTo>
                  <a:pt x="76200" y="0"/>
                </a:moveTo>
                <a:lnTo>
                  <a:pt x="1257300" y="0"/>
                </a:lnTo>
                <a:cubicBezTo>
                  <a:pt x="1277509" y="0"/>
                  <a:pt x="1296891" y="8028"/>
                  <a:pt x="1311182" y="22318"/>
                </a:cubicBezTo>
                <a:cubicBezTo>
                  <a:pt x="1325472" y="36609"/>
                  <a:pt x="1333500" y="55991"/>
                  <a:pt x="1333500" y="76200"/>
                </a:cubicBezTo>
                <a:lnTo>
                  <a:pt x="1333500" y="2635250"/>
                </a:lnTo>
                <a:lnTo>
                  <a:pt x="0" y="2635250"/>
                </a:lnTo>
                <a:lnTo>
                  <a:pt x="0" y="76200"/>
                </a:lnTo>
                <a:cubicBezTo>
                  <a:pt x="0" y="34116"/>
                  <a:pt x="34116" y="0"/>
                  <a:pt x="76200" y="0"/>
                </a:cubicBez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8" name="Google Shape;348;p24"/>
          <p:cNvSpPr/>
          <p:nvPr/>
        </p:nvSpPr>
        <p:spPr>
          <a:xfrm>
            <a:off x="5419725" y="4236765"/>
            <a:ext cx="1038225" cy="39238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3"/>
              </a:buClr>
              <a:buSzPts val="1100"/>
              <a:buFont typeface="Public Sans"/>
              <a:buNone/>
            </a:pPr>
            <a:r>
              <a:rPr b="1" i="0" lang="en-GB" sz="1100" u="none" cap="none" strike="noStrike">
                <a:solidFill>
                  <a:srgbClr val="4A5563"/>
                </a:solidFill>
                <a:latin typeface="Public Sans"/>
                <a:ea typeface="Public Sans"/>
                <a:cs typeface="Public Sans"/>
                <a:sym typeface="Public Sans"/>
              </a:rPr>
              <a:t>Control</a:t>
            </a:r>
            <a:endParaRPr b="0" i="0" sz="1100" u="none" cap="none" strike="noStrike">
              <a:solidFill>
                <a:schemeClr val="dk1"/>
              </a:solidFill>
              <a:latin typeface="Public Sans"/>
              <a:ea typeface="Public Sans"/>
              <a:cs typeface="Public Sans"/>
              <a:sym typeface="Public Sans"/>
            </a:endParaRPr>
          </a:p>
          <a:p>
            <a:pPr indent="0" lvl="0" marL="0" marR="0" rtl="0" algn="ctr">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old site</a:t>
            </a:r>
            <a:endParaRPr b="0" i="0" sz="1100" u="none" cap="none" strike="noStrike">
              <a:solidFill>
                <a:schemeClr val="dk1"/>
              </a:solidFill>
              <a:latin typeface="Public Sans"/>
              <a:ea typeface="Public Sans"/>
              <a:cs typeface="Public Sans"/>
              <a:sym typeface="Public Sans"/>
            </a:endParaRPr>
          </a:p>
        </p:txBody>
      </p:sp>
      <p:sp>
        <p:nvSpPr>
          <p:cNvPr id="349" name="Google Shape;349;p24"/>
          <p:cNvSpPr/>
          <p:nvPr/>
        </p:nvSpPr>
        <p:spPr>
          <a:xfrm>
            <a:off x="6762750" y="4236765"/>
            <a:ext cx="1038225" cy="39238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3"/>
              </a:buClr>
              <a:buSzPts val="1100"/>
              <a:buFont typeface="Public Sans"/>
              <a:buNone/>
            </a:pPr>
            <a:r>
              <a:rPr b="1" i="0" lang="en-GB" sz="1100" u="none" cap="none" strike="noStrike">
                <a:solidFill>
                  <a:srgbClr val="4A5563"/>
                </a:solidFill>
                <a:latin typeface="Public Sans"/>
                <a:ea typeface="Public Sans"/>
                <a:cs typeface="Public Sans"/>
                <a:sym typeface="Public Sans"/>
              </a:rPr>
              <a:t>Test</a:t>
            </a:r>
            <a:endParaRPr b="0" i="0" sz="1100" u="none" cap="none" strike="noStrike">
              <a:solidFill>
                <a:schemeClr val="dk1"/>
              </a:solidFill>
              <a:latin typeface="Public Sans"/>
              <a:ea typeface="Public Sans"/>
              <a:cs typeface="Public Sans"/>
              <a:sym typeface="Public Sans"/>
            </a:endParaRPr>
          </a:p>
          <a:p>
            <a:pPr indent="0" lvl="0" marL="0" marR="0" rtl="0" algn="ctr">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new site</a:t>
            </a:r>
            <a:endParaRPr b="0" i="0" sz="1100" u="none" cap="none" strike="noStrike">
              <a:solidFill>
                <a:schemeClr val="dk1"/>
              </a:solidFill>
              <a:latin typeface="Public Sans"/>
              <a:ea typeface="Public Sans"/>
              <a:cs typeface="Public Sans"/>
              <a:sym typeface="Public Sans"/>
            </a:endParaRPr>
          </a:p>
        </p:txBody>
      </p:sp>
      <p:sp>
        <p:nvSpPr>
          <p:cNvPr id="350" name="Google Shape;350;p24"/>
          <p:cNvSpPr/>
          <p:nvPr/>
        </p:nvSpPr>
        <p:spPr>
          <a:xfrm>
            <a:off x="609600" y="4781550"/>
            <a:ext cx="32124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9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351" name="Google Shape;351;p24"/>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25"/>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8" name="Google Shape;358;p25"/>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KPI 3 · ERROR RATE · BY AGE</a:t>
            </a:r>
            <a:endParaRPr b="0" i="0" sz="900" u="none" cap="none" strike="noStrike">
              <a:solidFill>
                <a:schemeClr val="dk1"/>
              </a:solidFill>
              <a:latin typeface="Public Sans"/>
              <a:ea typeface="Public Sans"/>
              <a:cs typeface="Public Sans"/>
              <a:sym typeface="Public Sans"/>
            </a:endParaRPr>
          </a:p>
        </p:txBody>
      </p:sp>
      <p:sp>
        <p:nvSpPr>
          <p:cNvPr id="359" name="Google Shape;359;p25"/>
          <p:cNvSpPr txBox="1"/>
          <p:nvPr>
            <p:ph type="title"/>
          </p:nvPr>
        </p:nvSpPr>
        <p:spPr>
          <a:xfrm>
            <a:off x="609600" y="760065"/>
            <a:ext cx="8162544" cy="36477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500"/>
              <a:buFont typeface="Rubik"/>
              <a:buNone/>
            </a:pPr>
            <a:r>
              <a:rPr b="1" i="0" lang="en-GB" sz="2500">
                <a:solidFill>
                  <a:srgbClr val="1C2733"/>
                </a:solidFill>
                <a:latin typeface="Rubik"/>
                <a:ea typeface="Rubik"/>
                <a:cs typeface="Rubik"/>
                <a:sym typeface="Rubik"/>
              </a:rPr>
              <a:t>The older the client, the more they go back</a:t>
            </a:r>
            <a:endParaRPr sz="2500"/>
          </a:p>
        </p:txBody>
      </p:sp>
      <p:sp>
        <p:nvSpPr>
          <p:cNvPr id="360" name="Google Shape;360;p25"/>
          <p:cNvSpPr/>
          <p:nvPr/>
        </p:nvSpPr>
        <p:spPr>
          <a:xfrm>
            <a:off x="609600" y="1315343"/>
            <a:ext cx="4512945"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Error rate (going back to a previous step) by age group</a:t>
            </a:r>
            <a:endParaRPr b="0" i="0" sz="900" u="none" cap="none" strike="noStrike">
              <a:solidFill>
                <a:schemeClr val="dk1"/>
              </a:solidFill>
              <a:latin typeface="Public Sans"/>
              <a:ea typeface="Public Sans"/>
              <a:cs typeface="Public Sans"/>
              <a:sym typeface="Public Sans"/>
            </a:endParaRPr>
          </a:p>
        </p:txBody>
      </p:sp>
      <p:sp>
        <p:nvSpPr>
          <p:cNvPr id="361" name="Google Shape;361;p25"/>
          <p:cNvSpPr/>
          <p:nvPr/>
        </p:nvSpPr>
        <p:spPr>
          <a:xfrm>
            <a:off x="609600" y="1635323"/>
            <a:ext cx="704850" cy="19239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Under 30</a:t>
            </a:r>
            <a:endParaRPr b="0" i="0" sz="1000" u="none" cap="none" strike="noStrike">
              <a:solidFill>
                <a:schemeClr val="dk1"/>
              </a:solidFill>
              <a:latin typeface="Public Sans"/>
              <a:ea typeface="Public Sans"/>
              <a:cs typeface="Public Sans"/>
              <a:sym typeface="Public Sans"/>
            </a:endParaRPr>
          </a:p>
        </p:txBody>
      </p:sp>
      <p:sp>
        <p:nvSpPr>
          <p:cNvPr id="362" name="Google Shape;362;p25"/>
          <p:cNvSpPr/>
          <p:nvPr/>
        </p:nvSpPr>
        <p:spPr>
          <a:xfrm>
            <a:off x="1371600" y="1572481"/>
            <a:ext cx="1628775" cy="123825"/>
          </a:xfrm>
          <a:custGeom>
            <a:rect b="b" l="l" r="r" t="t"/>
            <a:pathLst>
              <a:path extrusionOk="0" h="165100" w="2171700">
                <a:moveTo>
                  <a:pt x="0" y="0"/>
                </a:moveTo>
                <a:lnTo>
                  <a:pt x="2133600" y="0"/>
                </a:lnTo>
                <a:cubicBezTo>
                  <a:pt x="2143705" y="0"/>
                  <a:pt x="2153396" y="4014"/>
                  <a:pt x="2160541" y="11159"/>
                </a:cubicBezTo>
                <a:cubicBezTo>
                  <a:pt x="2167686" y="18304"/>
                  <a:pt x="2171700" y="27995"/>
                  <a:pt x="2171700" y="38100"/>
                </a:cubicBezTo>
                <a:lnTo>
                  <a:pt x="2171700" y="127000"/>
                </a:lnTo>
                <a:cubicBezTo>
                  <a:pt x="2171700" y="148042"/>
                  <a:pt x="2154642" y="165100"/>
                  <a:pt x="21336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3" name="Google Shape;363;p25"/>
          <p:cNvSpPr/>
          <p:nvPr/>
        </p:nvSpPr>
        <p:spPr>
          <a:xfrm>
            <a:off x="3048000" y="1561058"/>
            <a:ext cx="334462"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8.5 %</a:t>
            </a:r>
            <a:endParaRPr b="0" i="0" sz="800" u="none" cap="none" strike="noStrike">
              <a:solidFill>
                <a:schemeClr val="dk1"/>
              </a:solidFill>
              <a:latin typeface="Public Sans"/>
              <a:ea typeface="Public Sans"/>
              <a:cs typeface="Public Sans"/>
              <a:sym typeface="Public Sans"/>
            </a:endParaRPr>
          </a:p>
        </p:txBody>
      </p:sp>
      <p:sp>
        <p:nvSpPr>
          <p:cNvPr id="364" name="Google Shape;364;p25"/>
          <p:cNvSpPr/>
          <p:nvPr/>
        </p:nvSpPr>
        <p:spPr>
          <a:xfrm>
            <a:off x="1371600" y="1747726"/>
            <a:ext cx="1743075" cy="123825"/>
          </a:xfrm>
          <a:custGeom>
            <a:rect b="b" l="l" r="r" t="t"/>
            <a:pathLst>
              <a:path extrusionOk="0" h="165100" w="2324100">
                <a:moveTo>
                  <a:pt x="0" y="0"/>
                </a:moveTo>
                <a:lnTo>
                  <a:pt x="2286000" y="0"/>
                </a:lnTo>
                <a:cubicBezTo>
                  <a:pt x="2296105" y="0"/>
                  <a:pt x="2305796" y="4014"/>
                  <a:pt x="2312941" y="11159"/>
                </a:cubicBezTo>
                <a:cubicBezTo>
                  <a:pt x="2320086" y="18304"/>
                  <a:pt x="2324100" y="27995"/>
                  <a:pt x="2324100" y="38100"/>
                </a:cubicBezTo>
                <a:lnTo>
                  <a:pt x="2324100" y="127000"/>
                </a:lnTo>
                <a:cubicBezTo>
                  <a:pt x="2324100" y="148042"/>
                  <a:pt x="2307042" y="165100"/>
                  <a:pt x="22860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5" name="Google Shape;365;p25"/>
          <p:cNvSpPr/>
          <p:nvPr/>
        </p:nvSpPr>
        <p:spPr>
          <a:xfrm>
            <a:off x="3162300" y="1736303"/>
            <a:ext cx="345534"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9.2 %</a:t>
            </a:r>
            <a:endParaRPr b="0" i="0" sz="800" u="none" cap="none" strike="noStrike">
              <a:solidFill>
                <a:schemeClr val="dk1"/>
              </a:solidFill>
              <a:latin typeface="Public Sans"/>
              <a:ea typeface="Public Sans"/>
              <a:cs typeface="Public Sans"/>
              <a:sym typeface="Public Sans"/>
            </a:endParaRPr>
          </a:p>
        </p:txBody>
      </p:sp>
      <p:sp>
        <p:nvSpPr>
          <p:cNvPr id="366" name="Google Shape;366;p25"/>
          <p:cNvSpPr/>
          <p:nvPr/>
        </p:nvSpPr>
        <p:spPr>
          <a:xfrm>
            <a:off x="609600" y="2042964"/>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30-44</a:t>
            </a:r>
            <a:endParaRPr b="0" i="0" sz="1000" u="none" cap="none" strike="noStrike">
              <a:solidFill>
                <a:schemeClr val="dk1"/>
              </a:solidFill>
              <a:latin typeface="Public Sans"/>
              <a:ea typeface="Public Sans"/>
              <a:cs typeface="Public Sans"/>
              <a:sym typeface="Public Sans"/>
            </a:endParaRPr>
          </a:p>
        </p:txBody>
      </p:sp>
      <p:sp>
        <p:nvSpPr>
          <p:cNvPr id="367" name="Google Shape;367;p25"/>
          <p:cNvSpPr/>
          <p:nvPr/>
        </p:nvSpPr>
        <p:spPr>
          <a:xfrm>
            <a:off x="1371600" y="1980121"/>
            <a:ext cx="1490663" cy="123825"/>
          </a:xfrm>
          <a:custGeom>
            <a:rect b="b" l="l" r="r" t="t"/>
            <a:pathLst>
              <a:path extrusionOk="0" h="165100" w="1987550">
                <a:moveTo>
                  <a:pt x="0" y="0"/>
                </a:moveTo>
                <a:lnTo>
                  <a:pt x="1949450" y="0"/>
                </a:lnTo>
                <a:cubicBezTo>
                  <a:pt x="1959555" y="0"/>
                  <a:pt x="1969246" y="4014"/>
                  <a:pt x="1976391" y="11159"/>
                </a:cubicBezTo>
                <a:cubicBezTo>
                  <a:pt x="1983536" y="18304"/>
                  <a:pt x="1987550" y="27995"/>
                  <a:pt x="1987550" y="38100"/>
                </a:cubicBezTo>
                <a:lnTo>
                  <a:pt x="1987550" y="127000"/>
                </a:lnTo>
                <a:cubicBezTo>
                  <a:pt x="1987550" y="148042"/>
                  <a:pt x="1970492" y="165100"/>
                  <a:pt x="194945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25"/>
          <p:cNvSpPr/>
          <p:nvPr/>
        </p:nvSpPr>
        <p:spPr>
          <a:xfrm>
            <a:off x="2909888" y="1968698"/>
            <a:ext cx="314280"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7.8 %</a:t>
            </a:r>
            <a:endParaRPr b="0" i="0" sz="800" u="none" cap="none" strike="noStrike">
              <a:solidFill>
                <a:schemeClr val="dk1"/>
              </a:solidFill>
              <a:latin typeface="Public Sans"/>
              <a:ea typeface="Public Sans"/>
              <a:cs typeface="Public Sans"/>
              <a:sym typeface="Public Sans"/>
            </a:endParaRPr>
          </a:p>
        </p:txBody>
      </p:sp>
      <p:sp>
        <p:nvSpPr>
          <p:cNvPr id="369" name="Google Shape;369;p25"/>
          <p:cNvSpPr/>
          <p:nvPr/>
        </p:nvSpPr>
        <p:spPr>
          <a:xfrm>
            <a:off x="1371600" y="2155366"/>
            <a:ext cx="1747838" cy="123825"/>
          </a:xfrm>
          <a:custGeom>
            <a:rect b="b" l="l" r="r" t="t"/>
            <a:pathLst>
              <a:path extrusionOk="0" h="165100" w="2330450">
                <a:moveTo>
                  <a:pt x="0" y="0"/>
                </a:moveTo>
                <a:lnTo>
                  <a:pt x="2292350" y="0"/>
                </a:lnTo>
                <a:cubicBezTo>
                  <a:pt x="2302455" y="0"/>
                  <a:pt x="2312146" y="4014"/>
                  <a:pt x="2319291" y="11159"/>
                </a:cubicBezTo>
                <a:cubicBezTo>
                  <a:pt x="2326436" y="18304"/>
                  <a:pt x="2330450" y="27995"/>
                  <a:pt x="2330450" y="38100"/>
                </a:cubicBezTo>
                <a:lnTo>
                  <a:pt x="2330450" y="127000"/>
                </a:lnTo>
                <a:cubicBezTo>
                  <a:pt x="2330450" y="148042"/>
                  <a:pt x="2313392" y="165100"/>
                  <a:pt x="229235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0" name="Google Shape;370;p25"/>
          <p:cNvSpPr/>
          <p:nvPr/>
        </p:nvSpPr>
        <p:spPr>
          <a:xfrm>
            <a:off x="3167063" y="2143943"/>
            <a:ext cx="345534"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9.2 %</a:t>
            </a:r>
            <a:endParaRPr b="0" i="0" sz="800" u="none" cap="none" strike="noStrike">
              <a:solidFill>
                <a:schemeClr val="dk1"/>
              </a:solidFill>
              <a:latin typeface="Public Sans"/>
              <a:ea typeface="Public Sans"/>
              <a:cs typeface="Public Sans"/>
              <a:sym typeface="Public Sans"/>
            </a:endParaRPr>
          </a:p>
        </p:txBody>
      </p:sp>
      <p:sp>
        <p:nvSpPr>
          <p:cNvPr id="371" name="Google Shape;371;p25"/>
          <p:cNvSpPr/>
          <p:nvPr/>
        </p:nvSpPr>
        <p:spPr>
          <a:xfrm>
            <a:off x="609600" y="2450604"/>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45-59</a:t>
            </a:r>
            <a:endParaRPr b="0" i="0" sz="1000" u="none" cap="none" strike="noStrike">
              <a:solidFill>
                <a:schemeClr val="dk1"/>
              </a:solidFill>
              <a:latin typeface="Public Sans"/>
              <a:ea typeface="Public Sans"/>
              <a:cs typeface="Public Sans"/>
              <a:sym typeface="Public Sans"/>
            </a:endParaRPr>
          </a:p>
        </p:txBody>
      </p:sp>
      <p:sp>
        <p:nvSpPr>
          <p:cNvPr id="372" name="Google Shape;372;p25"/>
          <p:cNvSpPr/>
          <p:nvPr/>
        </p:nvSpPr>
        <p:spPr>
          <a:xfrm>
            <a:off x="1371600" y="2387762"/>
            <a:ext cx="1685925" cy="123825"/>
          </a:xfrm>
          <a:custGeom>
            <a:rect b="b" l="l" r="r" t="t"/>
            <a:pathLst>
              <a:path extrusionOk="0" h="165100" w="2247900">
                <a:moveTo>
                  <a:pt x="0" y="0"/>
                </a:moveTo>
                <a:lnTo>
                  <a:pt x="2209800" y="0"/>
                </a:lnTo>
                <a:cubicBezTo>
                  <a:pt x="2219905" y="0"/>
                  <a:pt x="2229596" y="4014"/>
                  <a:pt x="2236741" y="11159"/>
                </a:cubicBezTo>
                <a:cubicBezTo>
                  <a:pt x="2243886" y="18304"/>
                  <a:pt x="2247900" y="27995"/>
                  <a:pt x="2247900" y="38100"/>
                </a:cubicBezTo>
                <a:lnTo>
                  <a:pt x="2247900" y="127000"/>
                </a:lnTo>
                <a:cubicBezTo>
                  <a:pt x="2247900" y="148042"/>
                  <a:pt x="2230842" y="165100"/>
                  <a:pt x="220980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3" name="Google Shape;373;p25"/>
          <p:cNvSpPr/>
          <p:nvPr/>
        </p:nvSpPr>
        <p:spPr>
          <a:xfrm>
            <a:off x="3105150" y="2376339"/>
            <a:ext cx="332453"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8.9 %</a:t>
            </a:r>
            <a:endParaRPr b="0" i="0" sz="800" u="none" cap="none" strike="noStrike">
              <a:solidFill>
                <a:schemeClr val="dk1"/>
              </a:solidFill>
              <a:latin typeface="Public Sans"/>
              <a:ea typeface="Public Sans"/>
              <a:cs typeface="Public Sans"/>
              <a:sym typeface="Public Sans"/>
            </a:endParaRPr>
          </a:p>
        </p:txBody>
      </p:sp>
      <p:sp>
        <p:nvSpPr>
          <p:cNvPr id="374" name="Google Shape;374;p25"/>
          <p:cNvSpPr/>
          <p:nvPr/>
        </p:nvSpPr>
        <p:spPr>
          <a:xfrm>
            <a:off x="1371600" y="2563007"/>
            <a:ext cx="2333625" cy="123825"/>
          </a:xfrm>
          <a:custGeom>
            <a:rect b="b" l="l" r="r" t="t"/>
            <a:pathLst>
              <a:path extrusionOk="0" h="165100" w="3111500">
                <a:moveTo>
                  <a:pt x="0" y="0"/>
                </a:moveTo>
                <a:lnTo>
                  <a:pt x="3073400" y="0"/>
                </a:lnTo>
                <a:cubicBezTo>
                  <a:pt x="3083505" y="0"/>
                  <a:pt x="3093196" y="4014"/>
                  <a:pt x="3100341" y="11159"/>
                </a:cubicBezTo>
                <a:cubicBezTo>
                  <a:pt x="3107486" y="18304"/>
                  <a:pt x="3111500" y="27995"/>
                  <a:pt x="3111500" y="38100"/>
                </a:cubicBezTo>
                <a:lnTo>
                  <a:pt x="3111500" y="127000"/>
                </a:lnTo>
                <a:cubicBezTo>
                  <a:pt x="3111500" y="148042"/>
                  <a:pt x="3094442" y="165100"/>
                  <a:pt x="30734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25"/>
          <p:cNvSpPr/>
          <p:nvPr/>
        </p:nvSpPr>
        <p:spPr>
          <a:xfrm>
            <a:off x="3752850" y="2551584"/>
            <a:ext cx="396344"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12.2 %</a:t>
            </a:r>
            <a:endParaRPr b="0" i="0" sz="800" u="none" cap="none" strike="noStrike">
              <a:solidFill>
                <a:schemeClr val="dk1"/>
              </a:solidFill>
              <a:latin typeface="Public Sans"/>
              <a:ea typeface="Public Sans"/>
              <a:cs typeface="Public Sans"/>
              <a:sym typeface="Public Sans"/>
            </a:endParaRPr>
          </a:p>
        </p:txBody>
      </p:sp>
      <p:sp>
        <p:nvSpPr>
          <p:cNvPr id="376" name="Google Shape;376;p25"/>
          <p:cNvSpPr/>
          <p:nvPr/>
        </p:nvSpPr>
        <p:spPr>
          <a:xfrm>
            <a:off x="609600" y="2858244"/>
            <a:ext cx="704850" cy="19239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60-74</a:t>
            </a:r>
            <a:endParaRPr b="0" i="0" sz="1000" u="none" cap="none" strike="noStrike">
              <a:solidFill>
                <a:schemeClr val="dk1"/>
              </a:solidFill>
              <a:latin typeface="Public Sans"/>
              <a:ea typeface="Public Sans"/>
              <a:cs typeface="Public Sans"/>
              <a:sym typeface="Public Sans"/>
            </a:endParaRPr>
          </a:p>
        </p:txBody>
      </p:sp>
      <p:sp>
        <p:nvSpPr>
          <p:cNvPr id="377" name="Google Shape;377;p25"/>
          <p:cNvSpPr/>
          <p:nvPr/>
        </p:nvSpPr>
        <p:spPr>
          <a:xfrm>
            <a:off x="1371600" y="2795402"/>
            <a:ext cx="1890713" cy="123825"/>
          </a:xfrm>
          <a:custGeom>
            <a:rect b="b" l="l" r="r" t="t"/>
            <a:pathLst>
              <a:path extrusionOk="0" h="165100" w="2520950">
                <a:moveTo>
                  <a:pt x="0" y="0"/>
                </a:moveTo>
                <a:lnTo>
                  <a:pt x="2482850" y="0"/>
                </a:lnTo>
                <a:cubicBezTo>
                  <a:pt x="2492955" y="0"/>
                  <a:pt x="2502646" y="4014"/>
                  <a:pt x="2509791" y="11159"/>
                </a:cubicBezTo>
                <a:cubicBezTo>
                  <a:pt x="2516936" y="18304"/>
                  <a:pt x="2520950" y="27995"/>
                  <a:pt x="2520950" y="38100"/>
                </a:cubicBezTo>
                <a:lnTo>
                  <a:pt x="2520950" y="127000"/>
                </a:lnTo>
                <a:cubicBezTo>
                  <a:pt x="2520950" y="148042"/>
                  <a:pt x="2503892" y="165100"/>
                  <a:pt x="248285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25"/>
          <p:cNvSpPr/>
          <p:nvPr/>
        </p:nvSpPr>
        <p:spPr>
          <a:xfrm>
            <a:off x="3309938" y="2783979"/>
            <a:ext cx="329506"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9.9 %</a:t>
            </a:r>
            <a:endParaRPr b="0" i="0" sz="800" u="none" cap="none" strike="noStrike">
              <a:solidFill>
                <a:schemeClr val="dk1"/>
              </a:solidFill>
              <a:latin typeface="Public Sans"/>
              <a:ea typeface="Public Sans"/>
              <a:cs typeface="Public Sans"/>
              <a:sym typeface="Public Sans"/>
            </a:endParaRPr>
          </a:p>
        </p:txBody>
      </p:sp>
      <p:sp>
        <p:nvSpPr>
          <p:cNvPr id="379" name="Google Shape;379;p25"/>
          <p:cNvSpPr/>
          <p:nvPr/>
        </p:nvSpPr>
        <p:spPr>
          <a:xfrm>
            <a:off x="1371600" y="2970647"/>
            <a:ext cx="2709863" cy="123825"/>
          </a:xfrm>
          <a:custGeom>
            <a:rect b="b" l="l" r="r" t="t"/>
            <a:pathLst>
              <a:path extrusionOk="0" h="165100" w="3613150">
                <a:moveTo>
                  <a:pt x="0" y="0"/>
                </a:moveTo>
                <a:lnTo>
                  <a:pt x="3575050" y="0"/>
                </a:lnTo>
                <a:cubicBezTo>
                  <a:pt x="3585155" y="0"/>
                  <a:pt x="3594846" y="4014"/>
                  <a:pt x="3601991" y="11159"/>
                </a:cubicBezTo>
                <a:cubicBezTo>
                  <a:pt x="3609136" y="18304"/>
                  <a:pt x="3613150" y="27995"/>
                  <a:pt x="3613150" y="38100"/>
                </a:cubicBezTo>
                <a:lnTo>
                  <a:pt x="3613150" y="127000"/>
                </a:lnTo>
                <a:cubicBezTo>
                  <a:pt x="3613150" y="148042"/>
                  <a:pt x="3596092" y="165100"/>
                  <a:pt x="357505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0" name="Google Shape;380;p25"/>
          <p:cNvSpPr/>
          <p:nvPr/>
        </p:nvSpPr>
        <p:spPr>
          <a:xfrm>
            <a:off x="4129088" y="2959224"/>
            <a:ext cx="399023"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14.2 %</a:t>
            </a:r>
            <a:endParaRPr b="0" i="0" sz="800" u="none" cap="none" strike="noStrike">
              <a:solidFill>
                <a:schemeClr val="dk1"/>
              </a:solidFill>
              <a:latin typeface="Public Sans"/>
              <a:ea typeface="Public Sans"/>
              <a:cs typeface="Public Sans"/>
              <a:sym typeface="Public Sans"/>
            </a:endParaRPr>
          </a:p>
        </p:txBody>
      </p:sp>
      <p:sp>
        <p:nvSpPr>
          <p:cNvPr id="381" name="Google Shape;381;p25"/>
          <p:cNvSpPr/>
          <p:nvPr/>
        </p:nvSpPr>
        <p:spPr>
          <a:xfrm>
            <a:off x="609600" y="3265885"/>
            <a:ext cx="704850" cy="19239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000"/>
              <a:buFont typeface="Public Sans"/>
              <a:buNone/>
            </a:pPr>
            <a:r>
              <a:rPr b="1" i="0" lang="en-GB" sz="1000" u="none" cap="none" strike="noStrike">
                <a:solidFill>
                  <a:srgbClr val="1C2733"/>
                </a:solidFill>
                <a:latin typeface="Public Sans"/>
                <a:ea typeface="Public Sans"/>
                <a:cs typeface="Public Sans"/>
                <a:sym typeface="Public Sans"/>
              </a:rPr>
              <a:t>75+</a:t>
            </a:r>
            <a:endParaRPr b="0" i="0" sz="1000" u="none" cap="none" strike="noStrike">
              <a:solidFill>
                <a:schemeClr val="dk1"/>
              </a:solidFill>
              <a:latin typeface="Public Sans"/>
              <a:ea typeface="Public Sans"/>
              <a:cs typeface="Public Sans"/>
              <a:sym typeface="Public Sans"/>
            </a:endParaRPr>
          </a:p>
        </p:txBody>
      </p:sp>
      <p:sp>
        <p:nvSpPr>
          <p:cNvPr id="382" name="Google Shape;382;p25"/>
          <p:cNvSpPr/>
          <p:nvPr/>
        </p:nvSpPr>
        <p:spPr>
          <a:xfrm>
            <a:off x="1371600" y="3203042"/>
            <a:ext cx="2005013" cy="123825"/>
          </a:xfrm>
          <a:custGeom>
            <a:rect b="b" l="l" r="r" t="t"/>
            <a:pathLst>
              <a:path extrusionOk="0" h="165100" w="2673350">
                <a:moveTo>
                  <a:pt x="0" y="0"/>
                </a:moveTo>
                <a:lnTo>
                  <a:pt x="2635250" y="0"/>
                </a:lnTo>
                <a:cubicBezTo>
                  <a:pt x="2645355" y="0"/>
                  <a:pt x="2655046" y="4014"/>
                  <a:pt x="2662191" y="11159"/>
                </a:cubicBezTo>
                <a:cubicBezTo>
                  <a:pt x="2669336" y="18304"/>
                  <a:pt x="2673350" y="27995"/>
                  <a:pt x="2673350" y="38100"/>
                </a:cubicBezTo>
                <a:lnTo>
                  <a:pt x="2673350" y="127000"/>
                </a:lnTo>
                <a:cubicBezTo>
                  <a:pt x="2673350" y="148042"/>
                  <a:pt x="2656292" y="165100"/>
                  <a:pt x="2635250" y="165100"/>
                </a:cubicBezTo>
                <a:lnTo>
                  <a:pt x="0" y="165100"/>
                </a:lnTo>
                <a:lnTo>
                  <a:pt x="0" y="0"/>
                </a:lnTo>
                <a:close/>
              </a:path>
            </a:pathLst>
          </a:cu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25"/>
          <p:cNvSpPr/>
          <p:nvPr/>
        </p:nvSpPr>
        <p:spPr>
          <a:xfrm>
            <a:off x="3424238" y="3191619"/>
            <a:ext cx="38111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63A50"/>
              </a:buClr>
              <a:buSzPts val="800"/>
              <a:buFont typeface="Public Sans"/>
              <a:buNone/>
            </a:pPr>
            <a:r>
              <a:rPr b="0" i="0" lang="en-GB" sz="800" u="none" cap="none" strike="noStrike">
                <a:solidFill>
                  <a:srgbClr val="263A50"/>
                </a:solidFill>
                <a:latin typeface="Public Sans"/>
                <a:ea typeface="Public Sans"/>
                <a:cs typeface="Public Sans"/>
                <a:sym typeface="Public Sans"/>
              </a:rPr>
              <a:t>10.5 %</a:t>
            </a:r>
            <a:endParaRPr b="0" i="0" sz="800" u="none" cap="none" strike="noStrike">
              <a:solidFill>
                <a:schemeClr val="dk1"/>
              </a:solidFill>
              <a:latin typeface="Public Sans"/>
              <a:ea typeface="Public Sans"/>
              <a:cs typeface="Public Sans"/>
              <a:sym typeface="Public Sans"/>
            </a:endParaRPr>
          </a:p>
        </p:txBody>
      </p:sp>
      <p:sp>
        <p:nvSpPr>
          <p:cNvPr id="384" name="Google Shape;384;p25"/>
          <p:cNvSpPr/>
          <p:nvPr/>
        </p:nvSpPr>
        <p:spPr>
          <a:xfrm>
            <a:off x="1371600" y="3378287"/>
            <a:ext cx="3105150" cy="123825"/>
          </a:xfrm>
          <a:custGeom>
            <a:rect b="b" l="l" r="r" t="t"/>
            <a:pathLst>
              <a:path extrusionOk="0" h="165100" w="4140200">
                <a:moveTo>
                  <a:pt x="0" y="0"/>
                </a:moveTo>
                <a:lnTo>
                  <a:pt x="4102100" y="0"/>
                </a:lnTo>
                <a:cubicBezTo>
                  <a:pt x="4112205" y="0"/>
                  <a:pt x="4121896" y="4014"/>
                  <a:pt x="4129041" y="11159"/>
                </a:cubicBezTo>
                <a:cubicBezTo>
                  <a:pt x="4136186" y="18304"/>
                  <a:pt x="4140200" y="27995"/>
                  <a:pt x="4140200" y="38100"/>
                </a:cubicBezTo>
                <a:lnTo>
                  <a:pt x="4140200" y="127000"/>
                </a:lnTo>
                <a:cubicBezTo>
                  <a:pt x="4140200" y="148042"/>
                  <a:pt x="4123142" y="165100"/>
                  <a:pt x="4102100" y="165100"/>
                </a:cubicBezTo>
                <a:lnTo>
                  <a:pt x="0" y="165100"/>
                </a:lnTo>
                <a:lnTo>
                  <a:pt x="0" y="0"/>
                </a:lnTo>
                <a:close/>
              </a:path>
            </a:pathLst>
          </a:cu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25"/>
          <p:cNvSpPr/>
          <p:nvPr/>
        </p:nvSpPr>
        <p:spPr>
          <a:xfrm>
            <a:off x="4524375" y="3366864"/>
            <a:ext cx="400809"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800"/>
              <a:buFont typeface="Public Sans"/>
              <a:buNone/>
            </a:pPr>
            <a:r>
              <a:rPr b="1" i="0" lang="en-GB" sz="800" u="none" cap="none" strike="noStrike">
                <a:solidFill>
                  <a:srgbClr val="62244F"/>
                </a:solidFill>
                <a:latin typeface="Public Sans"/>
                <a:ea typeface="Public Sans"/>
                <a:cs typeface="Public Sans"/>
                <a:sym typeface="Public Sans"/>
              </a:rPr>
              <a:t>16.3 %</a:t>
            </a:r>
            <a:endParaRPr b="0" i="0" sz="800" u="none" cap="none" strike="noStrike">
              <a:solidFill>
                <a:schemeClr val="dk1"/>
              </a:solidFill>
              <a:latin typeface="Public Sans"/>
              <a:ea typeface="Public Sans"/>
              <a:cs typeface="Public Sans"/>
              <a:sym typeface="Public Sans"/>
            </a:endParaRPr>
          </a:p>
        </p:txBody>
      </p:sp>
      <p:sp>
        <p:nvSpPr>
          <p:cNvPr id="386" name="Google Shape;386;p25"/>
          <p:cNvSpPr/>
          <p:nvPr/>
        </p:nvSpPr>
        <p:spPr>
          <a:xfrm>
            <a:off x="609600" y="3617342"/>
            <a:ext cx="123825" cy="123825"/>
          </a:xfrm>
          <a:prstGeom prst="roundRect">
            <a:avLst>
              <a:gd fmla="val 15385" name="adj"/>
            </a:avLst>
          </a:prstGeom>
          <a:solidFill>
            <a:srgbClr val="263A5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25"/>
          <p:cNvSpPr/>
          <p:nvPr/>
        </p:nvSpPr>
        <p:spPr>
          <a:xfrm>
            <a:off x="781050" y="3599260"/>
            <a:ext cx="1231925"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Control · old website</a:t>
            </a:r>
            <a:endParaRPr b="0" i="0" sz="900" u="none" cap="none" strike="noStrike">
              <a:solidFill>
                <a:schemeClr val="dk1"/>
              </a:solidFill>
              <a:latin typeface="Public Sans"/>
              <a:ea typeface="Public Sans"/>
              <a:cs typeface="Public Sans"/>
              <a:sym typeface="Public Sans"/>
            </a:endParaRPr>
          </a:p>
        </p:txBody>
      </p:sp>
      <p:sp>
        <p:nvSpPr>
          <p:cNvPr id="388" name="Google Shape;388;p25"/>
          <p:cNvSpPr/>
          <p:nvPr/>
        </p:nvSpPr>
        <p:spPr>
          <a:xfrm>
            <a:off x="2012975" y="3617342"/>
            <a:ext cx="123825" cy="123825"/>
          </a:xfrm>
          <a:prstGeom prst="roundRect">
            <a:avLst>
              <a:gd fmla="val 15385" name="adj"/>
            </a:avLst>
          </a:pr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25"/>
          <p:cNvSpPr/>
          <p:nvPr/>
        </p:nvSpPr>
        <p:spPr>
          <a:xfrm>
            <a:off x="2184425" y="3599260"/>
            <a:ext cx="115960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900"/>
              <a:buFont typeface="Public Sans"/>
              <a:buNone/>
            </a:pPr>
            <a:r>
              <a:rPr b="0" i="0" lang="en-GB" sz="900" u="none" cap="none" strike="noStrike">
                <a:solidFill>
                  <a:srgbClr val="4A5563"/>
                </a:solidFill>
                <a:latin typeface="Public Sans"/>
                <a:ea typeface="Public Sans"/>
                <a:cs typeface="Public Sans"/>
                <a:sym typeface="Public Sans"/>
              </a:rPr>
              <a:t>Test · new website</a:t>
            </a:r>
            <a:endParaRPr b="0" i="0" sz="900" u="none" cap="none" strike="noStrike">
              <a:solidFill>
                <a:schemeClr val="dk1"/>
              </a:solidFill>
              <a:latin typeface="Public Sans"/>
              <a:ea typeface="Public Sans"/>
              <a:cs typeface="Public Sans"/>
              <a:sym typeface="Public Sans"/>
            </a:endParaRPr>
          </a:p>
        </p:txBody>
      </p:sp>
      <p:sp>
        <p:nvSpPr>
          <p:cNvPr id="390" name="Google Shape;390;p25"/>
          <p:cNvSpPr/>
          <p:nvPr/>
        </p:nvSpPr>
        <p:spPr>
          <a:xfrm>
            <a:off x="5295900" y="2298911"/>
            <a:ext cx="3335655" cy="405706"/>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KPI = % of steps where a client goes </a:t>
            </a:r>
            <a:r>
              <a:rPr b="1" i="0" lang="en-GB" sz="1100" u="none" cap="none" strike="noStrike">
                <a:solidFill>
                  <a:srgbClr val="4A5563"/>
                </a:solidFill>
                <a:latin typeface="Public Sans"/>
                <a:ea typeface="Public Sans"/>
                <a:cs typeface="Public Sans"/>
                <a:sym typeface="Public Sans"/>
              </a:rPr>
              <a:t>back</a:t>
            </a:r>
            <a:r>
              <a:rPr b="0" i="0" lang="en-GB" sz="1100" u="none" cap="none" strike="noStrike">
                <a:solidFill>
                  <a:srgbClr val="4A5563"/>
                </a:solidFill>
                <a:latin typeface="Public Sans"/>
                <a:ea typeface="Public Sans"/>
                <a:cs typeface="Public Sans"/>
                <a:sym typeface="Public Sans"/>
              </a:rPr>
              <a:t> instead of forward – a sign of confusion.</a:t>
            </a:r>
            <a:endParaRPr b="0" i="0" sz="1100" u="none" cap="none" strike="noStrike">
              <a:solidFill>
                <a:schemeClr val="dk1"/>
              </a:solidFill>
              <a:latin typeface="Public Sans"/>
              <a:ea typeface="Public Sans"/>
              <a:cs typeface="Public Sans"/>
              <a:sym typeface="Public Sans"/>
            </a:endParaRPr>
          </a:p>
        </p:txBody>
      </p:sp>
      <p:sp>
        <p:nvSpPr>
          <p:cNvPr id="391" name="Google Shape;391;p25"/>
          <p:cNvSpPr/>
          <p:nvPr/>
        </p:nvSpPr>
        <p:spPr>
          <a:xfrm>
            <a:off x="5295900" y="2809391"/>
            <a:ext cx="3335655" cy="405706"/>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Errors rise in </a:t>
            </a:r>
            <a:r>
              <a:rPr b="1" i="0" lang="en-GB" sz="1100" u="none" cap="none" strike="noStrike">
                <a:solidFill>
                  <a:srgbClr val="4A5563"/>
                </a:solidFill>
                <a:latin typeface="Public Sans"/>
                <a:ea typeface="Public Sans"/>
                <a:cs typeface="Public Sans"/>
                <a:sym typeface="Public Sans"/>
              </a:rPr>
              <a:t>every</a:t>
            </a:r>
            <a:r>
              <a:rPr b="0" i="0" lang="en-GB" sz="1100" u="none" cap="none" strike="noStrike">
                <a:solidFill>
                  <a:srgbClr val="4A5563"/>
                </a:solidFill>
                <a:latin typeface="Public Sans"/>
                <a:ea typeface="Public Sans"/>
                <a:cs typeface="Public Sans"/>
                <a:sym typeface="Public Sans"/>
              </a:rPr>
              <a:t> age group, most for </a:t>
            </a:r>
            <a:r>
              <a:rPr b="1" i="0" lang="en-GB" sz="1100" u="none" cap="none" strike="noStrike">
                <a:solidFill>
                  <a:srgbClr val="8E2525"/>
                </a:solidFill>
                <a:latin typeface="Public Sans"/>
                <a:ea typeface="Public Sans"/>
                <a:cs typeface="Public Sans"/>
                <a:sym typeface="Public Sans"/>
              </a:rPr>
              <a:t>75+</a:t>
            </a:r>
            <a:r>
              <a:rPr b="0" i="0" lang="en-GB" sz="1100" u="none" cap="none" strike="noStrike">
                <a:solidFill>
                  <a:srgbClr val="4A5563"/>
                </a:solidFill>
                <a:latin typeface="Public Sans"/>
                <a:ea typeface="Public Sans"/>
                <a:cs typeface="Public Sans"/>
                <a:sym typeface="Public Sans"/>
              </a:rPr>
              <a:t> (10.5 % → 16.3 %).</a:t>
            </a:r>
            <a:endParaRPr b="0" i="0" sz="1100" u="none" cap="none" strike="noStrike">
              <a:solidFill>
                <a:schemeClr val="dk1"/>
              </a:solidFill>
              <a:latin typeface="Public Sans"/>
              <a:ea typeface="Public Sans"/>
              <a:cs typeface="Public Sans"/>
              <a:sym typeface="Public Sans"/>
            </a:endParaRPr>
          </a:p>
        </p:txBody>
      </p:sp>
      <p:sp>
        <p:nvSpPr>
          <p:cNvPr id="392" name="Google Shape;392;p25"/>
          <p:cNvSpPr/>
          <p:nvPr/>
        </p:nvSpPr>
        <p:spPr>
          <a:xfrm>
            <a:off x="5295900" y="3319872"/>
            <a:ext cx="3335655" cy="3257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Age ↔ errors: weak but significant link (Spearman ρ = 0.07, p &lt; 0.001), stronger on the new site (0.10 vs 0.03).</a:t>
            </a:r>
            <a:endParaRPr b="0" i="0" sz="900" u="none" cap="none" strike="noStrike">
              <a:solidFill>
                <a:schemeClr val="dk1"/>
              </a:solidFill>
              <a:latin typeface="Public Sans"/>
              <a:ea typeface="Public Sans"/>
              <a:cs typeface="Public Sans"/>
              <a:sym typeface="Public Sans"/>
            </a:endParaRPr>
          </a:p>
        </p:txBody>
      </p:sp>
      <p:sp>
        <p:nvSpPr>
          <p:cNvPr id="393" name="Google Shape;393;p25"/>
          <p:cNvSpPr/>
          <p:nvPr/>
        </p:nvSpPr>
        <p:spPr>
          <a:xfrm>
            <a:off x="609600" y="4781550"/>
            <a:ext cx="372190"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10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394" name="Google Shape;394;p25"/>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6"/>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1" name="Google Shape;401;p26"/>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HYPOTHESIS TEST · 5 % COST-EFFECTIVENESS THRESHOLD</a:t>
            </a:r>
            <a:endParaRPr b="0" i="0" sz="900" u="none" cap="none" strike="noStrike">
              <a:solidFill>
                <a:schemeClr val="dk1"/>
              </a:solidFill>
              <a:latin typeface="Public Sans"/>
              <a:ea typeface="Public Sans"/>
              <a:cs typeface="Public Sans"/>
              <a:sym typeface="Public Sans"/>
            </a:endParaRPr>
          </a:p>
        </p:txBody>
      </p:sp>
      <p:sp>
        <p:nvSpPr>
          <p:cNvPr id="402" name="Google Shape;402;p26"/>
          <p:cNvSpPr txBox="1"/>
          <p:nvPr>
            <p:ph type="title"/>
          </p:nvPr>
        </p:nvSpPr>
        <p:spPr>
          <a:xfrm>
            <a:off x="609600" y="760065"/>
            <a:ext cx="8162544" cy="35432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400"/>
              <a:buFont typeface="Rubik"/>
              <a:buNone/>
            </a:pPr>
            <a:r>
              <a:rPr b="1" i="0" lang="en-GB" sz="2400">
                <a:solidFill>
                  <a:srgbClr val="1C2733"/>
                </a:solidFill>
                <a:latin typeface="Rubik"/>
                <a:ea typeface="Rubik"/>
                <a:cs typeface="Rubik"/>
                <a:sym typeface="Rubik"/>
              </a:rPr>
              <a:t>Above the 5 % target – but not proven</a:t>
            </a:r>
            <a:endParaRPr sz="2400"/>
          </a:p>
        </p:txBody>
      </p:sp>
      <p:sp>
        <p:nvSpPr>
          <p:cNvPr id="403" name="Google Shape;403;p26"/>
          <p:cNvSpPr/>
          <p:nvPr/>
        </p:nvSpPr>
        <p:spPr>
          <a:xfrm>
            <a:off x="609600" y="1285838"/>
            <a:ext cx="8534400" cy="21237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100"/>
              <a:buFont typeface="Public Sans"/>
              <a:buNone/>
            </a:pPr>
            <a:r>
              <a:rPr b="0" i="0" lang="en-GB" sz="1100" u="none" cap="none" strike="noStrike">
                <a:solidFill>
                  <a:srgbClr val="4A5563"/>
                </a:solidFill>
                <a:latin typeface="Public Sans"/>
                <a:ea typeface="Public Sans"/>
                <a:cs typeface="Public Sans"/>
                <a:sym typeface="Public Sans"/>
              </a:rPr>
              <a:t>Vanguard’s target: completion must rise by at least </a:t>
            </a:r>
            <a:r>
              <a:rPr b="1" i="0" lang="en-GB" sz="1100" u="none" cap="none" strike="noStrike">
                <a:solidFill>
                  <a:srgbClr val="4A5563"/>
                </a:solidFill>
                <a:latin typeface="Public Sans"/>
                <a:ea typeface="Public Sans"/>
                <a:cs typeface="Public Sans"/>
                <a:sym typeface="Public Sans"/>
              </a:rPr>
              <a:t>5 %</a:t>
            </a:r>
            <a:r>
              <a:rPr b="0" i="0" lang="en-GB" sz="1100" u="none" cap="none" strike="noStrike">
                <a:solidFill>
                  <a:srgbClr val="4A5563"/>
                </a:solidFill>
                <a:latin typeface="Public Sans"/>
                <a:ea typeface="Public Sans"/>
                <a:cs typeface="Public Sans"/>
                <a:sym typeface="Public Sans"/>
              </a:rPr>
              <a:t> → 65.6 % × 1.05 = </a:t>
            </a:r>
            <a:r>
              <a:rPr b="1" i="0" lang="en-GB" sz="1100" u="none" cap="none" strike="noStrike">
                <a:solidFill>
                  <a:srgbClr val="4A5563"/>
                </a:solidFill>
                <a:latin typeface="Public Sans"/>
                <a:ea typeface="Public Sans"/>
                <a:cs typeface="Public Sans"/>
                <a:sym typeface="Public Sans"/>
              </a:rPr>
              <a:t>68.9 %</a:t>
            </a:r>
            <a:r>
              <a:rPr b="0" i="0" lang="en-GB" sz="1100" u="none" cap="none" strike="noStrike">
                <a:solidFill>
                  <a:srgbClr val="4A5563"/>
                </a:solidFill>
                <a:latin typeface="Public Sans"/>
                <a:ea typeface="Public Sans"/>
                <a:cs typeface="Public Sans"/>
                <a:sym typeface="Public Sans"/>
              </a:rPr>
              <a:t>. We measured </a:t>
            </a:r>
            <a:r>
              <a:rPr b="1" i="0" lang="en-GB" sz="1100" u="none" cap="none" strike="noStrike">
                <a:solidFill>
                  <a:srgbClr val="4A5563"/>
                </a:solidFill>
                <a:latin typeface="Public Sans"/>
                <a:ea typeface="Public Sans"/>
                <a:cs typeface="Public Sans"/>
                <a:sym typeface="Public Sans"/>
              </a:rPr>
              <a:t>69.3 %</a:t>
            </a:r>
            <a:r>
              <a:rPr b="0" i="0" lang="en-GB" sz="1100" u="none" cap="none" strike="noStrike">
                <a:solidFill>
                  <a:srgbClr val="4A5563"/>
                </a:solidFill>
                <a:latin typeface="Public Sans"/>
                <a:ea typeface="Public Sans"/>
                <a:cs typeface="Public Sans"/>
                <a:sym typeface="Public Sans"/>
              </a:rPr>
              <a:t>, a rise of </a:t>
            </a:r>
            <a:r>
              <a:rPr b="1" i="0" lang="en-GB" sz="1100" u="none" cap="none" strike="noStrike">
                <a:solidFill>
                  <a:srgbClr val="62244F"/>
                </a:solidFill>
                <a:latin typeface="Public Sans"/>
                <a:ea typeface="Public Sans"/>
                <a:cs typeface="Public Sans"/>
                <a:sym typeface="Public Sans"/>
              </a:rPr>
              <a:t>+5.7 %</a:t>
            </a:r>
            <a:r>
              <a:rPr b="0" i="0" lang="en-GB" sz="1100" u="none" cap="none" strike="noStrike">
                <a:solidFill>
                  <a:srgbClr val="4A5563"/>
                </a:solidFill>
                <a:latin typeface="Public Sans"/>
                <a:ea typeface="Public Sans"/>
                <a:cs typeface="Public Sans"/>
                <a:sym typeface="Public Sans"/>
              </a:rPr>
              <a:t>.</a:t>
            </a:r>
            <a:endParaRPr b="0" i="0" sz="1100" u="none" cap="none" strike="noStrike">
              <a:solidFill>
                <a:schemeClr val="dk1"/>
              </a:solidFill>
              <a:latin typeface="Public Sans"/>
              <a:ea typeface="Public Sans"/>
              <a:cs typeface="Public Sans"/>
              <a:sym typeface="Public Sans"/>
            </a:endParaRPr>
          </a:p>
        </p:txBody>
      </p:sp>
      <p:sp>
        <p:nvSpPr>
          <p:cNvPr id="404" name="Google Shape;404;p26"/>
          <p:cNvSpPr/>
          <p:nvPr/>
        </p:nvSpPr>
        <p:spPr>
          <a:xfrm>
            <a:off x="609600" y="2384041"/>
            <a:ext cx="5715000" cy="14288"/>
          </a:xfrm>
          <a:prstGeom prst="rect">
            <a:avLst/>
          </a:prstGeom>
          <a:solidFill>
            <a:srgbClr val="1C27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5" name="Google Shape;405;p26"/>
          <p:cNvSpPr/>
          <p:nvPr/>
        </p:nvSpPr>
        <p:spPr>
          <a:xfrm>
            <a:off x="3752850" y="2231641"/>
            <a:ext cx="1785938" cy="314325"/>
          </a:xfrm>
          <a:prstGeom prst="roundRect">
            <a:avLst>
              <a:gd fmla="val 18182" name="adj"/>
            </a:avLst>
          </a:prstGeom>
          <a:solidFill>
            <a:srgbClr val="62244F">
              <a:alpha val="2196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6" name="Google Shape;406;p26"/>
          <p:cNvSpPr/>
          <p:nvPr/>
        </p:nvSpPr>
        <p:spPr>
          <a:xfrm>
            <a:off x="4543425" y="2279266"/>
            <a:ext cx="219075" cy="219075"/>
          </a:xfrm>
          <a:prstGeom prst="roundRect">
            <a:avLst>
              <a:gd fmla="val 50000" name="adj"/>
            </a:avLst>
          </a:prstGeom>
          <a:solidFill>
            <a:srgbClr val="6224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26"/>
          <p:cNvSpPr/>
          <p:nvPr/>
        </p:nvSpPr>
        <p:spPr>
          <a:xfrm>
            <a:off x="4110038" y="1983991"/>
            <a:ext cx="1085850" cy="205717"/>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1100"/>
              <a:buFont typeface="Public Sans"/>
              <a:buNone/>
            </a:pPr>
            <a:r>
              <a:rPr b="1" i="0" lang="en-GB" sz="1100" u="none" cap="none" strike="noStrike">
                <a:solidFill>
                  <a:srgbClr val="62244F"/>
                </a:solidFill>
                <a:latin typeface="Public Sans"/>
                <a:ea typeface="Public Sans"/>
                <a:cs typeface="Public Sans"/>
                <a:sym typeface="Public Sans"/>
              </a:rPr>
              <a:t>+5.7 %</a:t>
            </a:r>
            <a:endParaRPr b="0" i="0" sz="1100" u="none" cap="none" strike="noStrike">
              <a:solidFill>
                <a:schemeClr val="dk1"/>
              </a:solidFill>
              <a:latin typeface="Public Sans"/>
              <a:ea typeface="Public Sans"/>
              <a:cs typeface="Public Sans"/>
              <a:sym typeface="Public Sans"/>
            </a:endParaRPr>
          </a:p>
        </p:txBody>
      </p:sp>
      <p:sp>
        <p:nvSpPr>
          <p:cNvPr id="408" name="Google Shape;408;p26"/>
          <p:cNvSpPr/>
          <p:nvPr/>
        </p:nvSpPr>
        <p:spPr>
          <a:xfrm>
            <a:off x="4172214" y="1895513"/>
            <a:ext cx="18600" cy="790200"/>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26"/>
          <p:cNvSpPr/>
          <p:nvPr/>
        </p:nvSpPr>
        <p:spPr>
          <a:xfrm>
            <a:off x="2905125" y="1764916"/>
            <a:ext cx="1181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Target 5 %</a:t>
            </a:r>
            <a:endParaRPr b="0" i="0" sz="900" u="none" cap="none" strike="noStrike">
              <a:solidFill>
                <a:schemeClr val="dk1"/>
              </a:solidFill>
              <a:latin typeface="Public Sans"/>
              <a:ea typeface="Public Sans"/>
              <a:cs typeface="Public Sans"/>
              <a:sym typeface="Public Sans"/>
            </a:endParaRPr>
          </a:p>
        </p:txBody>
      </p:sp>
      <p:sp>
        <p:nvSpPr>
          <p:cNvPr id="410" name="Google Shape;410;p26"/>
          <p:cNvSpPr/>
          <p:nvPr/>
        </p:nvSpPr>
        <p:spPr>
          <a:xfrm>
            <a:off x="3733173" y="2748928"/>
            <a:ext cx="1839600" cy="165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2244F"/>
              </a:buClr>
              <a:buSzPts val="800"/>
              <a:buFont typeface="Public Sans"/>
              <a:buNone/>
            </a:pPr>
            <a:r>
              <a:rPr b="0" i="0" lang="en-GB" sz="800" u="none" cap="none" strike="noStrike">
                <a:solidFill>
                  <a:srgbClr val="62244F"/>
                </a:solidFill>
                <a:latin typeface="Public Sans"/>
                <a:ea typeface="Public Sans"/>
                <a:cs typeface="Public Sans"/>
                <a:sym typeface="Public Sans"/>
              </a:rPr>
              <a:t>95 % CI: +4.4 % to +6.9 %</a:t>
            </a:r>
            <a:endParaRPr b="0" i="0" sz="800" u="none" cap="none" strike="noStrike">
              <a:solidFill>
                <a:schemeClr val="dk1"/>
              </a:solidFill>
              <a:latin typeface="Public Sans"/>
              <a:ea typeface="Public Sans"/>
              <a:cs typeface="Public Sans"/>
              <a:sym typeface="Public Sans"/>
            </a:endParaRPr>
          </a:p>
        </p:txBody>
      </p:sp>
      <p:sp>
        <p:nvSpPr>
          <p:cNvPr id="411" name="Google Shape;411;p26"/>
          <p:cNvSpPr/>
          <p:nvPr/>
        </p:nvSpPr>
        <p:spPr>
          <a:xfrm>
            <a:off x="609600" y="2557903"/>
            <a:ext cx="324000" cy="179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0 %</a:t>
            </a:r>
            <a:endParaRPr b="0" i="0" sz="900" u="none" cap="none" strike="noStrike">
              <a:solidFill>
                <a:schemeClr val="dk1"/>
              </a:solidFill>
              <a:latin typeface="Public Sans"/>
              <a:ea typeface="Public Sans"/>
              <a:cs typeface="Public Sans"/>
              <a:sym typeface="Public Sans"/>
            </a:endParaRPr>
          </a:p>
        </p:txBody>
      </p:sp>
      <p:sp>
        <p:nvSpPr>
          <p:cNvPr id="412" name="Google Shape;412;p26"/>
          <p:cNvSpPr/>
          <p:nvPr/>
        </p:nvSpPr>
        <p:spPr>
          <a:xfrm>
            <a:off x="1959475" y="2557903"/>
            <a:ext cx="324000" cy="179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2 %</a:t>
            </a:r>
            <a:endParaRPr b="0" i="0" sz="900" u="none" cap="none" strike="noStrike">
              <a:solidFill>
                <a:schemeClr val="dk1"/>
              </a:solidFill>
              <a:latin typeface="Public Sans"/>
              <a:ea typeface="Public Sans"/>
              <a:cs typeface="Public Sans"/>
              <a:sym typeface="Public Sans"/>
            </a:endParaRPr>
          </a:p>
        </p:txBody>
      </p:sp>
      <p:sp>
        <p:nvSpPr>
          <p:cNvPr id="413" name="Google Shape;413;p26"/>
          <p:cNvSpPr/>
          <p:nvPr/>
        </p:nvSpPr>
        <p:spPr>
          <a:xfrm>
            <a:off x="3309338" y="2557903"/>
            <a:ext cx="324000" cy="179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4 %</a:t>
            </a:r>
            <a:endParaRPr b="0" i="0" sz="900" u="none" cap="none" strike="noStrike">
              <a:solidFill>
                <a:schemeClr val="dk1"/>
              </a:solidFill>
              <a:latin typeface="Public Sans"/>
              <a:ea typeface="Public Sans"/>
              <a:cs typeface="Public Sans"/>
              <a:sym typeface="Public Sans"/>
            </a:endParaRPr>
          </a:p>
        </p:txBody>
      </p:sp>
      <p:sp>
        <p:nvSpPr>
          <p:cNvPr id="414" name="Google Shape;414;p26"/>
          <p:cNvSpPr/>
          <p:nvPr/>
        </p:nvSpPr>
        <p:spPr>
          <a:xfrm>
            <a:off x="4754663" y="2571551"/>
            <a:ext cx="307800" cy="151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6 %</a:t>
            </a:r>
            <a:endParaRPr b="0" i="0" sz="900" u="none" cap="none" strike="noStrike">
              <a:solidFill>
                <a:schemeClr val="dk1"/>
              </a:solidFill>
              <a:latin typeface="Public Sans"/>
              <a:ea typeface="Public Sans"/>
              <a:cs typeface="Public Sans"/>
              <a:sym typeface="Public Sans"/>
            </a:endParaRPr>
          </a:p>
        </p:txBody>
      </p:sp>
      <p:sp>
        <p:nvSpPr>
          <p:cNvPr id="415" name="Google Shape;415;p26"/>
          <p:cNvSpPr/>
          <p:nvPr/>
        </p:nvSpPr>
        <p:spPr>
          <a:xfrm>
            <a:off x="6079575" y="2557903"/>
            <a:ext cx="324000" cy="179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8 %</a:t>
            </a:r>
            <a:endParaRPr b="0" i="0" sz="900" u="none" cap="none" strike="noStrike">
              <a:solidFill>
                <a:schemeClr val="dk1"/>
              </a:solidFill>
              <a:latin typeface="Public Sans"/>
              <a:ea typeface="Public Sans"/>
              <a:cs typeface="Public Sans"/>
              <a:sym typeface="Public Sans"/>
            </a:endParaRPr>
          </a:p>
        </p:txBody>
      </p:sp>
      <p:sp>
        <p:nvSpPr>
          <p:cNvPr id="416" name="Google Shape;416;p26"/>
          <p:cNvSpPr/>
          <p:nvPr/>
        </p:nvSpPr>
        <p:spPr>
          <a:xfrm>
            <a:off x="609600" y="3081778"/>
            <a:ext cx="2552700" cy="1099200"/>
          </a:xfrm>
          <a:prstGeom prst="roundRect">
            <a:avLst>
              <a:gd fmla="val 7799"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26"/>
          <p:cNvSpPr/>
          <p:nvPr/>
        </p:nvSpPr>
        <p:spPr>
          <a:xfrm>
            <a:off x="771525" y="3243703"/>
            <a:ext cx="22956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Hypotheses · one-sided Welch t-test, α = 0.05</a:t>
            </a:r>
            <a:endParaRPr b="0" i="0" sz="900" u="none" cap="none" strike="noStrike">
              <a:solidFill>
                <a:schemeClr val="dk1"/>
              </a:solidFill>
              <a:latin typeface="Public Sans"/>
              <a:ea typeface="Public Sans"/>
              <a:cs typeface="Public Sans"/>
              <a:sym typeface="Public Sans"/>
            </a:endParaRPr>
          </a:p>
        </p:txBody>
      </p:sp>
      <p:sp>
        <p:nvSpPr>
          <p:cNvPr id="418" name="Google Shape;418;p26"/>
          <p:cNvSpPr/>
          <p:nvPr/>
        </p:nvSpPr>
        <p:spPr>
          <a:xfrm>
            <a:off x="771525" y="3611308"/>
            <a:ext cx="2295600" cy="391800"/>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1C2733"/>
              </a:buClr>
              <a:buSzPts val="1000"/>
              <a:buFont typeface="Public Sans"/>
              <a:buNone/>
            </a:pPr>
            <a:r>
              <a:rPr b="0" i="0" lang="en-GB" sz="1000" u="none" cap="none" strike="noStrike">
                <a:solidFill>
                  <a:srgbClr val="1C2733"/>
                </a:solidFill>
                <a:latin typeface="Public Sans"/>
                <a:ea typeface="Public Sans"/>
                <a:cs typeface="Public Sans"/>
                <a:sym typeface="Public Sans"/>
              </a:rPr>
              <a:t>H₀: </a:t>
            </a:r>
            <a:r>
              <a:rPr lang="en-GB" sz="1000">
                <a:solidFill>
                  <a:srgbClr val="1C2733"/>
                </a:solidFill>
                <a:latin typeface="Public Sans"/>
                <a:ea typeface="Public Sans"/>
                <a:cs typeface="Public Sans"/>
                <a:sym typeface="Public Sans"/>
              </a:rPr>
              <a:t>completion</a:t>
            </a:r>
            <a:r>
              <a:rPr lang="en-GB" sz="1000">
                <a:solidFill>
                  <a:srgbClr val="1C2733"/>
                </a:solidFill>
                <a:latin typeface="Public Sans"/>
                <a:ea typeface="Public Sans"/>
                <a:cs typeface="Public Sans"/>
                <a:sym typeface="Public Sans"/>
              </a:rPr>
              <a:t> rate </a:t>
            </a:r>
            <a:r>
              <a:rPr b="0" i="0" lang="en-GB" sz="1000" u="none" cap="none" strike="noStrike">
                <a:solidFill>
                  <a:srgbClr val="1C2733"/>
                </a:solidFill>
                <a:latin typeface="Public Sans"/>
                <a:ea typeface="Public Sans"/>
                <a:cs typeface="Public Sans"/>
                <a:sym typeface="Public Sans"/>
              </a:rPr>
              <a:t>rise ≤ 5 % </a:t>
            </a:r>
            <a:endParaRPr b="0" i="0" sz="1000" u="none" cap="none" strike="noStrike">
              <a:solidFill>
                <a:schemeClr val="dk1"/>
              </a:solidFill>
              <a:latin typeface="Public Sans"/>
              <a:ea typeface="Public Sans"/>
              <a:cs typeface="Public Sans"/>
              <a:sym typeface="Public Sans"/>
            </a:endParaRPr>
          </a:p>
          <a:p>
            <a:pPr indent="0" lvl="0" marL="0" marR="0" rtl="0" algn="l">
              <a:lnSpc>
                <a:spcPct val="145037"/>
              </a:lnSpc>
              <a:spcBef>
                <a:spcPts val="0"/>
              </a:spcBef>
              <a:spcAft>
                <a:spcPts val="0"/>
              </a:spcAft>
              <a:buClr>
                <a:srgbClr val="1C2733"/>
              </a:buClr>
              <a:buSzPts val="1000"/>
              <a:buFont typeface="Public Sans"/>
              <a:buNone/>
            </a:pPr>
            <a:r>
              <a:rPr b="0" i="0" lang="en-GB" sz="1000" u="none" cap="none" strike="noStrike">
                <a:solidFill>
                  <a:srgbClr val="1C2733"/>
                </a:solidFill>
                <a:latin typeface="Public Sans"/>
                <a:ea typeface="Public Sans"/>
                <a:cs typeface="Public Sans"/>
                <a:sym typeface="Public Sans"/>
              </a:rPr>
              <a:t>H₁: </a:t>
            </a:r>
            <a:r>
              <a:rPr lang="en-GB" sz="1000">
                <a:solidFill>
                  <a:schemeClr val="dk1"/>
                </a:solidFill>
                <a:latin typeface="Public Sans"/>
                <a:ea typeface="Public Sans"/>
                <a:cs typeface="Public Sans"/>
                <a:sym typeface="Public Sans"/>
              </a:rPr>
              <a:t>completion rate </a:t>
            </a:r>
            <a:r>
              <a:rPr b="0" i="0" lang="en-GB" sz="1000" u="none" cap="none" strike="noStrike">
                <a:solidFill>
                  <a:srgbClr val="1C2733"/>
                </a:solidFill>
                <a:latin typeface="Public Sans"/>
                <a:ea typeface="Public Sans"/>
                <a:cs typeface="Public Sans"/>
                <a:sym typeface="Public Sans"/>
              </a:rPr>
              <a:t>rise &gt; 5 %</a:t>
            </a:r>
            <a:endParaRPr b="0" i="0" sz="1000" u="none" cap="none" strike="noStrike">
              <a:solidFill>
                <a:schemeClr val="dk1"/>
              </a:solidFill>
              <a:latin typeface="Public Sans"/>
              <a:ea typeface="Public Sans"/>
              <a:cs typeface="Public Sans"/>
              <a:sym typeface="Public Sans"/>
            </a:endParaRPr>
          </a:p>
        </p:txBody>
      </p:sp>
      <p:sp>
        <p:nvSpPr>
          <p:cNvPr id="419" name="Google Shape;419;p26"/>
          <p:cNvSpPr/>
          <p:nvPr/>
        </p:nvSpPr>
        <p:spPr>
          <a:xfrm>
            <a:off x="3295650" y="3081778"/>
            <a:ext cx="2552700" cy="1099200"/>
          </a:xfrm>
          <a:prstGeom prst="roundRect">
            <a:avLst>
              <a:gd fmla="val 7799"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0" name="Google Shape;420;p26"/>
          <p:cNvSpPr/>
          <p:nvPr/>
        </p:nvSpPr>
        <p:spPr>
          <a:xfrm>
            <a:off x="3457575" y="3243703"/>
            <a:ext cx="22956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Result</a:t>
            </a:r>
            <a:endParaRPr b="0" i="0" sz="900" u="none" cap="none" strike="noStrike">
              <a:solidFill>
                <a:schemeClr val="dk1"/>
              </a:solidFill>
              <a:latin typeface="Public Sans"/>
              <a:ea typeface="Public Sans"/>
              <a:cs typeface="Public Sans"/>
              <a:sym typeface="Public Sans"/>
            </a:endParaRPr>
          </a:p>
        </p:txBody>
      </p:sp>
      <p:sp>
        <p:nvSpPr>
          <p:cNvPr id="421" name="Google Shape;421;p26"/>
          <p:cNvSpPr/>
          <p:nvPr/>
        </p:nvSpPr>
        <p:spPr>
          <a:xfrm>
            <a:off x="3457575" y="3451318"/>
            <a:ext cx="2295600" cy="365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2000"/>
              <a:buFont typeface="Rubik"/>
              <a:buNone/>
            </a:pPr>
            <a:r>
              <a:rPr b="1" i="0" lang="en-GB" sz="2000" u="none" cap="none" strike="noStrike">
                <a:solidFill>
                  <a:srgbClr val="8E2525"/>
                </a:solidFill>
                <a:latin typeface="Rubik"/>
                <a:ea typeface="Rubik"/>
                <a:cs typeface="Rubik"/>
                <a:sym typeface="Rubik"/>
              </a:rPr>
              <a:t>p = 0.149</a:t>
            </a:r>
            <a:endParaRPr b="0" i="0" sz="2000" u="none" cap="none" strike="noStrike">
              <a:solidFill>
                <a:schemeClr val="dk1"/>
              </a:solidFill>
              <a:latin typeface="Public Sans"/>
              <a:ea typeface="Public Sans"/>
              <a:cs typeface="Public Sans"/>
              <a:sym typeface="Public Sans"/>
            </a:endParaRPr>
          </a:p>
        </p:txBody>
      </p:sp>
      <p:sp>
        <p:nvSpPr>
          <p:cNvPr id="422" name="Google Shape;422;p26"/>
          <p:cNvSpPr/>
          <p:nvPr/>
        </p:nvSpPr>
        <p:spPr>
          <a:xfrm>
            <a:off x="3457575" y="3845638"/>
            <a:ext cx="2295600" cy="19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3"/>
              </a:buClr>
              <a:buSzPts val="1000"/>
              <a:buFont typeface="Public Sans"/>
              <a:buNone/>
            </a:pPr>
            <a:r>
              <a:rPr b="0" i="0" lang="en-GB" sz="1000" u="none" cap="none" strike="noStrike">
                <a:solidFill>
                  <a:srgbClr val="4A5563"/>
                </a:solidFill>
                <a:latin typeface="Public Sans"/>
                <a:ea typeface="Public Sans"/>
                <a:cs typeface="Public Sans"/>
                <a:sym typeface="Public Sans"/>
              </a:rPr>
              <a:t>&gt; 0.05 → we cannot reject H₀</a:t>
            </a:r>
            <a:endParaRPr b="0" i="0" sz="1000" u="none" cap="none" strike="noStrike">
              <a:solidFill>
                <a:schemeClr val="dk1"/>
              </a:solidFill>
              <a:latin typeface="Public Sans"/>
              <a:ea typeface="Public Sans"/>
              <a:cs typeface="Public Sans"/>
              <a:sym typeface="Public Sans"/>
            </a:endParaRPr>
          </a:p>
        </p:txBody>
      </p:sp>
      <p:sp>
        <p:nvSpPr>
          <p:cNvPr id="423" name="Google Shape;423;p26"/>
          <p:cNvSpPr/>
          <p:nvPr/>
        </p:nvSpPr>
        <p:spPr>
          <a:xfrm>
            <a:off x="5981700" y="3081778"/>
            <a:ext cx="2552700" cy="1099200"/>
          </a:xfrm>
          <a:prstGeom prst="roundRect">
            <a:avLst>
              <a:gd fmla="val 7799" name="adj"/>
            </a:avLst>
          </a:prstGeom>
          <a:solidFill>
            <a:srgbClr val="F3E8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26"/>
          <p:cNvSpPr/>
          <p:nvPr/>
        </p:nvSpPr>
        <p:spPr>
          <a:xfrm>
            <a:off x="6143625" y="3243703"/>
            <a:ext cx="22956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0" i="0" lang="en-GB" sz="900" u="none" cap="none" strike="noStrike">
                <a:solidFill>
                  <a:srgbClr val="6B7480"/>
                </a:solidFill>
                <a:latin typeface="Public Sans"/>
                <a:ea typeface="Public Sans"/>
                <a:cs typeface="Public Sans"/>
                <a:sym typeface="Public Sans"/>
              </a:rPr>
              <a:t>In plain words</a:t>
            </a:r>
            <a:endParaRPr b="0" i="0" sz="900" u="none" cap="none" strike="noStrike">
              <a:solidFill>
                <a:schemeClr val="dk1"/>
              </a:solidFill>
              <a:latin typeface="Public Sans"/>
              <a:ea typeface="Public Sans"/>
              <a:cs typeface="Public Sans"/>
              <a:sym typeface="Public Sans"/>
            </a:endParaRPr>
          </a:p>
        </p:txBody>
      </p:sp>
      <p:sp>
        <p:nvSpPr>
          <p:cNvPr id="425" name="Google Shape;425;p26"/>
          <p:cNvSpPr/>
          <p:nvPr/>
        </p:nvSpPr>
        <p:spPr>
          <a:xfrm>
            <a:off x="6143625" y="3451318"/>
            <a:ext cx="2295600" cy="578400"/>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1C2733"/>
              </a:buClr>
              <a:buSzPts val="1000"/>
              <a:buFont typeface="Public Sans"/>
              <a:buNone/>
            </a:pPr>
            <a:r>
              <a:rPr b="0" i="0" lang="en-GB" sz="1000" u="none" cap="none" strike="noStrike">
                <a:solidFill>
                  <a:srgbClr val="1C2733"/>
                </a:solidFill>
                <a:latin typeface="Public Sans"/>
                <a:ea typeface="Public Sans"/>
                <a:cs typeface="Public Sans"/>
                <a:sym typeface="Public Sans"/>
              </a:rPr>
              <a:t>The real rise could be as low as </a:t>
            </a:r>
            <a:r>
              <a:rPr b="1" i="0" lang="en-GB" sz="1000" u="none" cap="none" strike="noStrike">
                <a:solidFill>
                  <a:srgbClr val="1C2733"/>
                </a:solidFill>
                <a:latin typeface="Public Sans"/>
                <a:ea typeface="Public Sans"/>
                <a:cs typeface="Public Sans"/>
                <a:sym typeface="Public Sans"/>
              </a:rPr>
              <a:t>+4.4 %</a:t>
            </a:r>
            <a:r>
              <a:rPr b="0" i="0" lang="en-GB" sz="1000" u="none" cap="none" strike="noStrike">
                <a:solidFill>
                  <a:srgbClr val="1C2733"/>
                </a:solidFill>
                <a:latin typeface="Public Sans"/>
                <a:ea typeface="Public Sans"/>
                <a:cs typeface="Public Sans"/>
                <a:sym typeface="Public Sans"/>
              </a:rPr>
              <a:t> – below the target. So it is </a:t>
            </a:r>
            <a:r>
              <a:rPr b="1" i="0" lang="en-GB" sz="1000" u="none" cap="none" strike="noStrike">
                <a:solidFill>
                  <a:srgbClr val="1C2733"/>
                </a:solidFill>
                <a:latin typeface="Public Sans"/>
                <a:ea typeface="Public Sans"/>
                <a:cs typeface="Public Sans"/>
                <a:sym typeface="Public Sans"/>
              </a:rPr>
              <a:t>not proven</a:t>
            </a:r>
            <a:r>
              <a:rPr b="0" i="0" lang="en-GB" sz="1000" u="none" cap="none" strike="noStrike">
                <a:solidFill>
                  <a:srgbClr val="1C2733"/>
                </a:solidFill>
                <a:latin typeface="Public Sans"/>
                <a:ea typeface="Public Sans"/>
                <a:cs typeface="Public Sans"/>
                <a:sym typeface="Public Sans"/>
              </a:rPr>
              <a:t>.</a:t>
            </a:r>
            <a:endParaRPr b="0" i="0" sz="1000" u="none" cap="none" strike="noStrike">
              <a:solidFill>
                <a:schemeClr val="dk1"/>
              </a:solidFill>
              <a:latin typeface="Public Sans"/>
              <a:ea typeface="Public Sans"/>
              <a:cs typeface="Public Sans"/>
              <a:sym typeface="Public Sans"/>
            </a:endParaRPr>
          </a:p>
        </p:txBody>
      </p:sp>
      <p:pic>
        <p:nvPicPr>
          <p:cNvPr descr="vanguard-logo.png" id="426" name="Google Shape;426;p26"/>
          <p:cNvPicPr preferRelativeResize="0"/>
          <p:nvPr/>
        </p:nvPicPr>
        <p:blipFill rotWithShape="1">
          <a:blip r:embed="rId3">
            <a:alphaModFix/>
          </a:blip>
          <a:srcRect b="0" l="177" r="177" t="0"/>
          <a:stretch/>
        </p:blipFill>
        <p:spPr>
          <a:xfrm>
            <a:off x="8358188" y="4348163"/>
            <a:ext cx="523875" cy="542925"/>
          </a:xfrm>
          <a:prstGeom prst="rect">
            <a:avLst/>
          </a:prstGeom>
          <a:noFill/>
          <a:ln>
            <a:noFill/>
          </a:ln>
        </p:spPr>
      </p:pic>
      <p:sp>
        <p:nvSpPr>
          <p:cNvPr id="427" name="Google Shape;427;p26"/>
          <p:cNvSpPr/>
          <p:nvPr/>
        </p:nvSpPr>
        <p:spPr>
          <a:xfrm>
            <a:off x="609600" y="4781550"/>
            <a:ext cx="343615"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11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27"/>
          <p:cNvSpPr/>
          <p:nvPr/>
        </p:nvSpPr>
        <p:spPr>
          <a:xfrm>
            <a:off x="609600" y="0"/>
            <a:ext cx="533400" cy="47625"/>
          </a:xfrm>
          <a:prstGeom prst="rect">
            <a:avLst/>
          </a:prstGeom>
          <a:solidFill>
            <a:srgbClr val="8E25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4" name="Google Shape;434;p27"/>
          <p:cNvSpPr/>
          <p:nvPr/>
        </p:nvSpPr>
        <p:spPr>
          <a:xfrm>
            <a:off x="609600" y="5334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900"/>
              <a:buFont typeface="Public Sans"/>
              <a:buNone/>
            </a:pPr>
            <a:r>
              <a:rPr b="1" i="0" lang="en-GB" sz="900" u="none" cap="none" strike="noStrike">
                <a:solidFill>
                  <a:srgbClr val="8E2525"/>
                </a:solidFill>
                <a:latin typeface="Public Sans"/>
                <a:ea typeface="Public Sans"/>
                <a:cs typeface="Public Sans"/>
                <a:sym typeface="Public Sans"/>
              </a:rPr>
              <a:t>CONCLUSION</a:t>
            </a:r>
            <a:endParaRPr b="0" i="0" sz="900" u="none" cap="none" strike="noStrike">
              <a:solidFill>
                <a:schemeClr val="dk1"/>
              </a:solidFill>
              <a:latin typeface="Public Sans"/>
              <a:ea typeface="Public Sans"/>
              <a:cs typeface="Public Sans"/>
              <a:sym typeface="Public Sans"/>
            </a:endParaRPr>
          </a:p>
        </p:txBody>
      </p:sp>
      <p:sp>
        <p:nvSpPr>
          <p:cNvPr id="435" name="Google Shape;435;p27"/>
          <p:cNvSpPr txBox="1"/>
          <p:nvPr>
            <p:ph type="title"/>
          </p:nvPr>
        </p:nvSpPr>
        <p:spPr>
          <a:xfrm>
            <a:off x="609600" y="760065"/>
            <a:ext cx="8162544" cy="36477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733"/>
              </a:buClr>
              <a:buSzPts val="2500"/>
              <a:buFont typeface="Rubik"/>
              <a:buNone/>
            </a:pPr>
            <a:r>
              <a:rPr b="1" i="0" lang="en-GB" sz="2500">
                <a:solidFill>
                  <a:srgbClr val="1C2733"/>
                </a:solidFill>
                <a:latin typeface="Rubik"/>
                <a:ea typeface="Rubik"/>
                <a:cs typeface="Rubik"/>
                <a:sym typeface="Rubik"/>
              </a:rPr>
              <a:t>Better, but not proven better enough</a:t>
            </a:r>
            <a:endParaRPr sz="2500"/>
          </a:p>
        </p:txBody>
      </p:sp>
      <p:sp>
        <p:nvSpPr>
          <p:cNvPr id="436" name="Google Shape;436;p27"/>
          <p:cNvSpPr/>
          <p:nvPr/>
        </p:nvSpPr>
        <p:spPr>
          <a:xfrm>
            <a:off x="609600" y="1315343"/>
            <a:ext cx="370846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b="1" i="0" lang="en-GB" sz="900" u="none" cap="none" strike="noStrike">
                <a:solidFill>
                  <a:srgbClr val="6B7480"/>
                </a:solidFill>
                <a:latin typeface="Public Sans"/>
                <a:ea typeface="Public Sans"/>
                <a:cs typeface="Public Sans"/>
                <a:sym typeface="Public Sans"/>
              </a:rPr>
              <a:t>KEY FINDINGS</a:t>
            </a:r>
            <a:endParaRPr b="0" i="0" sz="900" u="none" cap="none" strike="noStrike">
              <a:solidFill>
                <a:schemeClr val="dk1"/>
              </a:solidFill>
              <a:latin typeface="Public Sans"/>
              <a:ea typeface="Public Sans"/>
              <a:cs typeface="Public Sans"/>
              <a:sym typeface="Public Sans"/>
            </a:endParaRPr>
          </a:p>
        </p:txBody>
      </p:sp>
      <p:sp>
        <p:nvSpPr>
          <p:cNvPr id="437" name="Google Shape;437;p27"/>
          <p:cNvSpPr/>
          <p:nvPr/>
        </p:nvSpPr>
        <p:spPr>
          <a:xfrm>
            <a:off x="609600" y="1608683"/>
            <a:ext cx="122262" cy="2857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500"/>
              <a:buFont typeface="Rubik"/>
              <a:buNone/>
            </a:pPr>
            <a:r>
              <a:rPr b="1" i="0" lang="en-GB" sz="1500" u="none" cap="none" strike="noStrike">
                <a:solidFill>
                  <a:srgbClr val="62244F"/>
                </a:solidFill>
                <a:latin typeface="Rubik"/>
                <a:ea typeface="Rubik"/>
                <a:cs typeface="Rubik"/>
                <a:sym typeface="Rubik"/>
              </a:rPr>
              <a:t>1</a:t>
            </a:r>
            <a:endParaRPr b="0" i="0" sz="1500" u="none" cap="none" strike="noStrike">
              <a:solidFill>
                <a:schemeClr val="dk1"/>
              </a:solidFill>
              <a:latin typeface="Public Sans"/>
              <a:ea typeface="Public Sans"/>
              <a:cs typeface="Public Sans"/>
              <a:sym typeface="Public Sans"/>
            </a:endParaRPr>
          </a:p>
        </p:txBody>
      </p:sp>
      <p:sp>
        <p:nvSpPr>
          <p:cNvPr id="438" name="Google Shape;438;p27"/>
          <p:cNvSpPr/>
          <p:nvPr/>
        </p:nvSpPr>
        <p:spPr>
          <a:xfrm>
            <a:off x="789012" y="1608683"/>
            <a:ext cx="3523669" cy="40570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Completion rises by </a:t>
            </a:r>
            <a:r>
              <a:rPr b="1" lang="en-GB" sz="1100">
                <a:solidFill>
                  <a:srgbClr val="1C2733"/>
                </a:solidFill>
                <a:latin typeface="Public Sans"/>
                <a:ea typeface="Public Sans"/>
                <a:cs typeface="Public Sans"/>
                <a:sym typeface="Public Sans"/>
              </a:rPr>
              <a:t>5.7% </a:t>
            </a:r>
            <a:r>
              <a:rPr b="0" i="0" lang="en-GB" sz="1100" u="none" cap="none" strike="noStrike">
                <a:solidFill>
                  <a:srgbClr val="1C2733"/>
                </a:solidFill>
                <a:latin typeface="Public Sans"/>
                <a:ea typeface="Public Sans"/>
                <a:cs typeface="Public Sans"/>
                <a:sym typeface="Public Sans"/>
              </a:rPr>
              <a:t>,</a:t>
            </a:r>
            <a:endParaRPr sz="1100">
              <a:solidFill>
                <a:srgbClr val="1C2733"/>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p &lt; 0.001</a:t>
            </a:r>
            <a:endParaRPr b="0" i="0" sz="1100" u="none" cap="none" strike="noStrike">
              <a:solidFill>
                <a:schemeClr val="dk1"/>
              </a:solidFill>
              <a:latin typeface="Public Sans"/>
              <a:ea typeface="Public Sans"/>
              <a:cs typeface="Public Sans"/>
              <a:sym typeface="Public Sans"/>
            </a:endParaRPr>
          </a:p>
        </p:txBody>
      </p:sp>
      <p:sp>
        <p:nvSpPr>
          <p:cNvPr id="439" name="Google Shape;439;p27"/>
          <p:cNvSpPr/>
          <p:nvPr/>
        </p:nvSpPr>
        <p:spPr>
          <a:xfrm>
            <a:off x="609600" y="2128689"/>
            <a:ext cx="158874" cy="2857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500"/>
              <a:buFont typeface="Rubik"/>
              <a:buNone/>
            </a:pPr>
            <a:r>
              <a:rPr b="1" i="0" lang="en-GB" sz="1500" u="none" cap="none" strike="noStrike">
                <a:solidFill>
                  <a:srgbClr val="62244F"/>
                </a:solidFill>
                <a:latin typeface="Rubik"/>
                <a:ea typeface="Rubik"/>
                <a:cs typeface="Rubik"/>
                <a:sym typeface="Rubik"/>
              </a:rPr>
              <a:t>2</a:t>
            </a:r>
            <a:endParaRPr b="0" i="0" sz="1500" u="none" cap="none" strike="noStrike">
              <a:solidFill>
                <a:schemeClr val="dk1"/>
              </a:solidFill>
              <a:latin typeface="Public Sans"/>
              <a:ea typeface="Public Sans"/>
              <a:cs typeface="Public Sans"/>
              <a:sym typeface="Public Sans"/>
            </a:endParaRPr>
          </a:p>
        </p:txBody>
      </p:sp>
      <p:sp>
        <p:nvSpPr>
          <p:cNvPr id="440" name="Google Shape;440;p27"/>
          <p:cNvSpPr/>
          <p:nvPr/>
        </p:nvSpPr>
        <p:spPr>
          <a:xfrm>
            <a:off x="825624" y="2128689"/>
            <a:ext cx="3031897" cy="21237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0" i="0" lang="en-GB" sz="1100" u="none" cap="none" strike="noStrike">
                <a:solidFill>
                  <a:srgbClr val="1C2733"/>
                </a:solidFill>
                <a:latin typeface="Public Sans"/>
                <a:ea typeface="Public Sans"/>
                <a:cs typeface="Public Sans"/>
                <a:sym typeface="Public Sans"/>
              </a:rPr>
              <a:t>The </a:t>
            </a:r>
            <a:r>
              <a:rPr b="1" i="0" lang="en-GB" sz="1100" u="none" cap="none" strike="noStrike">
                <a:solidFill>
                  <a:srgbClr val="1C2733"/>
                </a:solidFill>
                <a:latin typeface="Public Sans"/>
                <a:ea typeface="Public Sans"/>
                <a:cs typeface="Public Sans"/>
                <a:sym typeface="Public Sans"/>
              </a:rPr>
              <a:t>5 % threshold</a:t>
            </a:r>
            <a:r>
              <a:rPr b="0" i="0" lang="en-GB" sz="1100" u="none" cap="none" strike="noStrike">
                <a:solidFill>
                  <a:srgbClr val="1C2733"/>
                </a:solidFill>
                <a:latin typeface="Public Sans"/>
                <a:ea typeface="Public Sans"/>
                <a:cs typeface="Public Sans"/>
                <a:sym typeface="Public Sans"/>
              </a:rPr>
              <a:t> is not clearly passed</a:t>
            </a:r>
            <a:endParaRPr b="0" i="0" sz="1100" u="none" cap="none" strike="noStrike">
              <a:solidFill>
                <a:schemeClr val="dk1"/>
              </a:solidFill>
              <a:latin typeface="Public Sans"/>
              <a:ea typeface="Public Sans"/>
              <a:cs typeface="Public Sans"/>
              <a:sym typeface="Public Sans"/>
            </a:endParaRPr>
          </a:p>
        </p:txBody>
      </p:sp>
      <p:sp>
        <p:nvSpPr>
          <p:cNvPr id="441" name="Google Shape;441;p27"/>
          <p:cNvSpPr/>
          <p:nvPr/>
        </p:nvSpPr>
        <p:spPr>
          <a:xfrm>
            <a:off x="609600" y="2528739"/>
            <a:ext cx="115751" cy="2857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244F"/>
              </a:buClr>
              <a:buSzPts val="1500"/>
              <a:buFont typeface="Rubik"/>
              <a:buNone/>
            </a:pPr>
            <a:r>
              <a:rPr b="1" i="0" lang="en-GB" sz="1500" u="none" cap="none" strike="noStrike">
                <a:solidFill>
                  <a:srgbClr val="62244F"/>
                </a:solidFill>
                <a:latin typeface="Rubik"/>
                <a:ea typeface="Rubik"/>
                <a:cs typeface="Rubik"/>
                <a:sym typeface="Rubik"/>
              </a:rPr>
              <a:t>3</a:t>
            </a:r>
            <a:endParaRPr b="0" i="0" sz="1500" u="none" cap="none" strike="noStrike">
              <a:solidFill>
                <a:schemeClr val="dk1"/>
              </a:solidFill>
              <a:latin typeface="Public Sans"/>
              <a:ea typeface="Public Sans"/>
              <a:cs typeface="Public Sans"/>
              <a:sym typeface="Public Sans"/>
            </a:endParaRPr>
          </a:p>
        </p:txBody>
      </p:sp>
      <p:sp>
        <p:nvSpPr>
          <p:cNvPr id="442" name="Google Shape;442;p27"/>
          <p:cNvSpPr/>
          <p:nvPr/>
        </p:nvSpPr>
        <p:spPr>
          <a:xfrm>
            <a:off x="782501" y="2528739"/>
            <a:ext cx="3530375" cy="40570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733"/>
              </a:buClr>
              <a:buSzPts val="1100"/>
              <a:buFont typeface="Public Sans"/>
              <a:buNone/>
            </a:pPr>
            <a:r>
              <a:rPr b="1" i="0" lang="en-GB" sz="1100" u="none" cap="none" strike="noStrike">
                <a:solidFill>
                  <a:srgbClr val="1C2733"/>
                </a:solidFill>
                <a:latin typeface="Public Sans"/>
                <a:ea typeface="Public Sans"/>
                <a:cs typeface="Public Sans"/>
                <a:sym typeface="Public Sans"/>
              </a:rPr>
              <a:t>Age</a:t>
            </a:r>
            <a:r>
              <a:rPr b="0" i="0" lang="en-GB" sz="1100" u="none" cap="none" strike="noStrike">
                <a:solidFill>
                  <a:srgbClr val="1C2733"/>
                </a:solidFill>
                <a:latin typeface="Public Sans"/>
                <a:ea typeface="Public Sans"/>
                <a:cs typeface="Public Sans"/>
                <a:sym typeface="Public Sans"/>
              </a:rPr>
              <a:t> is what matters: youngest and oldest gain most, but older clients step back more</a:t>
            </a:r>
            <a:endParaRPr b="0" i="0" sz="1100" u="none" cap="none" strike="noStrike">
              <a:solidFill>
                <a:schemeClr val="dk1"/>
              </a:solidFill>
              <a:latin typeface="Public Sans"/>
              <a:ea typeface="Public Sans"/>
              <a:cs typeface="Public Sans"/>
              <a:sym typeface="Public Sans"/>
            </a:endParaRPr>
          </a:p>
        </p:txBody>
      </p:sp>
      <p:sp>
        <p:nvSpPr>
          <p:cNvPr id="443" name="Google Shape;443;p27"/>
          <p:cNvSpPr/>
          <p:nvPr/>
        </p:nvSpPr>
        <p:spPr>
          <a:xfrm>
            <a:off x="4438650" y="1315343"/>
            <a:ext cx="4095750" cy="3294757"/>
          </a:xfrm>
          <a:prstGeom prst="roundRect">
            <a:avLst>
              <a:gd fmla="val 3469" name="adj"/>
            </a:avLst>
          </a:prstGeom>
          <a:solidFill>
            <a:srgbClr val="1C27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27"/>
          <p:cNvSpPr/>
          <p:nvPr/>
        </p:nvSpPr>
        <p:spPr>
          <a:xfrm>
            <a:off x="4686300" y="1562993"/>
            <a:ext cx="370846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8C8C"/>
              </a:buClr>
              <a:buSzPts val="900"/>
              <a:buFont typeface="Public Sans"/>
              <a:buNone/>
            </a:pPr>
            <a:r>
              <a:rPr b="1" i="0" lang="en-GB" sz="900" u="none" cap="none" strike="noStrike">
                <a:solidFill>
                  <a:srgbClr val="D98C8C"/>
                </a:solidFill>
                <a:latin typeface="Public Sans"/>
                <a:ea typeface="Public Sans"/>
                <a:cs typeface="Public Sans"/>
                <a:sym typeface="Public Sans"/>
              </a:rPr>
              <a:t>RECOMMENDATIONS</a:t>
            </a:r>
            <a:endParaRPr b="0" i="0" sz="900" u="none" cap="none" strike="noStrike">
              <a:solidFill>
                <a:schemeClr val="dk1"/>
              </a:solidFill>
              <a:latin typeface="Public Sans"/>
              <a:ea typeface="Public Sans"/>
              <a:cs typeface="Public Sans"/>
              <a:sym typeface="Public Sans"/>
            </a:endParaRPr>
          </a:p>
        </p:txBody>
      </p:sp>
      <p:sp>
        <p:nvSpPr>
          <p:cNvPr id="445" name="Google Shape;445;p27"/>
          <p:cNvSpPr/>
          <p:nvPr/>
        </p:nvSpPr>
        <p:spPr>
          <a:xfrm>
            <a:off x="4686300" y="1846808"/>
            <a:ext cx="3708464" cy="40570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F4F6"/>
              </a:buClr>
              <a:buSzPts val="1100"/>
              <a:buFont typeface="Public Sans"/>
              <a:buNone/>
            </a:pPr>
            <a:r>
              <a:rPr b="0" i="0" lang="en-GB" sz="1100" u="none" cap="none" strike="noStrike">
                <a:solidFill>
                  <a:srgbClr val="F3F4F6"/>
                </a:solidFill>
                <a:latin typeface="Public Sans"/>
                <a:ea typeface="Public Sans"/>
                <a:cs typeface="Public Sans"/>
                <a:sym typeface="Public Sans"/>
              </a:rPr>
              <a:t>→ Clarify which “5 %” </a:t>
            </a:r>
            <a:r>
              <a:rPr lang="en-GB" sz="1100">
                <a:solidFill>
                  <a:srgbClr val="F3F4F6"/>
                </a:solidFill>
                <a:latin typeface="Public Sans"/>
                <a:ea typeface="Public Sans"/>
                <a:cs typeface="Public Sans"/>
                <a:sym typeface="Public Sans"/>
              </a:rPr>
              <a:t>threshold </a:t>
            </a:r>
            <a:r>
              <a:rPr b="0" i="0" lang="en-GB" sz="1100" u="none" cap="none" strike="noStrike">
                <a:solidFill>
                  <a:srgbClr val="F3F4F6"/>
                </a:solidFill>
                <a:latin typeface="Public Sans"/>
                <a:ea typeface="Public Sans"/>
                <a:cs typeface="Public Sans"/>
                <a:sym typeface="Public Sans"/>
              </a:rPr>
              <a:t> Vanguard means,</a:t>
            </a:r>
            <a:endParaRPr sz="1100">
              <a:solidFill>
                <a:srgbClr val="F3F4F6"/>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F3F4F6"/>
              </a:buClr>
              <a:buSzPts val="1100"/>
              <a:buFont typeface="Public Sans"/>
              <a:buNone/>
            </a:pPr>
            <a:r>
              <a:rPr lang="en-GB" sz="1100">
                <a:solidFill>
                  <a:srgbClr val="F3F4F6"/>
                </a:solidFill>
                <a:latin typeface="Public Sans"/>
                <a:ea typeface="Public Sans"/>
                <a:cs typeface="Public Sans"/>
                <a:sym typeface="Public Sans"/>
              </a:rPr>
              <a:t>     </a:t>
            </a:r>
            <a:r>
              <a:rPr b="0" i="0" lang="en-GB" sz="1100" u="none" cap="none" strike="noStrike">
                <a:solidFill>
                  <a:srgbClr val="F3F4F6"/>
                </a:solidFill>
                <a:latin typeface="Public Sans"/>
                <a:ea typeface="Public Sans"/>
                <a:cs typeface="Public Sans"/>
                <a:sym typeface="Public Sans"/>
              </a:rPr>
              <a:t>with the real cost</a:t>
            </a:r>
            <a:endParaRPr b="0" i="0" sz="1100" u="none" cap="none" strike="noStrike">
              <a:solidFill>
                <a:schemeClr val="dk1"/>
              </a:solidFill>
              <a:latin typeface="Public Sans"/>
              <a:ea typeface="Public Sans"/>
              <a:cs typeface="Public Sans"/>
              <a:sym typeface="Public Sans"/>
            </a:endParaRPr>
          </a:p>
        </p:txBody>
      </p:sp>
      <p:sp>
        <p:nvSpPr>
          <p:cNvPr id="446" name="Google Shape;446;p27"/>
          <p:cNvSpPr/>
          <p:nvPr/>
        </p:nvSpPr>
        <p:spPr>
          <a:xfrm>
            <a:off x="4686300" y="2357289"/>
            <a:ext cx="3708464" cy="21237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F4F6"/>
              </a:buClr>
              <a:buSzPts val="1100"/>
              <a:buFont typeface="Public Sans"/>
              <a:buNone/>
            </a:pPr>
            <a:r>
              <a:rPr b="0" i="0" lang="en-GB" sz="1100" u="none" cap="none" strike="noStrike">
                <a:solidFill>
                  <a:srgbClr val="F3F4F6"/>
                </a:solidFill>
                <a:latin typeface="Public Sans"/>
                <a:ea typeface="Public Sans"/>
                <a:cs typeface="Public Sans"/>
                <a:sym typeface="Public Sans"/>
              </a:rPr>
              <a:t>→ Run the test longer to narrow the interval</a:t>
            </a:r>
            <a:endParaRPr b="0" i="0" sz="1100" u="none" cap="none" strike="noStrike">
              <a:solidFill>
                <a:schemeClr val="dk1"/>
              </a:solidFill>
              <a:latin typeface="Public Sans"/>
              <a:ea typeface="Public Sans"/>
              <a:cs typeface="Public Sans"/>
              <a:sym typeface="Public Sans"/>
            </a:endParaRPr>
          </a:p>
        </p:txBody>
      </p:sp>
      <p:sp>
        <p:nvSpPr>
          <p:cNvPr id="447" name="Google Shape;447;p27"/>
          <p:cNvSpPr/>
          <p:nvPr/>
        </p:nvSpPr>
        <p:spPr>
          <a:xfrm>
            <a:off x="4686300" y="2674442"/>
            <a:ext cx="3708464" cy="40570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F4F6"/>
              </a:buClr>
              <a:buSzPts val="1100"/>
              <a:buFont typeface="Public Sans"/>
              <a:buNone/>
            </a:pPr>
            <a:r>
              <a:rPr b="0" i="0" lang="en-GB" sz="1100" u="none" cap="none" strike="noStrike">
                <a:solidFill>
                  <a:srgbClr val="F3F4F6"/>
                </a:solidFill>
                <a:latin typeface="Public Sans"/>
                <a:ea typeface="Public Sans"/>
                <a:cs typeface="Public Sans"/>
                <a:sym typeface="Public Sans"/>
              </a:rPr>
              <a:t>→ Simplify step 1 for older clients</a:t>
            </a:r>
            <a:endParaRPr sz="1100">
              <a:solidFill>
                <a:srgbClr val="F3F4F6"/>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F3F4F6"/>
              </a:buClr>
              <a:buSzPts val="1100"/>
              <a:buFont typeface="Public Sans"/>
              <a:buNone/>
            </a:pPr>
            <a:r>
              <a:rPr lang="en-GB" sz="1100">
                <a:solidFill>
                  <a:srgbClr val="F3F4F6"/>
                </a:solidFill>
                <a:latin typeface="Public Sans"/>
                <a:ea typeface="Public Sans"/>
                <a:cs typeface="Public Sans"/>
                <a:sym typeface="Public Sans"/>
              </a:rPr>
              <a:t>     </a:t>
            </a:r>
            <a:r>
              <a:rPr b="0" i="0" lang="en-GB" sz="1100" u="none" cap="none" strike="noStrike">
                <a:solidFill>
                  <a:srgbClr val="F3F4F6"/>
                </a:solidFill>
                <a:latin typeface="Public Sans"/>
                <a:ea typeface="Public Sans"/>
                <a:cs typeface="Public Sans"/>
                <a:sym typeface="Public Sans"/>
              </a:rPr>
              <a:t>(slowest step, most client  are going back)</a:t>
            </a:r>
            <a:endParaRPr b="0" i="0" sz="1100" u="none" cap="none" strike="noStrike">
              <a:solidFill>
                <a:schemeClr val="dk1"/>
              </a:solidFill>
              <a:latin typeface="Public Sans"/>
              <a:ea typeface="Public Sans"/>
              <a:cs typeface="Public Sans"/>
              <a:sym typeface="Public Sans"/>
            </a:endParaRPr>
          </a:p>
        </p:txBody>
      </p:sp>
      <p:sp>
        <p:nvSpPr>
          <p:cNvPr id="448" name="Google Shape;448;p27"/>
          <p:cNvSpPr/>
          <p:nvPr/>
        </p:nvSpPr>
        <p:spPr>
          <a:xfrm>
            <a:off x="609600" y="4781550"/>
            <a:ext cx="375850" cy="165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800"/>
              <a:buFont typeface="Public Sans"/>
              <a:buNone/>
            </a:pPr>
            <a:r>
              <a:rPr b="1" i="0" lang="en-GB" sz="800" u="none" cap="none" strike="noStrike">
                <a:solidFill>
                  <a:srgbClr val="6B7480"/>
                </a:solidFill>
                <a:latin typeface="Public Sans"/>
                <a:ea typeface="Public Sans"/>
                <a:cs typeface="Public Sans"/>
                <a:sym typeface="Public Sans"/>
              </a:rPr>
              <a:t>1</a:t>
            </a:r>
            <a:r>
              <a:rPr b="1" lang="en-GB" sz="800">
                <a:solidFill>
                  <a:srgbClr val="6B7480"/>
                </a:solidFill>
                <a:latin typeface="Public Sans"/>
                <a:ea typeface="Public Sans"/>
                <a:cs typeface="Public Sans"/>
                <a:sym typeface="Public Sans"/>
              </a:rPr>
              <a:t>2</a:t>
            </a:r>
            <a:r>
              <a:rPr b="1" i="0" lang="en-GB" sz="800" u="none" cap="none" strike="noStrike">
                <a:solidFill>
                  <a:srgbClr val="6B7480"/>
                </a:solidFill>
                <a:latin typeface="Public Sans"/>
                <a:ea typeface="Public Sans"/>
                <a:cs typeface="Public Sans"/>
                <a:sym typeface="Public Sans"/>
              </a:rPr>
              <a:t> / </a:t>
            </a:r>
            <a:r>
              <a:rPr b="1" lang="en-GB" sz="800">
                <a:solidFill>
                  <a:srgbClr val="6B7480"/>
                </a:solidFill>
                <a:latin typeface="Public Sans"/>
                <a:ea typeface="Public Sans"/>
                <a:cs typeface="Public Sans"/>
                <a:sym typeface="Public Sans"/>
              </a:rPr>
              <a:t>13</a:t>
            </a:r>
            <a:endParaRPr b="0" i="0" sz="800" u="none" cap="none" strike="noStrike">
              <a:solidFill>
                <a:schemeClr val="dk1"/>
              </a:solidFill>
              <a:latin typeface="Public Sans"/>
              <a:ea typeface="Public Sans"/>
              <a:cs typeface="Public Sans"/>
              <a:sym typeface="Public Sans"/>
            </a:endParaRPr>
          </a:p>
        </p:txBody>
      </p:sp>
      <p:pic>
        <p:nvPicPr>
          <p:cNvPr descr="vanguard-logo.png" id="449" name="Google Shape;449;p27"/>
          <p:cNvPicPr preferRelativeResize="0"/>
          <p:nvPr/>
        </p:nvPicPr>
        <p:blipFill rotWithShape="1">
          <a:blip r:embed="rId3">
            <a:alphaModFix/>
          </a:blip>
          <a:srcRect b="0" l="179" r="179" t="0"/>
          <a:stretch/>
        </p:blipFill>
        <p:spPr>
          <a:xfrm>
            <a:off x="8617393" y="4616793"/>
            <a:ext cx="264677" cy="274301"/>
          </a:xfrm>
          <a:prstGeom prst="rect">
            <a:avLst/>
          </a:prstGeom>
          <a:noFill/>
          <a:ln>
            <a:noFill/>
          </a:ln>
        </p:spPr>
      </p:pic>
      <p:sp>
        <p:nvSpPr>
          <p:cNvPr id="450" name="Google Shape;450;p27"/>
          <p:cNvSpPr/>
          <p:nvPr/>
        </p:nvSpPr>
        <p:spPr>
          <a:xfrm>
            <a:off x="653400" y="3438775"/>
            <a:ext cx="3530400" cy="1171200"/>
          </a:xfrm>
          <a:prstGeom prst="roundRect">
            <a:avLst>
              <a:gd fmla="val 7799" name="adj"/>
            </a:avLst>
          </a:prstGeom>
          <a:solidFill>
            <a:srgbClr val="F3F4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1" name="Google Shape;451;p27"/>
          <p:cNvSpPr/>
          <p:nvPr/>
        </p:nvSpPr>
        <p:spPr>
          <a:xfrm>
            <a:off x="815325" y="3544617"/>
            <a:ext cx="2295600" cy="221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480"/>
              </a:buClr>
              <a:buSzPts val="900"/>
              <a:buFont typeface="Public Sans"/>
              <a:buNone/>
            </a:pPr>
            <a:r>
              <a:rPr lang="en-GB" sz="700">
                <a:solidFill>
                  <a:srgbClr val="6B7480"/>
                </a:solidFill>
                <a:latin typeface="Public Sans"/>
                <a:ea typeface="Public Sans"/>
                <a:cs typeface="Public Sans"/>
                <a:sym typeface="Public Sans"/>
              </a:rPr>
              <a:t>For a deeper view :</a:t>
            </a:r>
            <a:endParaRPr b="0" i="0" sz="700" u="none" cap="none" strike="noStrike">
              <a:solidFill>
                <a:schemeClr val="dk1"/>
              </a:solidFill>
              <a:latin typeface="Public Sans"/>
              <a:ea typeface="Public Sans"/>
              <a:cs typeface="Public Sans"/>
              <a:sym typeface="Public Sans"/>
            </a:endParaRPr>
          </a:p>
        </p:txBody>
      </p:sp>
      <p:sp>
        <p:nvSpPr>
          <p:cNvPr id="452" name="Google Shape;452;p27"/>
          <p:cNvSpPr/>
          <p:nvPr/>
        </p:nvSpPr>
        <p:spPr>
          <a:xfrm>
            <a:off x="927850" y="3968825"/>
            <a:ext cx="3239700" cy="515400"/>
          </a:xfrm>
          <a:prstGeom prst="rect">
            <a:avLst/>
          </a:prstGeom>
          <a:noFill/>
          <a:ln>
            <a:noFill/>
          </a:ln>
        </p:spPr>
        <p:txBody>
          <a:bodyPr anchorCtr="0" anchor="t" bIns="0" lIns="0" spcFirstLastPara="1" rIns="0" wrap="square" tIns="0">
            <a:noAutofit/>
          </a:bodyPr>
          <a:lstStyle/>
          <a:p>
            <a:pPr indent="-279400" lvl="0" marL="457200" marR="0" rtl="0" algn="l">
              <a:lnSpc>
                <a:spcPct val="145037"/>
              </a:lnSpc>
              <a:spcBef>
                <a:spcPts val="0"/>
              </a:spcBef>
              <a:spcAft>
                <a:spcPts val="0"/>
              </a:spcAft>
              <a:buClr>
                <a:srgbClr val="1C2733"/>
              </a:buClr>
              <a:buSzPts val="800"/>
              <a:buFont typeface="Public Sans"/>
              <a:buAutoNum type="arabicPeriod"/>
            </a:pPr>
            <a:r>
              <a:rPr lang="en-GB" sz="800" u="sng">
                <a:solidFill>
                  <a:schemeClr val="hlink"/>
                </a:solidFill>
                <a:latin typeface="Public Sans"/>
                <a:ea typeface="Public Sans"/>
                <a:cs typeface="Public Sans"/>
                <a:sym typeface="Public Sans"/>
                <a:hlinkClick r:id="rId4"/>
              </a:rPr>
              <a:t>Completion Rate KPI</a:t>
            </a:r>
            <a:endParaRPr sz="800">
              <a:solidFill>
                <a:srgbClr val="1C2733"/>
              </a:solidFill>
              <a:latin typeface="Public Sans"/>
              <a:ea typeface="Public Sans"/>
              <a:cs typeface="Public Sans"/>
              <a:sym typeface="Public Sans"/>
            </a:endParaRPr>
          </a:p>
          <a:p>
            <a:pPr indent="-279400" lvl="0" marL="457200" marR="0" rtl="0" algn="l">
              <a:lnSpc>
                <a:spcPct val="145037"/>
              </a:lnSpc>
              <a:spcBef>
                <a:spcPts val="0"/>
              </a:spcBef>
              <a:spcAft>
                <a:spcPts val="0"/>
              </a:spcAft>
              <a:buClr>
                <a:srgbClr val="1C2733"/>
              </a:buClr>
              <a:buSzPts val="800"/>
              <a:buFont typeface="Public Sans"/>
              <a:buAutoNum type="arabicPeriod"/>
            </a:pPr>
            <a:r>
              <a:rPr lang="en-GB" sz="800" u="sng">
                <a:solidFill>
                  <a:schemeClr val="hlink"/>
                </a:solidFill>
                <a:latin typeface="Public Sans"/>
                <a:ea typeface="Public Sans"/>
                <a:cs typeface="Public Sans"/>
                <a:sym typeface="Public Sans"/>
                <a:hlinkClick r:id="rId5"/>
              </a:rPr>
              <a:t>Time per Each Step KPI</a:t>
            </a:r>
            <a:endParaRPr sz="800">
              <a:solidFill>
                <a:srgbClr val="1C2733"/>
              </a:solidFill>
              <a:latin typeface="Public Sans"/>
              <a:ea typeface="Public Sans"/>
              <a:cs typeface="Public Sans"/>
              <a:sym typeface="Public Sans"/>
            </a:endParaRPr>
          </a:p>
          <a:p>
            <a:pPr indent="-279400" lvl="0" marL="457200" marR="0" rtl="0" algn="l">
              <a:lnSpc>
                <a:spcPct val="145037"/>
              </a:lnSpc>
              <a:spcBef>
                <a:spcPts val="0"/>
              </a:spcBef>
              <a:spcAft>
                <a:spcPts val="0"/>
              </a:spcAft>
              <a:buClr>
                <a:srgbClr val="1C2733"/>
              </a:buClr>
              <a:buSzPts val="800"/>
              <a:buFont typeface="Public Sans"/>
              <a:buAutoNum type="arabicPeriod"/>
            </a:pPr>
            <a:r>
              <a:rPr lang="en-GB" sz="800" u="sng">
                <a:solidFill>
                  <a:schemeClr val="hlink"/>
                </a:solidFill>
                <a:latin typeface="Public Sans"/>
                <a:ea typeface="Public Sans"/>
                <a:cs typeface="Public Sans"/>
                <a:sym typeface="Public Sans"/>
                <a:hlinkClick r:id="rId6"/>
              </a:rPr>
              <a:t>Error Rate KPI</a:t>
            </a:r>
            <a:endParaRPr sz="800">
              <a:solidFill>
                <a:srgbClr val="1C2733"/>
              </a:solidFill>
              <a:latin typeface="Public Sans"/>
              <a:ea typeface="Public Sans"/>
              <a:cs typeface="Public Sans"/>
              <a:sym typeface="Public Sans"/>
            </a:endParaRPr>
          </a:p>
        </p:txBody>
      </p:sp>
      <p:sp>
        <p:nvSpPr>
          <p:cNvPr id="453" name="Google Shape;453;p27"/>
          <p:cNvSpPr/>
          <p:nvPr/>
        </p:nvSpPr>
        <p:spPr>
          <a:xfrm>
            <a:off x="815325" y="3709125"/>
            <a:ext cx="3239700" cy="212400"/>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1C2733"/>
              </a:buClr>
              <a:buSzPts val="1000"/>
              <a:buFont typeface="Public Sans"/>
              <a:buNone/>
            </a:pPr>
            <a:r>
              <a:rPr lang="en-GB" sz="800">
                <a:solidFill>
                  <a:srgbClr val="1C2733"/>
                </a:solidFill>
                <a:latin typeface="Public Sans"/>
                <a:ea typeface="Public Sans"/>
                <a:cs typeface="Public Sans"/>
                <a:sym typeface="Public Sans"/>
              </a:rPr>
              <a:t>You can explore our tableaus to have a deeper view of our findings</a:t>
            </a:r>
            <a:endParaRPr b="0" i="0" sz="8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733"/>
        </a:solidFill>
      </p:bgPr>
    </p:bg>
    <p:spTree>
      <p:nvGrpSpPr>
        <p:cNvPr id="458" name="Shape 458"/>
        <p:cNvGrpSpPr/>
        <p:nvPr/>
      </p:nvGrpSpPr>
      <p:grpSpPr>
        <a:xfrm>
          <a:off x="0" y="0"/>
          <a:ext cx="0" cy="0"/>
          <a:chOff x="0" y="0"/>
          <a:chExt cx="0" cy="0"/>
        </a:xfrm>
      </p:grpSpPr>
      <p:sp>
        <p:nvSpPr>
          <p:cNvPr id="459" name="Google Shape;459;p28"/>
          <p:cNvSpPr/>
          <p:nvPr/>
        </p:nvSpPr>
        <p:spPr>
          <a:xfrm>
            <a:off x="7429500" y="0"/>
            <a:ext cx="1714500" cy="5143500"/>
          </a:xfrm>
          <a:prstGeom prst="rect">
            <a:avLst/>
          </a:prstGeom>
          <a:gradFill>
            <a:gsLst>
              <a:gs pos="0">
                <a:srgbClr val="263A50"/>
              </a:gs>
              <a:gs pos="60000">
                <a:srgbClr val="62244F"/>
              </a:gs>
              <a:gs pos="100000">
                <a:srgbClr val="8E2525"/>
              </a:gs>
            </a:gsLst>
            <a:lin ang="5400012"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0" name="Google Shape;460;p28"/>
          <p:cNvSpPr/>
          <p:nvPr/>
        </p:nvSpPr>
        <p:spPr>
          <a:xfrm>
            <a:off x="609600" y="609600"/>
            <a:ext cx="8162400" cy="21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E2525"/>
              </a:buClr>
              <a:buSzPts val="1100"/>
              <a:buFont typeface="Public Sans"/>
              <a:buNone/>
            </a:pPr>
            <a:r>
              <a:rPr b="1" i="0" lang="en-GB" sz="1100" u="none" cap="none" strike="noStrike">
                <a:solidFill>
                  <a:srgbClr val="8E2525"/>
                </a:solidFill>
                <a:latin typeface="Public Sans"/>
                <a:ea typeface="Public Sans"/>
                <a:cs typeface="Public Sans"/>
                <a:sym typeface="Public Sans"/>
              </a:rPr>
              <a:t>VANGUARD · CUSTOMER EXPERIENCE</a:t>
            </a:r>
            <a:endParaRPr b="0" i="0" sz="1100" u="none" cap="none" strike="noStrike">
              <a:solidFill>
                <a:schemeClr val="dk1"/>
              </a:solidFill>
              <a:latin typeface="Public Sans"/>
              <a:ea typeface="Public Sans"/>
              <a:cs typeface="Public Sans"/>
              <a:sym typeface="Public Sans"/>
            </a:endParaRPr>
          </a:p>
        </p:txBody>
      </p:sp>
      <p:sp>
        <p:nvSpPr>
          <p:cNvPr id="461" name="Google Shape;461;p28"/>
          <p:cNvSpPr txBox="1"/>
          <p:nvPr>
            <p:ph type="title"/>
          </p:nvPr>
        </p:nvSpPr>
        <p:spPr>
          <a:xfrm>
            <a:off x="609600" y="1772618"/>
            <a:ext cx="6377100" cy="1179300"/>
          </a:xfrm>
          <a:prstGeom prst="rect">
            <a:avLst/>
          </a:prstGeom>
          <a:noFill/>
          <a:ln>
            <a:noFill/>
          </a:ln>
        </p:spPr>
        <p:txBody>
          <a:bodyPr anchorCtr="0" anchor="t" bIns="0" lIns="0" spcFirstLastPara="1" rIns="0" wrap="square" tIns="0">
            <a:normAutofit/>
          </a:bodyPr>
          <a:lstStyle/>
          <a:p>
            <a:pPr indent="0" lvl="0" marL="0" rtl="0" algn="l">
              <a:lnSpc>
                <a:spcPct val="105000"/>
              </a:lnSpc>
              <a:spcBef>
                <a:spcPts val="0"/>
              </a:spcBef>
              <a:spcAft>
                <a:spcPts val="0"/>
              </a:spcAft>
              <a:buClr>
                <a:srgbClr val="F3F4F6"/>
              </a:buClr>
              <a:buSzPts val="4400"/>
              <a:buFont typeface="Rubik"/>
              <a:buNone/>
            </a:pPr>
            <a:r>
              <a:rPr b="1" lang="en-GB" sz="4400">
                <a:solidFill>
                  <a:srgbClr val="F3F4F6"/>
                </a:solidFill>
              </a:rPr>
              <a:t>Thank you</a:t>
            </a:r>
            <a:endParaRPr sz="4400"/>
          </a:p>
        </p:txBody>
      </p:sp>
      <p:sp>
        <p:nvSpPr>
          <p:cNvPr id="462" name="Google Shape;462;p28"/>
          <p:cNvSpPr/>
          <p:nvPr/>
        </p:nvSpPr>
        <p:spPr>
          <a:xfrm>
            <a:off x="609600" y="4333875"/>
            <a:ext cx="8162400" cy="21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0CA"/>
              </a:buClr>
              <a:buSzPts val="1100"/>
              <a:buFont typeface="Public Sans"/>
              <a:buNone/>
            </a:pPr>
            <a:r>
              <a:rPr b="0" i="0" lang="en-GB" sz="1100" u="none" cap="none" strike="noStrike">
                <a:solidFill>
                  <a:srgbClr val="B8C0CA"/>
                </a:solidFill>
                <a:latin typeface="Public Sans"/>
                <a:ea typeface="Public Sans"/>
                <a:cs typeface="Public Sans"/>
                <a:sym typeface="Public Sans"/>
              </a:rPr>
              <a:t>Effie · Lena · Jovana · Fatma · Ironhack Data Analytics · Project 2</a:t>
            </a:r>
            <a:endParaRPr b="0" i="0" sz="1100" u="none" cap="none" strike="noStrike">
              <a:solidFill>
                <a:schemeClr val="dk1"/>
              </a:solidFill>
              <a:latin typeface="Public Sans"/>
              <a:ea typeface="Public Sans"/>
              <a:cs typeface="Public Sans"/>
              <a:sym typeface="Public Sans"/>
            </a:endParaRPr>
          </a:p>
        </p:txBody>
      </p:sp>
      <p:pic>
        <p:nvPicPr>
          <p:cNvPr descr="vanguard-logo.png" id="463" name="Google Shape;463;p28"/>
          <p:cNvPicPr preferRelativeResize="0"/>
          <p:nvPr/>
        </p:nvPicPr>
        <p:blipFill rotWithShape="1">
          <a:blip r:embed="rId3">
            <a:alphaModFix/>
          </a:blip>
          <a:srcRect b="0" l="179" r="179" t="0"/>
          <a:stretch/>
        </p:blipFill>
        <p:spPr>
          <a:xfrm>
            <a:off x="6572250" y="4348163"/>
            <a:ext cx="523874" cy="542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nguard A/B Test">
  <a:themeElements>
    <a:clrScheme name="Vanguard A/B Test">
      <a:dk1>
        <a:srgbClr val="1C2733"/>
      </a:dk1>
      <a:lt1>
        <a:srgbClr val="FFFFFF"/>
      </a:lt1>
      <a:dk2>
        <a:srgbClr val="555D66"/>
      </a:dk2>
      <a:lt2>
        <a:srgbClr val="E8E9EB"/>
      </a:lt2>
      <a:accent1>
        <a:srgbClr val="62244F"/>
      </a:accent1>
      <a:accent2>
        <a:srgbClr val="263A50"/>
      </a:accent2>
      <a:accent3>
        <a:srgbClr val="8E2525"/>
      </a:accent3>
      <a:accent4>
        <a:srgbClr val="D98C8C"/>
      </a:accent4>
      <a:accent5>
        <a:srgbClr val="E6A0A0"/>
      </a:accent5>
      <a:accent6>
        <a:srgbClr val="4A556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